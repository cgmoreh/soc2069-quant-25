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307" r:id="rId3"/>
    <p:sldId id="522" r:id="rId4"/>
    <p:sldId id="519" r:id="rId5"/>
    <p:sldId id="557" r:id="rId6"/>
    <p:sldId id="558" r:id="rId7"/>
    <p:sldId id="518" r:id="rId8"/>
    <p:sldId id="544" r:id="rId9"/>
    <p:sldId id="530" r:id="rId10"/>
    <p:sldId id="357" r:id="rId11"/>
    <p:sldId id="297" r:id="rId12"/>
    <p:sldId id="259" r:id="rId13"/>
    <p:sldId id="310" r:id="rId14"/>
    <p:sldId id="553" r:id="rId15"/>
    <p:sldId id="554" r:id="rId16"/>
    <p:sldId id="556" r:id="rId17"/>
    <p:sldId id="555" r:id="rId18"/>
    <p:sldId id="543" r:id="rId19"/>
    <p:sldId id="295" r:id="rId20"/>
    <p:sldId id="296" r:id="rId21"/>
    <p:sldId id="308" r:id="rId22"/>
    <p:sldId id="309" r:id="rId23"/>
    <p:sldId id="564" r:id="rId24"/>
    <p:sldId id="354" r:id="rId25"/>
    <p:sldId id="26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0000"/>
    <a:srgbClr val="3F739B"/>
    <a:srgbClr val="174CF7"/>
    <a:srgbClr val="E4C8C8"/>
    <a:srgbClr val="E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6D3A32-358D-49FC-8B3F-D94A730CE098}" v="1" dt="2025-11-24T11:03:53.9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27" autoAdjust="0"/>
  </p:normalViewPr>
  <p:slideViewPr>
    <p:cSldViewPr snapToGrid="0">
      <p:cViewPr varScale="1">
        <p:scale>
          <a:sx n="105" d="100"/>
          <a:sy n="105" d="100"/>
        </p:scale>
        <p:origin x="6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16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 Moreh" userId="17b81281-9f29-44e0-9273-6dadbf6896a2" providerId="ADAL" clId="{BCF66164-2C9C-4B48-AFF3-6B0B0038345A}"/>
    <pc:docChg chg="undo custSel addSld delSld modSld sldOrd">
      <pc:chgData name="Chris Moreh" userId="17b81281-9f29-44e0-9273-6dadbf6896a2" providerId="ADAL" clId="{BCF66164-2C9C-4B48-AFF3-6B0B0038345A}" dt="2025-11-24T11:03:53.903" v="61"/>
      <pc:docMkLst>
        <pc:docMk/>
      </pc:docMkLst>
      <pc:sldChg chg="add">
        <pc:chgData name="Chris Moreh" userId="17b81281-9f29-44e0-9273-6dadbf6896a2" providerId="ADAL" clId="{BCF66164-2C9C-4B48-AFF3-6B0B0038345A}" dt="2025-11-24T11:03:53.903" v="61"/>
        <pc:sldMkLst>
          <pc:docMk/>
          <pc:sldMk cId="0" sldId="259"/>
        </pc:sldMkLst>
      </pc:sldChg>
      <pc:sldChg chg="ord">
        <pc:chgData name="Chris Moreh" userId="17b81281-9f29-44e0-9273-6dadbf6896a2" providerId="ADAL" clId="{BCF66164-2C9C-4B48-AFF3-6B0B0038345A}" dt="2025-11-24T10:59:13.431" v="58"/>
        <pc:sldMkLst>
          <pc:docMk/>
          <pc:sldMk cId="782263443" sldId="297"/>
        </pc:sldMkLst>
      </pc:sldChg>
      <pc:sldChg chg="modSp mod">
        <pc:chgData name="Chris Moreh" userId="17b81281-9f29-44e0-9273-6dadbf6896a2" providerId="ADAL" clId="{BCF66164-2C9C-4B48-AFF3-6B0B0038345A}" dt="2025-11-24T09:41:18.727" v="1" actId="20577"/>
        <pc:sldMkLst>
          <pc:docMk/>
          <pc:sldMk cId="3814459198" sldId="307"/>
        </pc:sldMkLst>
        <pc:spChg chg="mod">
          <ac:chgData name="Chris Moreh" userId="17b81281-9f29-44e0-9273-6dadbf6896a2" providerId="ADAL" clId="{BCF66164-2C9C-4B48-AFF3-6B0B0038345A}" dt="2025-11-24T09:41:18.727" v="1" actId="20577"/>
          <ac:spMkLst>
            <pc:docMk/>
            <pc:sldMk cId="3814459198" sldId="307"/>
            <ac:spMk id="6" creationId="{24060982-6EE3-A8F1-75FE-C4BDB2FF3CBE}"/>
          </ac:spMkLst>
        </pc:spChg>
      </pc:sldChg>
      <pc:sldChg chg="add">
        <pc:chgData name="Chris Moreh" userId="17b81281-9f29-44e0-9273-6dadbf6896a2" providerId="ADAL" clId="{BCF66164-2C9C-4B48-AFF3-6B0B0038345A}" dt="2025-11-24T11:03:53.903" v="61"/>
        <pc:sldMkLst>
          <pc:docMk/>
          <pc:sldMk cId="0" sldId="310"/>
        </pc:sldMkLst>
      </pc:sldChg>
      <pc:sldChg chg="ord">
        <pc:chgData name="Chris Moreh" userId="17b81281-9f29-44e0-9273-6dadbf6896a2" providerId="ADAL" clId="{BCF66164-2C9C-4B48-AFF3-6B0B0038345A}" dt="2025-11-24T10:58:31.525" v="54"/>
        <pc:sldMkLst>
          <pc:docMk/>
          <pc:sldMk cId="404413708" sldId="357"/>
        </pc:sldMkLst>
      </pc:sldChg>
      <pc:sldChg chg="modSp mod">
        <pc:chgData name="Chris Moreh" userId="17b81281-9f29-44e0-9273-6dadbf6896a2" providerId="ADAL" clId="{BCF66164-2C9C-4B48-AFF3-6B0B0038345A}" dt="2025-11-24T09:42:45.650" v="48" actId="114"/>
        <pc:sldMkLst>
          <pc:docMk/>
          <pc:sldMk cId="3523596212" sldId="518"/>
        </pc:sldMkLst>
        <pc:spChg chg="mod">
          <ac:chgData name="Chris Moreh" userId="17b81281-9f29-44e0-9273-6dadbf6896a2" providerId="ADAL" clId="{BCF66164-2C9C-4B48-AFF3-6B0B0038345A}" dt="2025-11-24T09:42:45.650" v="48" actId="114"/>
          <ac:spMkLst>
            <pc:docMk/>
            <pc:sldMk cId="3523596212" sldId="518"/>
            <ac:spMk id="13" creationId="{2C10D394-C9B2-B03C-4136-7B6EEA8FFA9D}"/>
          </ac:spMkLst>
        </pc:spChg>
      </pc:sldChg>
      <pc:sldChg chg="del">
        <pc:chgData name="Chris Moreh" userId="17b81281-9f29-44e0-9273-6dadbf6896a2" providerId="ADAL" clId="{BCF66164-2C9C-4B48-AFF3-6B0B0038345A}" dt="2025-11-24T10:59:56.307" v="60" actId="47"/>
        <pc:sldMkLst>
          <pc:docMk/>
          <pc:sldMk cId="1301853266" sldId="523"/>
        </pc:sldMkLst>
      </pc:sldChg>
      <pc:sldChg chg="del">
        <pc:chgData name="Chris Moreh" userId="17b81281-9f29-44e0-9273-6dadbf6896a2" providerId="ADAL" clId="{BCF66164-2C9C-4B48-AFF3-6B0B0038345A}" dt="2025-11-24T10:57:34.746" v="50" actId="47"/>
        <pc:sldMkLst>
          <pc:docMk/>
          <pc:sldMk cId="2121120123" sldId="542"/>
        </pc:sldMkLst>
      </pc:sldChg>
      <pc:sldChg chg="del">
        <pc:chgData name="Chris Moreh" userId="17b81281-9f29-44e0-9273-6dadbf6896a2" providerId="ADAL" clId="{BCF66164-2C9C-4B48-AFF3-6B0B0038345A}" dt="2025-11-24T10:57:27.312" v="49" actId="47"/>
        <pc:sldMkLst>
          <pc:docMk/>
          <pc:sldMk cId="2617544839" sldId="549"/>
        </pc:sldMkLst>
      </pc:sldChg>
      <pc:sldChg chg="del">
        <pc:chgData name="Chris Moreh" userId="17b81281-9f29-44e0-9273-6dadbf6896a2" providerId="ADAL" clId="{BCF66164-2C9C-4B48-AFF3-6B0B0038345A}" dt="2025-11-24T10:57:41.291" v="52" actId="47"/>
        <pc:sldMkLst>
          <pc:docMk/>
          <pc:sldMk cId="1896707103" sldId="551"/>
        </pc:sldMkLst>
      </pc:sldChg>
      <pc:sldChg chg="del">
        <pc:chgData name="Chris Moreh" userId="17b81281-9f29-44e0-9273-6dadbf6896a2" providerId="ADAL" clId="{BCF66164-2C9C-4B48-AFF3-6B0B0038345A}" dt="2025-11-24T10:57:38.706" v="51" actId="47"/>
        <pc:sldMkLst>
          <pc:docMk/>
          <pc:sldMk cId="324367232" sldId="560"/>
        </pc:sldMkLst>
      </pc:sldChg>
      <pc:sldChg chg="del">
        <pc:chgData name="Chris Moreh" userId="17b81281-9f29-44e0-9273-6dadbf6896a2" providerId="ADAL" clId="{BCF66164-2C9C-4B48-AFF3-6B0B0038345A}" dt="2025-11-24T10:59:45.059" v="59" actId="47"/>
        <pc:sldMkLst>
          <pc:docMk/>
          <pc:sldMk cId="3329067806" sldId="56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5FBD195-041F-A9A0-1644-740C91990AE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1E07-BD6F-76A0-E2F3-6F9E834A0EE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203E3-7C81-41A5-A697-954FF252F964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BD701-2DB0-B4B2-C5BD-0490DCBA57E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51DA51-44A7-C88C-C39E-6DA6922B2AB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0050DA-C3C8-4D4F-9A52-26049FB521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81809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E54BCB-1937-48CE-9F00-49B381FEB4E9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5A333E-A95D-42FE-9CF0-D7FBE7CB01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144826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5041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9490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20534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545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933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5122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62425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58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47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968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946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891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187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810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hrismoreh.com/" TargetMode="External"/><Relationship Id="rId13" Type="http://schemas.openxmlformats.org/officeDocument/2006/relationships/image" Target="../media/image6.png"/><Relationship Id="rId3" Type="http://schemas.openxmlformats.org/officeDocument/2006/relationships/hyperlink" Target="https://www.ncl.ac.uk/gps/staff/profile/chrismoreh.html" TargetMode="External"/><Relationship Id="rId7" Type="http://schemas.openxmlformats.org/officeDocument/2006/relationships/hyperlink" Target="mailto:chris.moreh@ncl.ac.uk" TargetMode="External"/><Relationship Id="rId12" Type="http://schemas.openxmlformats.org/officeDocument/2006/relationships/image" Target="../media/image5.png"/><Relationship Id="rId2" Type="http://schemas.openxmlformats.org/officeDocument/2006/relationships/image" Target="../media/image1.png"/><Relationship Id="rId16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svg"/><Relationship Id="rId11" Type="http://schemas.openxmlformats.org/officeDocument/2006/relationships/hyperlink" Target="https://www.linkedin.com/in/cgm-phd/" TargetMode="External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10" Type="http://schemas.openxmlformats.org/officeDocument/2006/relationships/hyperlink" Target="https://twitter.com/cgmoreh" TargetMode="External"/><Relationship Id="rId4" Type="http://schemas.openxmlformats.org/officeDocument/2006/relationships/image" Target="../media/image2.png"/><Relationship Id="rId9" Type="http://schemas.openxmlformats.org/officeDocument/2006/relationships/hyperlink" Target="https://github.com/CGMoreh" TargetMode="External"/><Relationship Id="rId14" Type="http://schemas.openxmlformats.org/officeDocument/2006/relationships/image" Target="../media/image7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svg"/><Relationship Id="rId18" Type="http://schemas.openxmlformats.org/officeDocument/2006/relationships/image" Target="../media/image27.png"/><Relationship Id="rId26" Type="http://schemas.openxmlformats.org/officeDocument/2006/relationships/image" Target="../media/image35.png"/><Relationship Id="rId39" Type="http://schemas.openxmlformats.org/officeDocument/2006/relationships/image" Target="../media/image48.svg"/><Relationship Id="rId21" Type="http://schemas.openxmlformats.org/officeDocument/2006/relationships/image" Target="../media/image30.svg"/><Relationship Id="rId34" Type="http://schemas.openxmlformats.org/officeDocument/2006/relationships/image" Target="../media/image43.pn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29" Type="http://schemas.openxmlformats.org/officeDocument/2006/relationships/image" Target="../media/image38.svg"/><Relationship Id="rId41" Type="http://schemas.openxmlformats.org/officeDocument/2006/relationships/image" Target="../media/image50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24" Type="http://schemas.openxmlformats.org/officeDocument/2006/relationships/image" Target="../media/image33.png"/><Relationship Id="rId32" Type="http://schemas.openxmlformats.org/officeDocument/2006/relationships/image" Target="../media/image41.png"/><Relationship Id="rId37" Type="http://schemas.openxmlformats.org/officeDocument/2006/relationships/image" Target="../media/image46.svg"/><Relationship Id="rId40" Type="http://schemas.openxmlformats.org/officeDocument/2006/relationships/image" Target="../media/image49.png"/><Relationship Id="rId5" Type="http://schemas.openxmlformats.org/officeDocument/2006/relationships/image" Target="../media/image14.svg"/><Relationship Id="rId15" Type="http://schemas.openxmlformats.org/officeDocument/2006/relationships/image" Target="../media/image24.svg"/><Relationship Id="rId23" Type="http://schemas.openxmlformats.org/officeDocument/2006/relationships/image" Target="../media/image32.svg"/><Relationship Id="rId28" Type="http://schemas.openxmlformats.org/officeDocument/2006/relationships/image" Target="../media/image37.png"/><Relationship Id="rId36" Type="http://schemas.openxmlformats.org/officeDocument/2006/relationships/image" Target="../media/image45.png"/><Relationship Id="rId10" Type="http://schemas.openxmlformats.org/officeDocument/2006/relationships/image" Target="../media/image19.png"/><Relationship Id="rId19" Type="http://schemas.openxmlformats.org/officeDocument/2006/relationships/image" Target="../media/image28.svg"/><Relationship Id="rId31" Type="http://schemas.openxmlformats.org/officeDocument/2006/relationships/image" Target="../media/image40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3.png"/><Relationship Id="rId22" Type="http://schemas.openxmlformats.org/officeDocument/2006/relationships/image" Target="../media/image31.png"/><Relationship Id="rId27" Type="http://schemas.openxmlformats.org/officeDocument/2006/relationships/image" Target="../media/image36.svg"/><Relationship Id="rId30" Type="http://schemas.openxmlformats.org/officeDocument/2006/relationships/image" Target="../media/image39.png"/><Relationship Id="rId35" Type="http://schemas.openxmlformats.org/officeDocument/2006/relationships/image" Target="../media/image44.svg"/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12" Type="http://schemas.openxmlformats.org/officeDocument/2006/relationships/image" Target="../media/image21.png"/><Relationship Id="rId17" Type="http://schemas.openxmlformats.org/officeDocument/2006/relationships/image" Target="../media/image26.svg"/><Relationship Id="rId25" Type="http://schemas.openxmlformats.org/officeDocument/2006/relationships/image" Target="../media/image34.svg"/><Relationship Id="rId33" Type="http://schemas.openxmlformats.org/officeDocument/2006/relationships/image" Target="../media/image42.svg"/><Relationship Id="rId38" Type="http://schemas.openxmlformats.org/officeDocument/2006/relationships/image" Target="../media/image47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2.svg"/><Relationship Id="rId7" Type="http://schemas.openxmlformats.org/officeDocument/2006/relationships/image" Target="../media/image18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svg"/><Relationship Id="rId18" Type="http://schemas.openxmlformats.org/officeDocument/2006/relationships/image" Target="../media/image21.png"/><Relationship Id="rId3" Type="http://schemas.openxmlformats.org/officeDocument/2006/relationships/image" Target="../media/image12.svg"/><Relationship Id="rId21" Type="http://schemas.openxmlformats.org/officeDocument/2006/relationships/image" Target="../media/image14.svg"/><Relationship Id="rId7" Type="http://schemas.openxmlformats.org/officeDocument/2006/relationships/image" Target="../media/image16.svg"/><Relationship Id="rId12" Type="http://schemas.openxmlformats.org/officeDocument/2006/relationships/image" Target="../media/image27.png"/><Relationship Id="rId17" Type="http://schemas.openxmlformats.org/officeDocument/2006/relationships/image" Target="../media/image30.svg"/><Relationship Id="rId2" Type="http://schemas.openxmlformats.org/officeDocument/2006/relationships/image" Target="../media/image11.png"/><Relationship Id="rId16" Type="http://schemas.openxmlformats.org/officeDocument/2006/relationships/image" Target="../media/image29.png"/><Relationship Id="rId20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png"/><Relationship Id="rId11" Type="http://schemas.openxmlformats.org/officeDocument/2006/relationships/image" Target="../media/image18.svg"/><Relationship Id="rId5" Type="http://schemas.openxmlformats.org/officeDocument/2006/relationships/image" Target="../media/image24.svg"/><Relationship Id="rId15" Type="http://schemas.openxmlformats.org/officeDocument/2006/relationships/image" Target="../media/image20.svg"/><Relationship Id="rId10" Type="http://schemas.openxmlformats.org/officeDocument/2006/relationships/image" Target="../media/image17.png"/><Relationship Id="rId19" Type="http://schemas.openxmlformats.org/officeDocument/2006/relationships/image" Target="../media/image22.svg"/><Relationship Id="rId4" Type="http://schemas.openxmlformats.org/officeDocument/2006/relationships/image" Target="../media/image23.png"/><Relationship Id="rId9" Type="http://schemas.openxmlformats.org/officeDocument/2006/relationships/image" Target="../media/image26.svg"/><Relationship Id="rId14" Type="http://schemas.openxmlformats.org/officeDocument/2006/relationships/image" Target="../media/image19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hyperlink" Target="https://www.linkedin.com/in/cgm-phd/" TargetMode="External"/><Relationship Id="rId18" Type="http://schemas.openxmlformats.org/officeDocument/2006/relationships/image" Target="../media/image9.png"/><Relationship Id="rId3" Type="http://schemas.openxmlformats.org/officeDocument/2006/relationships/image" Target="../media/image51.png"/><Relationship Id="rId7" Type="http://schemas.openxmlformats.org/officeDocument/2006/relationships/image" Target="../media/image3.png"/><Relationship Id="rId12" Type="http://schemas.openxmlformats.org/officeDocument/2006/relationships/hyperlink" Target="https://twitter.com/cgmoreh" TargetMode="External"/><Relationship Id="rId17" Type="http://schemas.openxmlformats.org/officeDocument/2006/relationships/image" Target="../media/image8.png"/><Relationship Id="rId2" Type="http://schemas.openxmlformats.org/officeDocument/2006/relationships/image" Target="../media/image2.png"/><Relationship Id="rId16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3.svg"/><Relationship Id="rId11" Type="http://schemas.openxmlformats.org/officeDocument/2006/relationships/hyperlink" Target="https://github.com/CGMoreh" TargetMode="External"/><Relationship Id="rId5" Type="http://schemas.openxmlformats.org/officeDocument/2006/relationships/image" Target="../media/image52.png"/><Relationship Id="rId15" Type="http://schemas.openxmlformats.org/officeDocument/2006/relationships/image" Target="../media/image6.png"/><Relationship Id="rId10" Type="http://schemas.openxmlformats.org/officeDocument/2006/relationships/hyperlink" Target="https://www.chrismoreh.com/" TargetMode="External"/><Relationship Id="rId19" Type="http://schemas.openxmlformats.org/officeDocument/2006/relationships/image" Target="../media/image54.png"/><Relationship Id="rId4" Type="http://schemas.microsoft.com/office/2007/relationships/hdphoto" Target="../media/hdphoto1.wdp"/><Relationship Id="rId9" Type="http://schemas.openxmlformats.org/officeDocument/2006/relationships/hyperlink" Target="mailto:chris.moreh@ncl.ac.uk" TargetMode="External"/><Relationship Id="rId14" Type="http://schemas.openxmlformats.org/officeDocument/2006/relationships/image" Target="../media/image5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80000"/>
            <a:lum/>
          </a:blip>
          <a:srcRect/>
          <a:stretch>
            <a:fillRect l="2000" r="2000" b="2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598116"/>
            <a:ext cx="98755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64B1F7A-19A6-1CF3-BEAB-784AD8D53EB1}"/>
              </a:ext>
            </a:extLst>
          </p:cNvPr>
          <p:cNvSpPr txBox="1"/>
          <p:nvPr userDrawn="1"/>
        </p:nvSpPr>
        <p:spPr>
          <a:xfrm>
            <a:off x="1076962" y="4981037"/>
            <a:ext cx="329862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hlinkClick r:id="rId3"/>
              </a:rPr>
              <a:t>Dr Chris Moreh</a:t>
            </a:r>
            <a:endParaRPr lang="en-GB" sz="2400" b="1" dirty="0"/>
          </a:p>
          <a:p>
            <a:pPr algn="ctr"/>
            <a:r>
              <a:rPr lang="en-GB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Lecturer (Assistant Professor) in Sociology</a:t>
            </a:r>
          </a:p>
          <a:p>
            <a:pPr algn="ctr"/>
            <a:r>
              <a:rPr lang="en-GB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Newcastle University (UK)</a:t>
            </a:r>
          </a:p>
        </p:txBody>
      </p:sp>
      <p:pic>
        <p:nvPicPr>
          <p:cNvPr id="17" name="Picture 12" descr="Partners; Sustaining Creative Economies ...">
            <a:extLst>
              <a:ext uri="{FF2B5EF4-FFF2-40B4-BE49-F238E27FC236}">
                <a16:creationId xmlns:a16="http://schemas.microsoft.com/office/drawing/2014/main" id="{5E3F19EF-7B80-6D97-E3A7-968224B762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8455" y="5559906"/>
            <a:ext cx="879898" cy="492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D47E78DF-0172-CCB2-A101-66933B097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55271" y="4969095"/>
            <a:ext cx="2466369" cy="8119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366C7AD-815A-A77E-DFE5-343F532EBF9A}"/>
              </a:ext>
            </a:extLst>
          </p:cNvPr>
          <p:cNvSpPr txBox="1"/>
          <p:nvPr userDrawn="1"/>
        </p:nvSpPr>
        <p:spPr>
          <a:xfrm>
            <a:off x="5214979" y="4804497"/>
            <a:ext cx="25825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7"/>
              </a:rPr>
              <a:t>chris.moreh@ncl.ac.uk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  <a:hlinkClick r:id="rId8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8"/>
              </a:rPr>
              <a:t>chrismoreh.com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9"/>
              </a:rPr>
              <a:t>/CGMoreh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0"/>
              </a:rPr>
              <a:t>@CGMoreh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1"/>
              </a:rPr>
              <a:t>Chris 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149FC35-C474-B9EE-00BD-BC74BCEB8E9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 flipH="1">
            <a:off x="5230888" y="5140634"/>
            <a:ext cx="174474" cy="180000"/>
          </a:xfrm>
          <a:prstGeom prst="rect">
            <a:avLst/>
          </a:prstGeom>
        </p:spPr>
      </p:pic>
      <p:pic>
        <p:nvPicPr>
          <p:cNvPr id="21" name="Picture 4">
            <a:extLst>
              <a:ext uri="{FF2B5EF4-FFF2-40B4-BE49-F238E27FC236}">
                <a16:creationId xmlns:a16="http://schemas.microsoft.com/office/drawing/2014/main" id="{F9EC77A0-6416-6CCB-C929-DDC0F09623B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0359" y="5607125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>
            <a:extLst>
              <a:ext uri="{FF2B5EF4-FFF2-40B4-BE49-F238E27FC236}">
                <a16:creationId xmlns:a16="http://schemas.microsoft.com/office/drawing/2014/main" id="{F971661E-6DFA-370A-89DD-D2BC0DED9D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5362" y="5875809"/>
            <a:ext cx="19125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6">
            <a:extLst>
              <a:ext uri="{FF2B5EF4-FFF2-40B4-BE49-F238E27FC236}">
                <a16:creationId xmlns:a16="http://schemas.microsoft.com/office/drawing/2014/main" id="{210423AF-0922-B2C9-F283-0DAD228B18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4877" y="5353572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Email Icon Clip Art , Royalty PNG Transparent Background, Free Download  #130 - FreeIconsPNG">
            <a:extLst>
              <a:ext uri="{FF2B5EF4-FFF2-40B4-BE49-F238E27FC236}">
                <a16:creationId xmlns:a16="http://schemas.microsoft.com/office/drawing/2014/main" id="{A29CD3B3-0963-AF7B-DAAC-629686F339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5888" y="4898445"/>
            <a:ext cx="17640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3352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E3F75-4629-998C-D4E2-8B503E840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746" y="286604"/>
            <a:ext cx="9578516" cy="911576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160149-4935-39AC-F9A6-3A67DF92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AF1058-E5AB-75EB-3440-399DB9E1D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AAE89-1CB8-B1D2-4FC2-01A5F935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Picture 5" descr="A black background with text and colorful dots&#10;&#10;Description automatically generated">
            <a:extLst>
              <a:ext uri="{FF2B5EF4-FFF2-40B4-BE49-F238E27FC236}">
                <a16:creationId xmlns:a16="http://schemas.microsoft.com/office/drawing/2014/main" id="{064384DD-349E-96E1-9F2A-86B3CB91EDD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5261" y="286604"/>
            <a:ext cx="1640837" cy="91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277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6745" y="286604"/>
            <a:ext cx="9448800" cy="911576"/>
          </a:xfrm>
        </p:spPr>
        <p:txBody>
          <a:bodyPr/>
          <a:lstStyle>
            <a:lvl1pPr marL="0"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 descr="A black background with text and colorful dots&#10;&#10;Description automatically generated">
            <a:extLst>
              <a:ext uri="{FF2B5EF4-FFF2-40B4-BE49-F238E27FC236}">
                <a16:creationId xmlns:a16="http://schemas.microsoft.com/office/drawing/2014/main" id="{77856388-EE09-056A-2FE4-8DA8669CE6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5261" y="286604"/>
            <a:ext cx="1640837" cy="911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251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6910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1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8 October 2024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Comparisons and Associations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7533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blipFill dpi="0" rotWithShape="1">
          <a:blip r:embed="rId2">
            <a:lum/>
          </a:blip>
          <a:srcRect/>
          <a:stretch>
            <a:fillRect l="-1000" r="-1000" b="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5539630" y="1128947"/>
            <a:ext cx="6468395" cy="31162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4452" y="1340856"/>
            <a:ext cx="6218753" cy="1475916"/>
          </a:xfrm>
        </p:spPr>
        <p:txBody>
          <a:bodyPr lIns="91440" tIns="0" rIns="91440" bIns="0" anchor="b">
            <a:noAutofit/>
          </a:bodyPr>
          <a:lstStyle>
            <a:lvl1pPr>
              <a:defRPr sz="5400" b="1">
                <a:solidFill>
                  <a:srgbClr val="FFFFFF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664452" y="3094377"/>
            <a:ext cx="6218753" cy="972284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32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1317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362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8557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1765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Comparisons and Associations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9464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E28854-50C7-416D-09D3-A8563C853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43B67-CE49-0A0C-7F9C-757FF38AD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70A5F-B5E2-79CD-FCA0-21992A61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04975CB-2B2F-AABC-1BEA-AC019045F8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745" y="286604"/>
            <a:ext cx="10398935" cy="911576"/>
          </a:xfrm>
        </p:spPr>
        <p:txBody>
          <a:bodyPr/>
          <a:lstStyle>
            <a:lvl1pPr>
              <a:defRPr/>
            </a:lvl1pPr>
          </a:lstStyle>
          <a:p>
            <a:r>
              <a:rPr lang="en-GB" b="1" dirty="0"/>
              <a:t>Numbered bullets</a:t>
            </a:r>
          </a:p>
        </p:txBody>
      </p:sp>
      <p:pic>
        <p:nvPicPr>
          <p:cNvPr id="7" name="Graphic 6" descr="Badge 1 with solid fill">
            <a:extLst>
              <a:ext uri="{FF2B5EF4-FFF2-40B4-BE49-F238E27FC236}">
                <a16:creationId xmlns:a16="http://schemas.microsoft.com/office/drawing/2014/main" id="{EEDCACCF-0446-119C-CB06-6CC1142E7E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836" y="1872658"/>
            <a:ext cx="468000" cy="468000"/>
          </a:xfrm>
          <a:prstGeom prst="rect">
            <a:avLst/>
          </a:prstGeom>
        </p:spPr>
      </p:pic>
      <p:pic>
        <p:nvPicPr>
          <p:cNvPr id="8" name="Graphic 7" descr="Badge 10 with solid fill">
            <a:extLst>
              <a:ext uri="{FF2B5EF4-FFF2-40B4-BE49-F238E27FC236}">
                <a16:creationId xmlns:a16="http://schemas.microsoft.com/office/drawing/2014/main" id="{7F8BE7BD-9E19-44BB-2FE3-12ED9FDF94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8331" y="1876667"/>
            <a:ext cx="468000" cy="468000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F9F887CA-CB36-8ED8-6315-DC7D01B4907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70601" y="1878489"/>
            <a:ext cx="468000" cy="468000"/>
          </a:xfrm>
          <a:prstGeom prst="rect">
            <a:avLst/>
          </a:prstGeom>
        </p:spPr>
      </p:pic>
      <p:pic>
        <p:nvPicPr>
          <p:cNvPr id="10" name="Graphic 9" descr="Badge 3 with solid fill">
            <a:extLst>
              <a:ext uri="{FF2B5EF4-FFF2-40B4-BE49-F238E27FC236}">
                <a16:creationId xmlns:a16="http://schemas.microsoft.com/office/drawing/2014/main" id="{825A6F75-9C1C-A95D-D6DA-109E9EBA5201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37342" y="1872658"/>
            <a:ext cx="468000" cy="468000"/>
          </a:xfrm>
          <a:prstGeom prst="rect">
            <a:avLst/>
          </a:prstGeom>
        </p:spPr>
      </p:pic>
      <p:pic>
        <p:nvPicPr>
          <p:cNvPr id="11" name="Graphic 10" descr="Badge 4 with solid fill">
            <a:extLst>
              <a:ext uri="{FF2B5EF4-FFF2-40B4-BE49-F238E27FC236}">
                <a16:creationId xmlns:a16="http://schemas.microsoft.com/office/drawing/2014/main" id="{60351B4A-6BB3-B9DA-023E-187EE4E1634A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94542" y="1881516"/>
            <a:ext cx="468000" cy="468000"/>
          </a:xfrm>
          <a:prstGeom prst="rect">
            <a:avLst/>
          </a:prstGeom>
        </p:spPr>
      </p:pic>
      <p:pic>
        <p:nvPicPr>
          <p:cNvPr id="12" name="Graphic 11" descr="Badge 5 with solid fill">
            <a:extLst>
              <a:ext uri="{FF2B5EF4-FFF2-40B4-BE49-F238E27FC236}">
                <a16:creationId xmlns:a16="http://schemas.microsoft.com/office/drawing/2014/main" id="{1A300893-C177-035B-A219-FC6049E2DC7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50483" y="1880076"/>
            <a:ext cx="468000" cy="468000"/>
          </a:xfrm>
          <a:prstGeom prst="rect">
            <a:avLst/>
          </a:prstGeom>
        </p:spPr>
      </p:pic>
      <p:pic>
        <p:nvPicPr>
          <p:cNvPr id="13" name="Graphic 12" descr="Badge 6 with solid fill">
            <a:extLst>
              <a:ext uri="{FF2B5EF4-FFF2-40B4-BE49-F238E27FC236}">
                <a16:creationId xmlns:a16="http://schemas.microsoft.com/office/drawing/2014/main" id="{063091E7-A963-EF50-B2F2-C6CCFD335CF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21248" y="1882631"/>
            <a:ext cx="468000" cy="468000"/>
          </a:xfrm>
          <a:prstGeom prst="rect">
            <a:avLst/>
          </a:prstGeom>
        </p:spPr>
      </p:pic>
      <p:pic>
        <p:nvPicPr>
          <p:cNvPr id="14" name="Graphic 13" descr="Badge 7 with solid fill">
            <a:extLst>
              <a:ext uri="{FF2B5EF4-FFF2-40B4-BE49-F238E27FC236}">
                <a16:creationId xmlns:a16="http://schemas.microsoft.com/office/drawing/2014/main" id="{7412FF20-691E-38CC-D8B3-456AF73DB554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63624" y="1884307"/>
            <a:ext cx="468000" cy="468000"/>
          </a:xfrm>
          <a:prstGeom prst="rect">
            <a:avLst/>
          </a:prstGeom>
        </p:spPr>
      </p:pic>
      <p:pic>
        <p:nvPicPr>
          <p:cNvPr id="15" name="Graphic 14" descr="Badge 8 with solid fill">
            <a:extLst>
              <a:ext uri="{FF2B5EF4-FFF2-40B4-BE49-F238E27FC236}">
                <a16:creationId xmlns:a16="http://schemas.microsoft.com/office/drawing/2014/main" id="{F71DD924-767F-6F93-1AF3-D96571DEC0CD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606000" y="1883485"/>
            <a:ext cx="468000" cy="468000"/>
          </a:xfrm>
          <a:prstGeom prst="rect">
            <a:avLst/>
          </a:prstGeom>
        </p:spPr>
      </p:pic>
      <p:pic>
        <p:nvPicPr>
          <p:cNvPr id="16" name="Graphic 15" descr="Badge 9 with solid fill">
            <a:extLst>
              <a:ext uri="{FF2B5EF4-FFF2-40B4-BE49-F238E27FC236}">
                <a16:creationId xmlns:a16="http://schemas.microsoft.com/office/drawing/2014/main" id="{05746AA2-07AD-BB3D-8AC7-7E01AE9FFD64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064706" y="1880076"/>
            <a:ext cx="468000" cy="468000"/>
          </a:xfrm>
          <a:prstGeom prst="rect">
            <a:avLst/>
          </a:prstGeom>
        </p:spPr>
      </p:pic>
      <p:pic>
        <p:nvPicPr>
          <p:cNvPr id="28" name="Graphic 27" descr="Badge 1 outline">
            <a:extLst>
              <a:ext uri="{FF2B5EF4-FFF2-40B4-BE49-F238E27FC236}">
                <a16:creationId xmlns:a16="http://schemas.microsoft.com/office/drawing/2014/main" id="{377A0617-1C4D-93A7-0816-74355CD27482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100935" y="2382047"/>
            <a:ext cx="914400" cy="914400"/>
          </a:xfrm>
          <a:prstGeom prst="rect">
            <a:avLst/>
          </a:prstGeom>
        </p:spPr>
      </p:pic>
      <p:pic>
        <p:nvPicPr>
          <p:cNvPr id="32" name="Graphic 31" descr="Badge outline">
            <a:extLst>
              <a:ext uri="{FF2B5EF4-FFF2-40B4-BE49-F238E27FC236}">
                <a16:creationId xmlns:a16="http://schemas.microsoft.com/office/drawing/2014/main" id="{328E83A1-A5CF-14CE-994B-9FC912A453D5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17798" y="2368814"/>
            <a:ext cx="914400" cy="914400"/>
          </a:xfrm>
          <a:prstGeom prst="rect">
            <a:avLst/>
          </a:prstGeom>
        </p:spPr>
      </p:pic>
      <p:pic>
        <p:nvPicPr>
          <p:cNvPr id="34" name="Graphic 33" descr="Badge 3 outline">
            <a:extLst>
              <a:ext uri="{FF2B5EF4-FFF2-40B4-BE49-F238E27FC236}">
                <a16:creationId xmlns:a16="http://schemas.microsoft.com/office/drawing/2014/main" id="{B8DB6A5A-BA59-B575-8EAE-1F62375C482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822942" y="2360054"/>
            <a:ext cx="914400" cy="914400"/>
          </a:xfrm>
          <a:prstGeom prst="rect">
            <a:avLst/>
          </a:prstGeom>
        </p:spPr>
      </p:pic>
      <p:pic>
        <p:nvPicPr>
          <p:cNvPr id="36" name="Graphic 35" descr="Badge 4 outline">
            <a:extLst>
              <a:ext uri="{FF2B5EF4-FFF2-40B4-BE49-F238E27FC236}">
                <a16:creationId xmlns:a16="http://schemas.microsoft.com/office/drawing/2014/main" id="{7D7894F2-405D-D537-E8CD-FFC2FD562CEA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3653533" y="2382047"/>
            <a:ext cx="914400" cy="914400"/>
          </a:xfrm>
          <a:prstGeom prst="rect">
            <a:avLst/>
          </a:prstGeom>
        </p:spPr>
      </p:pic>
      <p:pic>
        <p:nvPicPr>
          <p:cNvPr id="38" name="Graphic 37" descr="Badge 5 outline">
            <a:extLst>
              <a:ext uri="{FF2B5EF4-FFF2-40B4-BE49-F238E27FC236}">
                <a16:creationId xmlns:a16="http://schemas.microsoft.com/office/drawing/2014/main" id="{CCB95B5E-BCD4-CD6A-8DA0-49EF454DFC6B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70396" y="2382047"/>
            <a:ext cx="914400" cy="914400"/>
          </a:xfrm>
          <a:prstGeom prst="rect">
            <a:avLst/>
          </a:prstGeom>
        </p:spPr>
      </p:pic>
      <p:pic>
        <p:nvPicPr>
          <p:cNvPr id="40" name="Graphic 39" descr="Badge 6 outline">
            <a:extLst>
              <a:ext uri="{FF2B5EF4-FFF2-40B4-BE49-F238E27FC236}">
                <a16:creationId xmlns:a16="http://schemas.microsoft.com/office/drawing/2014/main" id="{B2E42FE5-E882-BB0B-DF27-634BED68E17D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287259" y="2360054"/>
            <a:ext cx="914400" cy="914400"/>
          </a:xfrm>
          <a:prstGeom prst="rect">
            <a:avLst/>
          </a:prstGeom>
        </p:spPr>
      </p:pic>
      <p:pic>
        <p:nvPicPr>
          <p:cNvPr id="42" name="Graphic 41" descr="Badge 7 outline">
            <a:extLst>
              <a:ext uri="{FF2B5EF4-FFF2-40B4-BE49-F238E27FC236}">
                <a16:creationId xmlns:a16="http://schemas.microsoft.com/office/drawing/2014/main" id="{4F474E09-0F6B-A545-A2FB-528D8342017C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104122" y="2382047"/>
            <a:ext cx="914400" cy="914400"/>
          </a:xfrm>
          <a:prstGeom prst="rect">
            <a:avLst/>
          </a:prstGeom>
        </p:spPr>
      </p:pic>
      <p:pic>
        <p:nvPicPr>
          <p:cNvPr id="44" name="Graphic 43" descr="Badge 8 outline">
            <a:extLst>
              <a:ext uri="{FF2B5EF4-FFF2-40B4-BE49-F238E27FC236}">
                <a16:creationId xmlns:a16="http://schemas.microsoft.com/office/drawing/2014/main" id="{E3982124-D3D3-AC60-CDFE-68CC967AC2ED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6880662" y="2368814"/>
            <a:ext cx="914400" cy="914400"/>
          </a:xfrm>
          <a:prstGeom prst="rect">
            <a:avLst/>
          </a:prstGeom>
        </p:spPr>
      </p:pic>
      <p:pic>
        <p:nvPicPr>
          <p:cNvPr id="46" name="Graphic 45" descr="Badge 9 outline">
            <a:extLst>
              <a:ext uri="{FF2B5EF4-FFF2-40B4-BE49-F238E27FC236}">
                <a16:creationId xmlns:a16="http://schemas.microsoft.com/office/drawing/2014/main" id="{D98F73D0-5CF6-543B-2C7E-39B53C836163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686300" y="2368814"/>
            <a:ext cx="914400" cy="914400"/>
          </a:xfrm>
          <a:prstGeom prst="rect">
            <a:avLst/>
          </a:prstGeom>
        </p:spPr>
      </p:pic>
      <p:pic>
        <p:nvPicPr>
          <p:cNvPr id="48" name="Graphic 47" descr="Badge 10 outline">
            <a:extLst>
              <a:ext uri="{FF2B5EF4-FFF2-40B4-BE49-F238E27FC236}">
                <a16:creationId xmlns:a16="http://schemas.microsoft.com/office/drawing/2014/main" id="{9596ECA7-08AD-60AD-126A-2D32F85555E2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8474065" y="236308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845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FB93-0A54-F0A3-44FD-9D6D98D416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10283" y="606093"/>
            <a:ext cx="9876849" cy="911576"/>
          </a:xfrm>
        </p:spPr>
        <p:txBody>
          <a:bodyPr>
            <a:noAutofit/>
          </a:bodyPr>
          <a:lstStyle>
            <a:lvl1pPr algn="ctr">
              <a:defRPr sz="7200" b="1">
                <a:latin typeface="+mn-lt"/>
              </a:defRPr>
            </a:lvl1pPr>
          </a:lstStyle>
          <a:p>
            <a:r>
              <a:rPr lang="en-GB" dirty="0"/>
              <a:t>Add Outline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FD10C5-6787-77AE-977F-D7E7083D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36E4D-BDDF-D97C-2EC6-0E974709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1CEC6-7F83-2BE7-95A9-5DF472D2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549E6D0-17C2-32B5-650D-F84097C07BF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8952401"/>
              </p:ext>
            </p:extLst>
          </p:nvPr>
        </p:nvGraphicFramePr>
        <p:xfrm>
          <a:off x="1335634" y="1993748"/>
          <a:ext cx="9626149" cy="257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547184884"/>
                    </a:ext>
                  </a:extLst>
                </a:gridCol>
                <a:gridCol w="9086149">
                  <a:extLst>
                    <a:ext uri="{9D8B030D-6E8A-4147-A177-3AD203B41FA5}">
                      <a16:colId xmlns:a16="http://schemas.microsoft.com/office/drawing/2014/main" val="4258649048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">
                        <a:extLst>
                          <a:ext uri="{96DAC541-7B7A-43D3-8B79-37D633B846F1}">
                            <asvg:svgBlip xmlns:asvg="http://schemas.microsoft.com/office/drawing/2016/SVG/main" r:embed="rId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one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083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58223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4">
                        <a:extLst>
                          <a:ext uri="{96DAC541-7B7A-43D3-8B79-37D633B846F1}">
                            <asvg:svgBlip xmlns:asvg="http://schemas.microsoft.com/office/drawing/2016/SVG/main" r:embed="rId5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two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6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44012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6">
                        <a:extLst>
                          <a:ext uri="{96DAC541-7B7A-43D3-8B79-37D633B846F1}">
                            <asvg:svgBlip xmlns:asvg="http://schemas.microsoft.com/office/drawing/2016/SVG/main" r:embed="rId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three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10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2218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r>
                        <a:rPr lang="en-GB" sz="2200" dirty="0"/>
                        <a:t>four</a:t>
                      </a:r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62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066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04940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3FB93-0A54-F0A3-44FD-9D6D98D416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399" y="689938"/>
            <a:ext cx="10115202" cy="911576"/>
          </a:xfrm>
        </p:spPr>
        <p:txBody>
          <a:bodyPr>
            <a:noAutofit/>
          </a:bodyPr>
          <a:lstStyle>
            <a:lvl1pPr algn="ctr">
              <a:defRPr sz="7200" b="1">
                <a:latin typeface="+mn-lt"/>
              </a:defRPr>
            </a:lvl1pPr>
          </a:lstStyle>
          <a:p>
            <a:r>
              <a:rPr lang="en-GB" dirty="0"/>
              <a:t>Add Outline title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FD10C5-6787-77AE-977F-D7E7083D0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36E4D-BDDF-D97C-2EC6-0E974709B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D1CEC6-7F83-2BE7-95A9-5DF472D2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549E6D0-17C2-32B5-650D-F84097C07BF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996315249"/>
              </p:ext>
            </p:extLst>
          </p:nvPr>
        </p:nvGraphicFramePr>
        <p:xfrm>
          <a:off x="726954" y="1971714"/>
          <a:ext cx="10440000" cy="3284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547184884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425864904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861192458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199644677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">
                        <a:extLst>
                          <a:ext uri="{96DAC541-7B7A-43D3-8B79-37D633B846F1}">
                            <asvg:svgBlip xmlns:asvg="http://schemas.microsoft.com/office/drawing/2016/SVG/main" r:embed="rId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200" dirty="0"/>
                        <a:t>Edit in Master slide view</a:t>
                      </a:r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 dpi="0" rotWithShape="0">
                      <a:blip r:embed="rId4">
                        <a:extLst>
                          <a:ext uri="{96DAC541-7B7A-43D3-8B79-37D633B846F1}">
                            <asvg:svgBlip xmlns:asvg="http://schemas.microsoft.com/office/drawing/2016/SVG/main" r:embed="rId5"/>
                          </a:ext>
                        </a:extLst>
                      </a:blip>
                      <a:srcRect/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8083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58223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6">
                        <a:extLst>
                          <a:ext uri="{96DAC541-7B7A-43D3-8B79-37D633B846F1}">
                            <asvg:svgBlip xmlns:asvg="http://schemas.microsoft.com/office/drawing/2016/SVG/main" r:embed="rId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763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440128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0">
                        <a:extLst>
                          <a:ext uri="{96DAC541-7B7A-43D3-8B79-37D633B846F1}">
                            <asvg:svgBlip xmlns:asvg="http://schemas.microsoft.com/office/drawing/2016/SVG/main" r:embed="rId11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2">
                        <a:extLst>
                          <a:ext uri="{96DAC541-7B7A-43D3-8B79-37D633B846F1}">
                            <asvg:svgBlip xmlns:asvg="http://schemas.microsoft.com/office/drawing/2016/SVG/main" r:embed="rId13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10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722184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4">
                        <a:extLst>
                          <a:ext uri="{96DAC541-7B7A-43D3-8B79-37D633B846F1}">
                            <asvg:svgBlip xmlns:asvg="http://schemas.microsoft.com/office/drawing/2016/SVG/main" r:embed="rId15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6">
                        <a:extLst>
                          <a:ext uri="{96DAC541-7B7A-43D3-8B79-37D633B846F1}">
                            <asvg:svgBlip xmlns:asvg="http://schemas.microsoft.com/office/drawing/2016/SVG/main" r:embed="rId17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1621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06641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18">
                        <a:extLst>
                          <a:ext uri="{96DAC541-7B7A-43D3-8B79-37D633B846F1}">
                            <asvg:svgBlip xmlns:asvg="http://schemas.microsoft.com/office/drawing/2016/SVG/main" r:embed="rId19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72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20">
                        <a:extLst>
                          <a:ext uri="{96DAC541-7B7A-43D3-8B79-37D633B846F1}">
                            <asvg:svgBlip xmlns:asvg="http://schemas.microsoft.com/office/drawing/2016/SVG/main" r:embed="rId21"/>
                          </a:ext>
                        </a:extLst>
                      </a:blip>
                      <a:stretch>
                        <a:fillRect/>
                      </a:stretch>
                    </a:blipFill>
                  </a:tcPr>
                </a:tc>
                <a:tc rowSpan="2">
                  <a:txBody>
                    <a:bodyPr/>
                    <a:lstStyle/>
                    <a:p>
                      <a:endParaRPr lang="en-GB" sz="2200" dirty="0"/>
                    </a:p>
                  </a:txBody>
                  <a:tcPr marL="108000" marR="36000" marT="72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9105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673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4895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4479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267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2" descr="Partners; Sustaining Creative Economies ...">
            <a:extLst>
              <a:ext uri="{FF2B5EF4-FFF2-40B4-BE49-F238E27FC236}">
                <a16:creationId xmlns:a16="http://schemas.microsoft.com/office/drawing/2014/main" id="{C213A523-D735-8490-152A-23415FF254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8991" y="5440123"/>
            <a:ext cx="1342114" cy="751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39AE9B-1271-7638-B347-A5F464D2B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3BAF4-52A6-7AC7-8C6F-183586D9D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93AA3C-DFA6-2BE6-3BD0-0D6E60101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‹#›</a:t>
            </a:fld>
            <a:endParaRPr lang="en-GB"/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2A7E09F9-D2AF-737B-7EF3-D1714380AC3D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7944" b="94860" l="9780" r="89976">
                        <a14:foregroundMark x1="25672" y1="20093" x2="32152" y2="70327"/>
                        <a14:foregroundMark x1="32152" y1="70327" x2="79829" y2="87383"/>
                        <a14:foregroundMark x1="79829" y1="87383" x2="79095" y2="36682"/>
                        <a14:foregroundMark x1="79095" y1="36682" x2="64914" y2="14720"/>
                        <a14:foregroundMark x1="64914" y1="14720" x2="48533" y2="7944"/>
                        <a14:foregroundMark x1="48533" y1="7944" x2="30196" y2="13084"/>
                        <a14:foregroundMark x1="30196" y1="13084" x2="25306" y2="20561"/>
                        <a14:foregroundMark x1="21760" y1="39486" x2="25061" y2="78505"/>
                        <a14:foregroundMark x1="25061" y1="78505" x2="64670" y2="92056"/>
                        <a14:foregroundMark x1="64670" y1="92056" x2="78851" y2="91822"/>
                        <a14:foregroundMark x1="82641" y1="15187" x2="86675" y2="62850"/>
                        <a14:foregroundMark x1="86675" y1="62850" x2="80196" y2="94626"/>
                        <a14:foregroundMark x1="80196" y1="94626" x2="78117" y2="9486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7245" t="2011" r="13041"/>
          <a:stretch/>
        </p:blipFill>
        <p:spPr bwMode="auto">
          <a:xfrm>
            <a:off x="3480620" y="-23164"/>
            <a:ext cx="8635320" cy="6350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Graphic 9" descr="Advertising outline">
            <a:extLst>
              <a:ext uri="{FF2B5EF4-FFF2-40B4-BE49-F238E27FC236}">
                <a16:creationId xmlns:a16="http://schemas.microsoft.com/office/drawing/2014/main" id="{1EDC15B8-2173-9DC7-DB3B-645E07D8406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71" y="208195"/>
            <a:ext cx="7304134" cy="6756079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D1C29E7-0246-1CD7-8A1F-30707B7E185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94192" y="4729773"/>
            <a:ext cx="2851533" cy="938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B8C7C2A-22F2-9C49-D70E-5C8A22C35019}"/>
              </a:ext>
            </a:extLst>
          </p:cNvPr>
          <p:cNvSpPr txBox="1"/>
          <p:nvPr userDrawn="1"/>
        </p:nvSpPr>
        <p:spPr>
          <a:xfrm>
            <a:off x="2189351" y="4909434"/>
            <a:ext cx="25825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9"/>
              </a:rPr>
              <a:t>chris.moreh@ncl.ac.uk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  <a:hlinkClick r:id="rId1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0"/>
              </a:rPr>
              <a:t>chrismoreh.com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1"/>
              </a:rPr>
              <a:t>/CGMoreh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2"/>
              </a:rPr>
              <a:t>@CGMoreh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  <a:p>
            <a:pPr marL="180000">
              <a:spcBef>
                <a:spcPts val="0"/>
              </a:spcBef>
            </a:pPr>
            <a:r>
              <a:rPr lang="en-GB" sz="1600" b="0" dirty="0">
                <a:latin typeface="Arial Nova Cond Light" panose="020B0306020202020204" pitchFamily="34" charset="0"/>
                <a:cs typeface="Courier New" panose="02070309020205020404" pitchFamily="49" charset="0"/>
                <a:hlinkClick r:id="rId13"/>
              </a:rPr>
              <a:t>Chris Moreh</a:t>
            </a:r>
            <a:endParaRPr lang="en-GB" sz="1600" b="0" dirty="0">
              <a:latin typeface="Arial Nova Cond Light" panose="020B0306020202020204" pitchFamily="34" charset="0"/>
              <a:cs typeface="Courier New" panose="02070309020205020404" pitchFamily="49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D7CACF7-D679-73AB-9142-786DA076C3A7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 flipH="1">
            <a:off x="2205260" y="5245571"/>
            <a:ext cx="174474" cy="180000"/>
          </a:xfrm>
          <a:prstGeom prst="rect">
            <a:avLst/>
          </a:prstGeom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F5D755EC-05C2-0884-2C2F-74A7297B70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4731" y="5712062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>
            <a:extLst>
              <a:ext uri="{FF2B5EF4-FFF2-40B4-BE49-F238E27FC236}">
                <a16:creationId xmlns:a16="http://schemas.microsoft.com/office/drawing/2014/main" id="{40A42823-F60C-D577-74D9-FE8C3E3A62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734" y="5980746"/>
            <a:ext cx="19125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6">
            <a:extLst>
              <a:ext uri="{FF2B5EF4-FFF2-40B4-BE49-F238E27FC236}">
                <a16:creationId xmlns:a16="http://schemas.microsoft.com/office/drawing/2014/main" id="{ECDBB212-ABA5-CE0D-7F0C-C37D656E0D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9249" y="5458509"/>
            <a:ext cx="238421" cy="238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Email Icon Clip Art , Royalty PNG Transparent Background, Free Download  #130 - FreeIconsPNG">
            <a:extLst>
              <a:ext uri="{FF2B5EF4-FFF2-40B4-BE49-F238E27FC236}">
                <a16:creationId xmlns:a16="http://schemas.microsoft.com/office/drawing/2014/main" id="{9AD65224-3024-068D-2B15-9BC76597054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0092" y="5003382"/>
            <a:ext cx="176400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63504B0-8CB3-256C-EF50-E93FEF75AC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9"/>
          <a:srcRect l="14262" t="5451" r="9231" b="22240"/>
          <a:stretch/>
        </p:blipFill>
        <p:spPr>
          <a:xfrm>
            <a:off x="851647" y="1470212"/>
            <a:ext cx="5629836" cy="267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324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ECC6-7BD6-D9D0-DD8F-30FCF10DE4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References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857D05-3B38-1245-894D-24581A24F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C7BA36-6C3C-C811-3047-B251D5B25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89F523-D9FC-8E93-1712-1B6E3DE7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9FD4878-448B-C559-6183-304914140D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57238" y="1431925"/>
            <a:ext cx="10455275" cy="465772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363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6746" y="286604"/>
            <a:ext cx="9578516" cy="9115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6745" y="1477880"/>
            <a:ext cx="10398935" cy="468118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r>
              <a:rPr lang="en-US"/>
              <a:t>8 October 2024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FFFFFF"/>
                </a:solidFill>
              </a:defRPr>
            </a:lvl1pPr>
          </a:lstStyle>
          <a:p>
            <a:fld id="{9FAA51BB-2FC0-4DB8-B50E-F52D50E733B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024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8" r:id="rId5"/>
    <p:sldLayoutId id="2147483669" r:id="rId6"/>
    <p:sldLayoutId id="2147483664" r:id="rId7"/>
    <p:sldLayoutId id="2147483665" r:id="rId8"/>
    <p:sldLayoutId id="2147483666" r:id="rId9"/>
    <p:sldLayoutId id="2147483667" r:id="rId10"/>
    <p:sldLayoutId id="2147483674" r:id="rId11"/>
    <p:sldLayoutId id="2147483676" r:id="rId12"/>
    <p:sldLayoutId id="2147483675" r:id="rId13"/>
    <p:sldLayoutId id="2147483670" r:id="rId14"/>
    <p:sldLayoutId id="2147483671" r:id="rId15"/>
    <p:sldLayoutId id="2147483673" r:id="rId16"/>
    <p:sldLayoutId id="2147483677" r:id="rId17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 spc="-50" baseline="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20000"/>
        <a:buFont typeface="Arial Narrow" panose="020B0606020202030204" pitchFamily="34" charset="0"/>
        <a:buChar char="●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10000"/>
        <a:buFont typeface="Courier New" panose="02070309020205020404" pitchFamily="49" charset="0"/>
        <a:buChar char="o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749808" indent="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None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gif"/><Relationship Id="rId4" Type="http://schemas.openxmlformats.org/officeDocument/2006/relationships/image" Target="../media/image5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jstor.org/stable/2682899" TargetMode="External"/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6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61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060982-6EE3-A8F1-75FE-C4BDB2FF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6000" b="1" dirty="0"/>
              <a:t>Week 9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112B5B6-7C9E-9DE5-8D2C-13D42F1FBB6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Modelling continuous outcomes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6383FB-FAD5-ACBF-8362-99A44C5B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4BC908-4805-889D-BE4F-455E3A449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2F49CC-8A5A-2FB3-FD34-139202D1D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4459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9201D-2A10-AAC3-1006-C86286DC0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Continuous outcomes?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D68425-0661-96D9-7968-6D84B2193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94F2C-CF60-62B4-F1A2-1FA4B8ED3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153079-52E8-3CBE-35A8-A200B180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3</a:t>
            </a:fld>
            <a:endParaRPr lang="en-GB"/>
          </a:p>
        </p:txBody>
      </p:sp>
      <p:pic>
        <p:nvPicPr>
          <p:cNvPr id="6" name="Picture 2" descr="Image result for likert scale smiley faces">
            <a:extLst>
              <a:ext uri="{FF2B5EF4-FFF2-40B4-BE49-F238E27FC236}">
                <a16:creationId xmlns:a16="http://schemas.microsoft.com/office/drawing/2014/main" id="{82FD8197-AD3F-4E46-8396-3CB8693B1F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280" y="3078065"/>
            <a:ext cx="4224413" cy="830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98E259-4F4F-4490-8628-7C470BE51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216" y="1868536"/>
            <a:ext cx="2997546" cy="8309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CFE870A-DE02-462E-B98D-FCDDFE3CE2F9}"/>
              </a:ext>
            </a:extLst>
          </p:cNvPr>
          <p:cNvSpPr txBox="1"/>
          <p:nvPr/>
        </p:nvSpPr>
        <p:spPr>
          <a:xfrm>
            <a:off x="3801192" y="1868538"/>
            <a:ext cx="19642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3F739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Categorical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Nominal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BA844F-925A-482F-AEA6-A1C19BC2B721}"/>
              </a:ext>
            </a:extLst>
          </p:cNvPr>
          <p:cNvSpPr txBox="1"/>
          <p:nvPr/>
        </p:nvSpPr>
        <p:spPr>
          <a:xfrm>
            <a:off x="3801192" y="3078066"/>
            <a:ext cx="1850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3F739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Categorical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GB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Ordinal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3B7E98-6E18-4358-B76C-CC893A991317}"/>
              </a:ext>
            </a:extLst>
          </p:cNvPr>
          <p:cNvSpPr txBox="1"/>
          <p:nvPr/>
        </p:nvSpPr>
        <p:spPr>
          <a:xfrm>
            <a:off x="3834458" y="4287594"/>
            <a:ext cx="226154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3F739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Scale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GB" sz="2400" b="1" dirty="0">
                <a:solidFill>
                  <a:srgbClr val="3F739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Numeric</a:t>
            </a:r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Discrete,</a:t>
            </a: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Ratio,</a:t>
            </a:r>
          </a:p>
          <a:p>
            <a:r>
              <a:rPr lang="en-GB" sz="2400" b="1" dirty="0">
                <a:latin typeface="Calibri" panose="020F0502020204030204" pitchFamily="34" charset="0"/>
                <a:cs typeface="Calibri" panose="020F0502020204030204" pitchFamily="34" charset="0"/>
              </a:rPr>
              <a:t>Interval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2F84F0-2F32-EE01-4F3E-56D7F4AA9517}"/>
              </a:ext>
            </a:extLst>
          </p:cNvPr>
          <p:cNvSpPr txBox="1"/>
          <p:nvPr/>
        </p:nvSpPr>
        <p:spPr>
          <a:xfrm>
            <a:off x="732360" y="2397821"/>
            <a:ext cx="290375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3F739B"/>
                </a:solidFill>
              </a:rPr>
              <a:t>Variable</a:t>
            </a:r>
          </a:p>
          <a:p>
            <a:pPr algn="ctr"/>
            <a:r>
              <a:rPr lang="en-GB" sz="3600" b="1" dirty="0">
                <a:solidFill>
                  <a:srgbClr val="3F739B"/>
                </a:solidFill>
              </a:rPr>
              <a:t>types </a:t>
            </a:r>
          </a:p>
          <a:p>
            <a:pPr algn="ctr"/>
            <a:r>
              <a:rPr lang="en-GB" sz="3600" b="1" dirty="0"/>
              <a:t>/</a:t>
            </a:r>
          </a:p>
          <a:p>
            <a:pPr algn="ctr"/>
            <a:r>
              <a:rPr lang="en-GB" sz="3600" b="1" dirty="0">
                <a:solidFill>
                  <a:srgbClr val="3F739B"/>
                </a:solidFill>
              </a:rPr>
              <a:t>Measurement</a:t>
            </a:r>
          </a:p>
          <a:p>
            <a:pPr algn="ctr"/>
            <a:r>
              <a:rPr lang="en-GB" sz="3600" b="1" dirty="0">
                <a:solidFill>
                  <a:srgbClr val="3F739B"/>
                </a:solidFill>
              </a:rPr>
              <a:t>levels</a:t>
            </a:r>
          </a:p>
        </p:txBody>
      </p:sp>
      <p:pic>
        <p:nvPicPr>
          <p:cNvPr id="2050" name="Picture 2" descr="The Celsius scale">
            <a:extLst>
              <a:ext uri="{FF2B5EF4-FFF2-40B4-BE49-F238E27FC236}">
                <a16:creationId xmlns:a16="http://schemas.microsoft.com/office/drawing/2014/main" id="{C997E3A0-D222-5B2F-26C5-CFE3945CE3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713" b="-9830"/>
          <a:stretch/>
        </p:blipFill>
        <p:spPr bwMode="auto">
          <a:xfrm>
            <a:off x="6093070" y="5331026"/>
            <a:ext cx="5599497" cy="579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EF8034-4035-F991-8D4D-C4D51217EE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3070" y="4232575"/>
            <a:ext cx="5201992" cy="929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5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Right 3">
            <a:extLst>
              <a:ext uri="{FF2B5EF4-FFF2-40B4-BE49-F238E27FC236}">
                <a16:creationId xmlns:a16="http://schemas.microsoft.com/office/drawing/2014/main" id="{F10DEB46-1089-4DB0-9D46-DB261134DE74}"/>
              </a:ext>
            </a:extLst>
          </p:cNvPr>
          <p:cNvSpPr/>
          <p:nvPr/>
        </p:nvSpPr>
        <p:spPr>
          <a:xfrm>
            <a:off x="1307874" y="2384612"/>
            <a:ext cx="2762433" cy="208877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Dependent / Outcome</a:t>
            </a:r>
          </a:p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Variable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69D02-D0C3-4EC8-8F3C-A5294E2B460D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9959" y="1189433"/>
            <a:ext cx="4415291" cy="3796242"/>
          </a:xfrm>
          <a:prstGeom prst="rect">
            <a:avLst/>
          </a:prstGeom>
          <a:noFill/>
        </p:spPr>
      </p:pic>
      <p:sp>
        <p:nvSpPr>
          <p:cNvPr id="6" name="Arrow: Up 5">
            <a:extLst>
              <a:ext uri="{FF2B5EF4-FFF2-40B4-BE49-F238E27FC236}">
                <a16:creationId xmlns:a16="http://schemas.microsoft.com/office/drawing/2014/main" id="{E0C07184-B427-4031-86AE-735CAAAD0845}"/>
              </a:ext>
            </a:extLst>
          </p:cNvPr>
          <p:cNvSpPr/>
          <p:nvPr/>
        </p:nvSpPr>
        <p:spPr>
          <a:xfrm>
            <a:off x="4632870" y="4993752"/>
            <a:ext cx="3327474" cy="1231591"/>
          </a:xfrm>
          <a:prstGeom prst="upArrow">
            <a:avLst>
              <a:gd name="adj1" fmla="val 50000"/>
              <a:gd name="adj2" fmla="val 5225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9A07CA7-119F-4413-B039-CF91724F6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Continuous outcomes?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FCF06-D411-A722-FB83-9BAADEA7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157AD-BEDE-ED2A-93B1-192C0B0B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ED8377-00C8-B2EB-5191-1A0960E4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4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EB09C-0E34-595F-2277-11204DF220A0}"/>
              </a:ext>
            </a:extLst>
          </p:cNvPr>
          <p:cNvSpPr txBox="1"/>
          <p:nvPr/>
        </p:nvSpPr>
        <p:spPr>
          <a:xfrm>
            <a:off x="1307874" y="4473388"/>
            <a:ext cx="2472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explain/predict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4A56A2-9E81-BE7B-DD95-5B04101C699C}"/>
              </a:ext>
            </a:extLst>
          </p:cNvPr>
          <p:cNvSpPr txBox="1"/>
          <p:nvPr/>
        </p:nvSpPr>
        <p:spPr>
          <a:xfrm>
            <a:off x="8084199" y="5220117"/>
            <a:ext cx="3327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use for explaining/predicting the DV</a:t>
            </a:r>
          </a:p>
        </p:txBody>
      </p:sp>
    </p:spTree>
    <p:extLst>
      <p:ext uri="{BB962C8B-B14F-4D97-AF65-F5344CB8AC3E}">
        <p14:creationId xmlns:p14="http://schemas.microsoft.com/office/powerpoint/2010/main" val="17599303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Right 3">
            <a:extLst>
              <a:ext uri="{FF2B5EF4-FFF2-40B4-BE49-F238E27FC236}">
                <a16:creationId xmlns:a16="http://schemas.microsoft.com/office/drawing/2014/main" id="{F10DEB46-1089-4DB0-9D46-DB261134DE74}"/>
              </a:ext>
            </a:extLst>
          </p:cNvPr>
          <p:cNvSpPr/>
          <p:nvPr/>
        </p:nvSpPr>
        <p:spPr>
          <a:xfrm>
            <a:off x="1307874" y="2384612"/>
            <a:ext cx="2762433" cy="208877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Dependent / Outcome</a:t>
            </a:r>
          </a:p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Variable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69D02-D0C3-4EC8-8F3C-A5294E2B460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485903" y="1189433"/>
            <a:ext cx="3589063" cy="3796242"/>
          </a:xfrm>
          <a:prstGeom prst="rect">
            <a:avLst/>
          </a:prstGeom>
          <a:noFill/>
        </p:spPr>
      </p:pic>
      <p:sp>
        <p:nvSpPr>
          <p:cNvPr id="6" name="Arrow: Up 5">
            <a:extLst>
              <a:ext uri="{FF2B5EF4-FFF2-40B4-BE49-F238E27FC236}">
                <a16:creationId xmlns:a16="http://schemas.microsoft.com/office/drawing/2014/main" id="{E0C07184-B427-4031-86AE-735CAAAD0845}"/>
              </a:ext>
            </a:extLst>
          </p:cNvPr>
          <p:cNvSpPr/>
          <p:nvPr/>
        </p:nvSpPr>
        <p:spPr>
          <a:xfrm>
            <a:off x="4632870" y="4993752"/>
            <a:ext cx="3327474" cy="1231591"/>
          </a:xfrm>
          <a:prstGeom prst="upArrow">
            <a:avLst>
              <a:gd name="adj1" fmla="val 50000"/>
              <a:gd name="adj2" fmla="val 5225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9A07CA7-119F-4413-B039-CF91724F6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Continuous outcomes?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FCF06-D411-A722-FB83-9BAADEA7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157AD-BEDE-ED2A-93B1-192C0B0B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ED8377-00C8-B2EB-5191-1A0960E4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5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EB09C-0E34-595F-2277-11204DF220A0}"/>
              </a:ext>
            </a:extLst>
          </p:cNvPr>
          <p:cNvSpPr txBox="1"/>
          <p:nvPr/>
        </p:nvSpPr>
        <p:spPr>
          <a:xfrm>
            <a:off x="1307874" y="4473388"/>
            <a:ext cx="2472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explain/predict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4A56A2-9E81-BE7B-DD95-5B04101C699C}"/>
              </a:ext>
            </a:extLst>
          </p:cNvPr>
          <p:cNvSpPr txBox="1"/>
          <p:nvPr/>
        </p:nvSpPr>
        <p:spPr>
          <a:xfrm>
            <a:off x="8084199" y="5220117"/>
            <a:ext cx="3327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use for explaining/predicting the DV</a:t>
            </a:r>
          </a:p>
        </p:txBody>
      </p:sp>
    </p:spTree>
    <p:extLst>
      <p:ext uri="{BB962C8B-B14F-4D97-AF65-F5344CB8AC3E}">
        <p14:creationId xmlns:p14="http://schemas.microsoft.com/office/powerpoint/2010/main" val="3506495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Right 3">
            <a:extLst>
              <a:ext uri="{FF2B5EF4-FFF2-40B4-BE49-F238E27FC236}">
                <a16:creationId xmlns:a16="http://schemas.microsoft.com/office/drawing/2014/main" id="{F10DEB46-1089-4DB0-9D46-DB261134DE74}"/>
              </a:ext>
            </a:extLst>
          </p:cNvPr>
          <p:cNvSpPr/>
          <p:nvPr/>
        </p:nvSpPr>
        <p:spPr>
          <a:xfrm>
            <a:off x="1307874" y="2384612"/>
            <a:ext cx="2762433" cy="2088776"/>
          </a:xfrm>
          <a:prstGeom prst="rightArrow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Dependent / Outcome</a:t>
            </a:r>
          </a:p>
          <a:p>
            <a:pPr algn="ctr" defTabSz="1219170">
              <a:buClr>
                <a:srgbClr val="000000"/>
              </a:buClr>
            </a:pPr>
            <a:r>
              <a:rPr lang="en-GB" b="1" kern="0" dirty="0">
                <a:solidFill>
                  <a:schemeClr val="bg1"/>
                </a:solidFill>
                <a:latin typeface="Arial"/>
                <a:sym typeface="Arial"/>
              </a:rPr>
              <a:t>Variable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669D02-D0C3-4EC8-8F3C-A5294E2B460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508763" y="1198180"/>
            <a:ext cx="4822804" cy="3795572"/>
          </a:xfrm>
          <a:prstGeom prst="rect">
            <a:avLst/>
          </a:prstGeom>
          <a:noFill/>
        </p:spPr>
      </p:pic>
      <p:sp>
        <p:nvSpPr>
          <p:cNvPr id="6" name="Arrow: Up 5">
            <a:extLst>
              <a:ext uri="{FF2B5EF4-FFF2-40B4-BE49-F238E27FC236}">
                <a16:creationId xmlns:a16="http://schemas.microsoft.com/office/drawing/2014/main" id="{E0C07184-B427-4031-86AE-735CAAAD0845}"/>
              </a:ext>
            </a:extLst>
          </p:cNvPr>
          <p:cNvSpPr/>
          <p:nvPr/>
        </p:nvSpPr>
        <p:spPr>
          <a:xfrm>
            <a:off x="4632870" y="4993752"/>
            <a:ext cx="3327474" cy="1231591"/>
          </a:xfrm>
          <a:prstGeom prst="upArrow">
            <a:avLst>
              <a:gd name="adj1" fmla="val 50000"/>
              <a:gd name="adj2" fmla="val 52251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Independent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Variable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9A07CA7-119F-4413-B039-CF91724F6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Continuous outcomes?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EFCF06-D411-A722-FB83-9BAADEA7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157AD-BEDE-ED2A-93B1-192C0B0BA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ED8377-00C8-B2EB-5191-1A0960E47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6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EB09C-0E34-595F-2277-11204DF220A0}"/>
              </a:ext>
            </a:extLst>
          </p:cNvPr>
          <p:cNvSpPr txBox="1"/>
          <p:nvPr/>
        </p:nvSpPr>
        <p:spPr>
          <a:xfrm>
            <a:off x="1307874" y="4473388"/>
            <a:ext cx="24722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explain/predict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4A56A2-9E81-BE7B-DD95-5B04101C699C}"/>
              </a:ext>
            </a:extLst>
          </p:cNvPr>
          <p:cNvSpPr txBox="1"/>
          <p:nvPr/>
        </p:nvSpPr>
        <p:spPr>
          <a:xfrm>
            <a:off x="8084199" y="5220117"/>
            <a:ext cx="3327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3F739B"/>
                </a:solidFill>
              </a:rPr>
              <a:t>The variable we want to use for explaining/predicting the DV</a:t>
            </a:r>
          </a:p>
        </p:txBody>
      </p:sp>
    </p:spTree>
    <p:extLst>
      <p:ext uri="{BB962C8B-B14F-4D97-AF65-F5344CB8AC3E}">
        <p14:creationId xmlns:p14="http://schemas.microsoft.com/office/powerpoint/2010/main" val="897844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C10D394-C9B2-B03C-4136-7B6EEA8FF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4452" y="1762886"/>
            <a:ext cx="6218753" cy="2169033"/>
          </a:xfrm>
        </p:spPr>
        <p:txBody>
          <a:bodyPr/>
          <a:lstStyle/>
          <a:p>
            <a:r>
              <a:rPr lang="en-GB" dirty="0">
                <a:solidFill>
                  <a:srgbClr val="FFC000"/>
                </a:solidFill>
              </a:rPr>
              <a:t>How</a:t>
            </a:r>
            <a:r>
              <a:rPr lang="en-GB" dirty="0"/>
              <a:t> is </a:t>
            </a:r>
            <a:r>
              <a:rPr lang="en-GB" i="1" dirty="0"/>
              <a:t>income inequality </a:t>
            </a:r>
            <a:r>
              <a:rPr lang="en-GB" dirty="0"/>
              <a:t>associated with </a:t>
            </a:r>
            <a:r>
              <a:rPr lang="en-GB" i="1" dirty="0"/>
              <a:t>social trust</a:t>
            </a:r>
            <a:r>
              <a:rPr lang="en-GB" dirty="0"/>
              <a:t>?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970186A7-EA5C-A9A6-00C2-C2344CB3E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E5130C6E-0065-E34B-BE45-C2C68B3C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F9A7185-82FE-CA4A-924B-4CC133CB6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596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37C0FA-10DA-0D35-01CC-20520F3B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Does inequality </a:t>
            </a:r>
            <a:r>
              <a:rPr lang="en-GB" i="1" dirty="0"/>
              <a:t>explain</a:t>
            </a:r>
            <a:r>
              <a:rPr lang="en-GB" dirty="0"/>
              <a:t> social trust?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E703C-944A-D7E7-F614-4BA84F3235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GB" b="1" dirty="0"/>
              <a:t> Inequality as a </a:t>
            </a:r>
            <a:r>
              <a:rPr lang="en-GB" b="1" i="1" dirty="0"/>
              <a:t>predictor</a:t>
            </a:r>
            <a:r>
              <a:rPr lang="en-GB" b="1" dirty="0"/>
              <a:t> of social trust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b="1" dirty="0"/>
              <a:t> Social trust as a </a:t>
            </a:r>
            <a:r>
              <a:rPr lang="en-GB" b="1" i="1" dirty="0"/>
              <a:t>function</a:t>
            </a:r>
            <a:r>
              <a:rPr lang="en-GB" b="1" dirty="0"/>
              <a:t> of inequality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b="1" dirty="0"/>
              <a:t> A model of social trust </a:t>
            </a:r>
            <a:r>
              <a:rPr lang="en-GB" b="1" i="1" dirty="0"/>
              <a:t>dependent on </a:t>
            </a:r>
            <a:r>
              <a:rPr lang="en-GB" b="1" dirty="0"/>
              <a:t>inequality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b="1" dirty="0"/>
              <a:t> 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AA952-F4BF-DF38-94E0-073B86D37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7E1DD-848E-88C2-F321-FB74DD996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616FB1-0E31-1374-5F8A-A89912406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8277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i="1" dirty="0"/>
              <a:t>The spirit level </a:t>
            </a:r>
            <a:r>
              <a:rPr dirty="0"/>
              <a:t>(2010)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26" name="Picture 2" descr="The Spirit Level: Why Equality is Better for Everyone: Amazon.co.uk:  Pickett, Kate, Wilkinson, Richard: 9780241954294: Books">
            <a:extLst>
              <a:ext uri="{FF2B5EF4-FFF2-40B4-BE49-F238E27FC236}">
                <a16:creationId xmlns:a16="http://schemas.microsoft.com/office/drawing/2014/main" id="{A76EC4F5-D491-B613-8EA8-7A7CE063F5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9773" y="1561513"/>
            <a:ext cx="2664677" cy="4080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CAB09A-CAE0-2B37-AEB6-BF261E861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C67004-7023-2934-B9CC-E419109BD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3692" y="1198180"/>
            <a:ext cx="6288791" cy="50887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90FC48-83AB-43CE-58FF-FF45B8C80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‘best’ line?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E31FDA-E474-477F-89E4-2BE343EEA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00000000-1234-1234-1234-123412341234}" type="slidenum">
              <a:rPr lang="en" smtClean="0">
                <a:solidFill>
                  <a:schemeClr val="tx2">
                    <a:lumMod val="75000"/>
                  </a:schemeClr>
                </a:solidFill>
              </a:rPr>
              <a:pPr algn="ctr"/>
              <a:t>10</a:t>
            </a:fld>
            <a:endParaRPr lang="en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E68F5D-993E-4553-80D2-F5656CF17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27" y="1390955"/>
            <a:ext cx="6306356" cy="41489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9631AD-853D-482E-8CC1-BB559ACD1740}"/>
              </a:ext>
            </a:extLst>
          </p:cNvPr>
          <p:cNvSpPr txBox="1"/>
          <p:nvPr/>
        </p:nvSpPr>
        <p:spPr>
          <a:xfrm>
            <a:off x="702656" y="5616905"/>
            <a:ext cx="5388608" cy="584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67" dirty="0">
                <a:solidFill>
                  <a:schemeClr val="tx2">
                    <a:lumMod val="75000"/>
                  </a:schemeClr>
                </a:solidFill>
              </a:rPr>
              <a:t>Source: F. J. Anscombe (1973). Graphs in Statistical Analysis. </a:t>
            </a:r>
            <a:r>
              <a:rPr lang="en-GB" sz="1067" i="1" dirty="0">
                <a:solidFill>
                  <a:schemeClr val="tx2">
                    <a:lumMod val="75000"/>
                  </a:schemeClr>
                </a:solidFill>
              </a:rPr>
              <a:t>The American Statistician</a:t>
            </a:r>
            <a:r>
              <a:rPr lang="en-GB" sz="1067" dirty="0">
                <a:solidFill>
                  <a:schemeClr val="tx2">
                    <a:lumMod val="75000"/>
                  </a:schemeClr>
                </a:solidFill>
              </a:rPr>
              <a:t>, 27(1):17-21. If you have access to JSTOR you can get the article at the following link: </a:t>
            </a:r>
            <a:r>
              <a:rPr lang="en-GB" sz="1067" dirty="0">
                <a:solidFill>
                  <a:schemeClr val="tx2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http://www.jstor.org/stable/2682899</a:t>
            </a:r>
            <a:r>
              <a:rPr lang="en-GB" sz="1067" dirty="0">
                <a:solidFill>
                  <a:schemeClr val="tx2">
                    <a:lumMod val="75000"/>
                  </a:schemeClr>
                </a:solidFill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B775F-EBFA-4604-A384-C3EC4252B96A}"/>
              </a:ext>
            </a:extLst>
          </p:cNvPr>
          <p:cNvSpPr txBox="1"/>
          <p:nvPr/>
        </p:nvSpPr>
        <p:spPr>
          <a:xfrm>
            <a:off x="7202211" y="2580165"/>
            <a:ext cx="4553020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Clr>
                <a:schemeClr val="bg1"/>
              </a:buClr>
            </a:pPr>
            <a:r>
              <a:rPr lang="en-GB" sz="3600" dirty="0">
                <a:solidFill>
                  <a:schemeClr val="tx2">
                    <a:lumMod val="75000"/>
                  </a:schemeClr>
                </a:solidFill>
                <a:latin typeface="ArialMT"/>
              </a:rPr>
              <a:t>T</a:t>
            </a:r>
            <a:r>
              <a:rPr lang="en-GB" sz="2800" dirty="0">
                <a:solidFill>
                  <a:schemeClr val="tx2">
                    <a:lumMod val="75000"/>
                  </a:schemeClr>
                </a:solidFill>
                <a:latin typeface="ArialMT"/>
              </a:rPr>
              <a:t>he same regression line could represent very different relationships</a:t>
            </a:r>
          </a:p>
          <a:p>
            <a:pPr marL="380990" indent="-38099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GB" sz="3600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413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1A31D3-72D3-4C2F-9E46-F962CBDEF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418" y="348589"/>
            <a:ext cx="8971167" cy="5909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634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6D18-5879-951E-312D-F35B3AEFF7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Estimation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213AC-B520-1C10-5083-9B4C825E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dirty="0"/>
              <a:t>Association between </a:t>
            </a:r>
            <a:r>
              <a:rPr i="1" dirty="0"/>
              <a:t>inequality</a:t>
            </a:r>
            <a:r>
              <a:rPr dirty="0"/>
              <a:t> and </a:t>
            </a:r>
            <a:r>
              <a:rPr i="1" dirty="0"/>
              <a:t>social trust</a:t>
            </a:r>
            <a:r>
              <a:rPr dirty="0"/>
              <a:t> at cross-national comparative level (W3Ex1) (Wilkinson and Pickett 2010)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277B0-3AC5-0D62-7994-A671EFD6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8">
            <a:extLst>
              <a:ext uri="{FF2B5EF4-FFF2-40B4-BE49-F238E27FC236}">
                <a16:creationId xmlns:a16="http://schemas.microsoft.com/office/drawing/2014/main" id="{CC8FF6EA-8682-2BC8-E9B8-C6157593B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Picture 1" descr="Week_6_R_files/figure-pptx/unnamed-chunk-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05050" y="2271306"/>
            <a:ext cx="7472178" cy="373608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6D18-5879-951E-312D-F35B3AEFF7CC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t>Estimation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4213AC-B520-1C10-5083-9B4C825E4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745" y="1477880"/>
            <a:ext cx="3396155" cy="4681181"/>
          </a:xfrm>
        </p:spPr>
        <p:txBody>
          <a:bodyPr/>
          <a:lstStyle/>
          <a:p>
            <a:pPr lvl="0"/>
            <a:r>
              <a:rPr b="1" dirty="0"/>
              <a:t>Intercept:</a:t>
            </a:r>
            <a:r>
              <a:rPr dirty="0"/>
              <a:t> Social trust in countries with 0 inequality is expected to be 45.4 on average.</a:t>
            </a:r>
          </a:p>
          <a:p>
            <a:pPr lvl="0"/>
            <a:r>
              <a:rPr b="1" dirty="0"/>
              <a:t>Slope:</a:t>
            </a:r>
            <a:r>
              <a:rPr dirty="0"/>
              <a:t> For each additional point increase in Inequality, the model predicts the level of social trust to be lower, on average, by 3.1 points.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277B0-3AC5-0D62-7994-A671EFD6E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8">
            <a:extLst>
              <a:ext uri="{FF2B5EF4-FFF2-40B4-BE49-F238E27FC236}">
                <a16:creationId xmlns:a16="http://schemas.microsoft.com/office/drawing/2014/main" id="{CC8FF6EA-8682-2BC8-E9B8-C6157593B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1" descr="Week_6_R_files/figure-pptx/unnamed-chunk-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85340" y="1667760"/>
            <a:ext cx="7533317" cy="376665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b="0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59F2B2-BAF1-26FC-FB99-4B5BB002077C}"/>
              </a:ext>
            </a:extLst>
          </p:cNvPr>
          <p:cNvSpPr/>
          <p:nvPr/>
        </p:nvSpPr>
        <p:spPr>
          <a:xfrm>
            <a:off x="7733664" y="5024906"/>
            <a:ext cx="884556" cy="872974"/>
          </a:xfrm>
          <a:prstGeom prst="rect">
            <a:avLst/>
          </a:prstGeom>
          <a:solidFill>
            <a:srgbClr val="DA000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07489F4-4847-6B11-F591-FE303D9E2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7"/>
          <a:stretch/>
        </p:blipFill>
        <p:spPr>
          <a:xfrm>
            <a:off x="491358" y="1782823"/>
            <a:ext cx="5276431" cy="420053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7789" y="1206927"/>
            <a:ext cx="6217885" cy="478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055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dirty="0">
                <a:sym typeface="Wingdings" panose="05000000000000000000" pitchFamily="2" charset="2"/>
              </a:rPr>
              <a:t>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787F33-4CD8-DBAD-424F-53CB7F065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0959" y="1352295"/>
            <a:ext cx="4186139" cy="309585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7789" y="1206927"/>
            <a:ext cx="6217885" cy="4785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4DAB24-00D9-B6DD-D86C-03EB6F537E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512482"/>
            <a:ext cx="4186140" cy="145674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6BB58A9-F045-4B3C-C165-C5584CAD34B7}"/>
              </a:ext>
            </a:extLst>
          </p:cNvPr>
          <p:cNvSpPr/>
          <p:nvPr/>
        </p:nvSpPr>
        <p:spPr>
          <a:xfrm>
            <a:off x="3729714" y="5365920"/>
            <a:ext cx="775325" cy="626167"/>
          </a:xfrm>
          <a:prstGeom prst="rect">
            <a:avLst/>
          </a:prstGeom>
          <a:solidFill>
            <a:srgbClr val="DA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EA6B8-64B6-6667-54EA-040EB411A0A2}"/>
              </a:ext>
            </a:extLst>
          </p:cNvPr>
          <p:cNvSpPr/>
          <p:nvPr/>
        </p:nvSpPr>
        <p:spPr>
          <a:xfrm>
            <a:off x="9648998" y="5017770"/>
            <a:ext cx="686264" cy="924899"/>
          </a:xfrm>
          <a:prstGeom prst="rect">
            <a:avLst/>
          </a:prstGeom>
          <a:solidFill>
            <a:srgbClr val="DA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E64A40-0F4E-9321-610F-9C5F150C54DD}"/>
              </a:ext>
            </a:extLst>
          </p:cNvPr>
          <p:cNvSpPr/>
          <p:nvPr/>
        </p:nvSpPr>
        <p:spPr>
          <a:xfrm>
            <a:off x="10556469" y="3348990"/>
            <a:ext cx="759231" cy="468630"/>
          </a:xfrm>
          <a:prstGeom prst="rect">
            <a:avLst/>
          </a:prstGeom>
          <a:solidFill>
            <a:srgbClr val="0070C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480465-698D-39CB-FC56-5508F9A3DE36}"/>
              </a:ext>
            </a:extLst>
          </p:cNvPr>
          <p:cNvSpPr/>
          <p:nvPr/>
        </p:nvSpPr>
        <p:spPr>
          <a:xfrm>
            <a:off x="11131779" y="5719652"/>
            <a:ext cx="759231" cy="223017"/>
          </a:xfrm>
          <a:prstGeom prst="rect">
            <a:avLst/>
          </a:prstGeom>
          <a:solidFill>
            <a:srgbClr val="0070C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D21993-70B6-1A19-FEC0-A9A75942B355}"/>
              </a:ext>
            </a:extLst>
          </p:cNvPr>
          <p:cNvSpPr/>
          <p:nvPr/>
        </p:nvSpPr>
        <p:spPr>
          <a:xfrm>
            <a:off x="4549999" y="5343060"/>
            <a:ext cx="759231" cy="561839"/>
          </a:xfrm>
          <a:prstGeom prst="rect">
            <a:avLst/>
          </a:prstGeom>
          <a:solidFill>
            <a:srgbClr val="0070C0">
              <a:alpha val="1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6D13C4-8407-E3C2-20FB-5F0F5E797A6D}"/>
              </a:ext>
            </a:extLst>
          </p:cNvPr>
          <p:cNvSpPr/>
          <p:nvPr/>
        </p:nvSpPr>
        <p:spPr>
          <a:xfrm>
            <a:off x="6547104" y="1975104"/>
            <a:ext cx="767334" cy="665707"/>
          </a:xfrm>
          <a:prstGeom prst="rect">
            <a:avLst/>
          </a:prstGeom>
          <a:solidFill>
            <a:srgbClr val="DA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4584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b="0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B15CB2-542B-A6B3-4671-B475B65F53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57"/>
          <a:stretch/>
        </p:blipFill>
        <p:spPr>
          <a:xfrm>
            <a:off x="491358" y="1782823"/>
            <a:ext cx="5688000" cy="420053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7789" y="1206927"/>
            <a:ext cx="6217885" cy="478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332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</a:t>
            </a: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0787F33-4CD8-DBAD-424F-53CB7F065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107"/>
          <a:stretch/>
        </p:blipFill>
        <p:spPr>
          <a:xfrm>
            <a:off x="480060" y="1897379"/>
            <a:ext cx="5287729" cy="40947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A86AE07-9CAC-985C-B0F1-AA1EC47BEB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7789" y="1206927"/>
            <a:ext cx="6217885" cy="47851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7E3ACF-D4C3-2502-17F0-03F90D66731A}"/>
              </a:ext>
            </a:extLst>
          </p:cNvPr>
          <p:cNvSpPr/>
          <p:nvPr/>
        </p:nvSpPr>
        <p:spPr>
          <a:xfrm>
            <a:off x="8663940" y="4992624"/>
            <a:ext cx="948690" cy="916685"/>
          </a:xfrm>
          <a:prstGeom prst="rect">
            <a:avLst/>
          </a:prstGeom>
          <a:solidFill>
            <a:srgbClr val="DA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65BE9DCD-36A4-9D2A-DEFC-526CBB943120}"/>
              </a:ext>
            </a:extLst>
          </p:cNvPr>
          <p:cNvSpPr/>
          <p:nvPr/>
        </p:nvSpPr>
        <p:spPr>
          <a:xfrm>
            <a:off x="5280661" y="3829050"/>
            <a:ext cx="160020" cy="69723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7709D734-C56C-74D2-BCF9-DEB651395DCD}"/>
              </a:ext>
            </a:extLst>
          </p:cNvPr>
          <p:cNvSpPr/>
          <p:nvPr/>
        </p:nvSpPr>
        <p:spPr>
          <a:xfrm>
            <a:off x="4667251" y="3729990"/>
            <a:ext cx="160020" cy="55626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4347E80E-FE4B-EAB0-8C66-B491B6F5C12D}"/>
              </a:ext>
            </a:extLst>
          </p:cNvPr>
          <p:cNvSpPr/>
          <p:nvPr/>
        </p:nvSpPr>
        <p:spPr>
          <a:xfrm>
            <a:off x="3123924" y="3457575"/>
            <a:ext cx="72000" cy="21600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49366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  <p:bldP spid="8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C9FFEE-819C-5FF1-ECF4-8B5C41E004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A2254E-8353-5AD7-F4D6-5066ACB1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B3765A-E308-73B2-A609-99A0A76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t>18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43DD6-23DF-6BE5-7A41-B43D3F6A1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8" y="531607"/>
            <a:ext cx="8908459" cy="527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080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DE9004-46D7-4459-92C5-C04BA0CB4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12" y="708931"/>
            <a:ext cx="9144825" cy="5501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670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DB22B1-E9CC-41F6-ADF8-58947530F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412" y="373391"/>
            <a:ext cx="8593176" cy="57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3690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63665B-4A8A-4E7E-9EB9-FBCE5589F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536" y="827778"/>
            <a:ext cx="9495203" cy="5370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492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FE4D6-8766-49A0-B677-626E90F8E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30" y="468154"/>
            <a:ext cx="7198999" cy="52642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3">
                <a:extLst>
                  <a:ext uri="{FF2B5EF4-FFF2-40B4-BE49-F238E27FC236}">
                    <a16:creationId xmlns:a16="http://schemas.microsoft.com/office/drawing/2014/main" id="{92E34DB3-B618-46C4-F0E8-66B5AAF4897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79916" y="1125622"/>
                <a:ext cx="4886803" cy="1304412"/>
              </a:xfrm>
              <a:prstGeom prst="rect">
                <a:avLst/>
              </a:prstGeom>
            </p:spPr>
            <p:txBody>
              <a:bodyPr/>
              <a:lstStyle>
                <a:lvl1pPr marL="269875" indent="-269875" algn="l" defTabSz="342900" rtl="0" eaLnBrk="1" latinLnBrk="0" hangingPunct="1">
                  <a:spcBef>
                    <a:spcPct val="20000"/>
                  </a:spcBef>
                  <a:buClr>
                    <a:schemeClr val="accent1">
                      <a:lumMod val="50000"/>
                    </a:schemeClr>
                  </a:buClr>
                  <a:buSzPct val="130000"/>
                  <a:buFont typeface="Arial Narrow" panose="020B0606020202030204" pitchFamily="34" charset="0"/>
                  <a:buChar char="●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39750" indent="-196850" algn="l" defTabSz="342900" rtl="0" eaLnBrk="1" latinLnBrk="0" hangingPunct="1">
                  <a:spcBef>
                    <a:spcPct val="20000"/>
                  </a:spcBef>
                  <a:buClr>
                    <a:schemeClr val="accent1">
                      <a:lumMod val="50000"/>
                    </a:schemeClr>
                  </a:buClr>
                  <a:buFont typeface="Arial Narrow" panose="020B0606020202030204" pitchFamily="34" charset="0"/>
                  <a:buChar char="►"/>
                  <a:defRPr sz="1800" kern="12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717550" indent="-269875" algn="l" defTabSz="342900" rtl="0" eaLnBrk="1" latinLnBrk="0" hangingPunct="1">
                  <a:spcBef>
                    <a:spcPct val="20000"/>
                  </a:spcBef>
                  <a:buClr>
                    <a:srgbClr val="5E8F3D"/>
                  </a:buClr>
                  <a:buFont typeface="Arial Narrow" panose="020B0606020202030204" pitchFamily="34" charset="0"/>
                  <a:buChar char="◄"/>
                  <a:defRPr sz="16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9625" indent="-177800" algn="l" defTabSz="342900" rtl="0" eaLnBrk="1" latinLnBrk="0" hangingPunct="1">
                  <a:spcBef>
                    <a:spcPct val="20000"/>
                  </a:spcBef>
                  <a:buClr>
                    <a:schemeClr val="accent6">
                      <a:lumMod val="50000"/>
                    </a:schemeClr>
                  </a:buClr>
                  <a:buFont typeface="Arial Narrow" panose="020B0606020202030204" pitchFamily="34" charset="0"/>
                  <a:buChar char="▼"/>
                  <a:defRPr sz="1400" kern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895350" indent="-92075" algn="l" defTabSz="342900" rtl="0" eaLnBrk="1" latinLnBrk="0" hangingPunct="1">
                  <a:spcBef>
                    <a:spcPct val="20000"/>
                  </a:spcBef>
                  <a:buClr>
                    <a:srgbClr val="A88000"/>
                  </a:buClr>
                  <a:buFont typeface="Arial Narrow" panose="020B0606020202030204" pitchFamily="34" charset="0"/>
                  <a:buChar char="▲"/>
                  <a:defRPr sz="1200" kern="1200">
                    <a:solidFill>
                      <a:schemeClr val="bg1">
                        <a:lumMod val="6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101597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GB" sz="2667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acc>
                      <m:r>
                        <a:rPr lang="en-GB" sz="2667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6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6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6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GB" sz="2667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667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6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6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GB" sz="2667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667" i="1">
                              <a:solidFill>
                                <a:srgbClr val="FFF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667" i="1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GB" sz="2667" i="1" dirty="0">
                  <a:latin typeface="Cambria Math" panose="02040503050406030204" pitchFamily="18" charset="0"/>
                </a:endParaRPr>
              </a:p>
              <a:p>
                <a:pPr marL="101597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67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66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667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>
                        <m:sSubPr>
                          <m:ctrlPr>
                            <a:rPr lang="en-GB" sz="2667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667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2667" i="1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en-GB" sz="2667" dirty="0"/>
              </a:p>
            </p:txBody>
          </p:sp>
        </mc:Choice>
        <mc:Fallback xmlns="">
          <p:sp>
            <p:nvSpPr>
              <p:cNvPr id="2" name="Text Placeholder 3">
                <a:extLst>
                  <a:ext uri="{FF2B5EF4-FFF2-40B4-BE49-F238E27FC236}">
                    <a16:creationId xmlns:a16="http://schemas.microsoft.com/office/drawing/2014/main" id="{92E34DB3-B618-46C4-F0E8-66B5AAF48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9916" y="1125622"/>
                <a:ext cx="4886803" cy="13044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F1E549E-C8DB-DE07-B1ED-FF5722BABEF5}"/>
              </a:ext>
            </a:extLst>
          </p:cNvPr>
          <p:cNvSpPr/>
          <p:nvPr/>
        </p:nvSpPr>
        <p:spPr>
          <a:xfrm>
            <a:off x="7003625" y="2176498"/>
            <a:ext cx="4144361" cy="383708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70701F-D9D6-6991-C683-FACE1F142BDA}"/>
              </a:ext>
            </a:extLst>
          </p:cNvPr>
          <p:cNvSpPr/>
          <p:nvPr/>
        </p:nvSpPr>
        <p:spPr>
          <a:xfrm>
            <a:off x="8135847" y="2711234"/>
            <a:ext cx="3491981" cy="316017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9A6748-F37D-94A4-AEAC-3FE2A0B2AD44}"/>
              </a:ext>
            </a:extLst>
          </p:cNvPr>
          <p:cNvSpPr/>
          <p:nvPr/>
        </p:nvSpPr>
        <p:spPr>
          <a:xfrm>
            <a:off x="8285851" y="2739899"/>
            <a:ext cx="1693795" cy="1620315"/>
          </a:xfrm>
          <a:prstGeom prst="ellipse">
            <a:avLst/>
          </a:prstGeom>
          <a:solidFill>
            <a:srgbClr val="FFFF00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2">
                    <a:lumMod val="75000"/>
                  </a:schemeClr>
                </a:solidFill>
              </a:rPr>
              <a:t>X1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D0ACD01-36E4-D4A4-1E7C-CE56D0CF83A1}"/>
              </a:ext>
            </a:extLst>
          </p:cNvPr>
          <p:cNvSpPr/>
          <p:nvPr/>
        </p:nvSpPr>
        <p:spPr>
          <a:xfrm>
            <a:off x="9373779" y="3284115"/>
            <a:ext cx="1760221" cy="1620315"/>
          </a:xfrm>
          <a:prstGeom prst="ellipse">
            <a:avLst/>
          </a:prstGeom>
          <a:solidFill>
            <a:schemeClr val="accent6">
              <a:lumMod val="75000"/>
              <a:alpha val="38824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2">
                    <a:lumMod val="75000"/>
                  </a:schemeClr>
                </a:solidFill>
              </a:rPr>
              <a:t>X2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0FEB95-4329-643B-5B34-FF5EBD23FCCD}"/>
              </a:ext>
            </a:extLst>
          </p:cNvPr>
          <p:cNvSpPr/>
          <p:nvPr/>
        </p:nvSpPr>
        <p:spPr>
          <a:xfrm>
            <a:off x="8333772" y="3916657"/>
            <a:ext cx="1693795" cy="1510497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2">
                    <a:lumMod val="75000"/>
                  </a:schemeClr>
                </a:solidFill>
              </a:rPr>
              <a:t>X3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742181-377B-DB51-81AF-6B14CB707D0E}"/>
              </a:ext>
            </a:extLst>
          </p:cNvPr>
          <p:cNvSpPr txBox="1"/>
          <p:nvPr/>
        </p:nvSpPr>
        <p:spPr>
          <a:xfrm>
            <a:off x="10316562" y="5086416"/>
            <a:ext cx="1252559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333" dirty="0">
                <a:solidFill>
                  <a:schemeClr val="tx2">
                    <a:lumMod val="75000"/>
                  </a:schemeClr>
                </a:solidFill>
              </a:rPr>
              <a:t>60%</a:t>
            </a:r>
          </a:p>
          <a:p>
            <a:r>
              <a:rPr lang="en-GB" sz="1333" dirty="0">
                <a:solidFill>
                  <a:schemeClr val="tx2">
                    <a:lumMod val="75000"/>
                  </a:schemeClr>
                </a:solidFill>
              </a:rPr>
              <a:t>unexplained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DA9B2C-703C-A088-6BFF-48AF5458E31B}"/>
              </a:ext>
            </a:extLst>
          </p:cNvPr>
          <p:cNvSpPr/>
          <p:nvPr/>
        </p:nvSpPr>
        <p:spPr>
          <a:xfrm>
            <a:off x="7497012" y="2711233"/>
            <a:ext cx="4144361" cy="355588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</p:spTree>
    <p:extLst>
      <p:ext uri="{BB962C8B-B14F-4D97-AF65-F5344CB8AC3E}">
        <p14:creationId xmlns:p14="http://schemas.microsoft.com/office/powerpoint/2010/main" val="5832053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dirty="0"/>
              <a:t>Inequality + Region </a:t>
            </a:r>
            <a:r>
              <a:rPr lang="en-GB" b="0" dirty="0">
                <a:sym typeface="Wingdings" panose="05000000000000000000" pitchFamily="2" charset="2"/>
              </a:rPr>
              <a:t></a:t>
            </a:r>
            <a:r>
              <a:rPr lang="en-GB" dirty="0">
                <a:sym typeface="Wingdings" panose="05000000000000000000" pitchFamily="2" charset="2"/>
              </a:rPr>
              <a:t> </a:t>
            </a:r>
            <a:r>
              <a:rPr lang="en-GB" dirty="0"/>
              <a:t>Social trust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Comparisons and Associations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Slide </a:t>
            </a:r>
            <a:fld id="{C5EF2332-01BF-834F-8236-50238282D533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CD17F-A726-D793-29D0-2E344835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D205ED-8448-CB12-483E-6A2D5FE1D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456" y="2112798"/>
            <a:ext cx="10001771" cy="316722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530B3D8-2727-C11F-16E6-3F88C710044A}"/>
              </a:ext>
            </a:extLst>
          </p:cNvPr>
          <p:cNvSpPr/>
          <p:nvPr/>
        </p:nvSpPr>
        <p:spPr>
          <a:xfrm>
            <a:off x="1996440" y="3429000"/>
            <a:ext cx="8814436" cy="1285875"/>
          </a:xfrm>
          <a:prstGeom prst="rect">
            <a:avLst/>
          </a:prstGeom>
          <a:solidFill>
            <a:srgbClr val="DA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4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F2CBA3A-E59C-1E5C-37CA-CD0F1E185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Workshop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36F7FD2-53FA-4A51-9681-6FC5C89600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1-3pm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2334B-2A42-251C-845C-1CED23366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848055-4F62-3048-C4D2-554FF0041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35960-24E1-CFDC-22DF-A828C2B2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A51BB-2FC0-4DB8-B50E-F52D50E733B6}" type="slidenum">
              <a:rPr lang="en-GB" smtClean="0"/>
              <a:pPr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129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E4DB1-6B08-6AEB-B597-8064268FD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8 October 2024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F2723A-2C1C-2AB6-3420-9BD762F76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Comparisons and Associations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FD3A0-9074-636F-30B6-C6C650C3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/>
          <a:lstStyle/>
          <a:p>
            <a:fld id="{9FAA51BB-2FC0-4DB8-B50E-F52D50E733B6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093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ct">
  <a:themeElements>
    <a:clrScheme name="Moreh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3F739B"/>
      </a:accent1>
      <a:accent2>
        <a:srgbClr val="1F394D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B88C00"/>
      </a:hlink>
      <a:folHlink>
        <a:srgbClr val="B88C00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reh template.pptx" id="{976FE89A-DE24-46CA-AC0C-F592F46D6A11}" vid="{6FA3B6B4-ED01-4468-97EF-FE3176612CF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24.07.16-Osaka</Template>
  <TotalTime>3660</TotalTime>
  <Words>469</Words>
  <Application>Microsoft Office PowerPoint</Application>
  <PresentationFormat>Widescreen</PresentationFormat>
  <Paragraphs>123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Aptos</vt:lpstr>
      <vt:lpstr>Arial</vt:lpstr>
      <vt:lpstr>Arial Narrow</vt:lpstr>
      <vt:lpstr>Arial Nova Cond Light</vt:lpstr>
      <vt:lpstr>ArialMT</vt:lpstr>
      <vt:lpstr>Calibri</vt:lpstr>
      <vt:lpstr>Calibri Light</vt:lpstr>
      <vt:lpstr>Cambria Math</vt:lpstr>
      <vt:lpstr>Courier New</vt:lpstr>
      <vt:lpstr>Wingdings</vt:lpstr>
      <vt:lpstr>Retrospect</vt:lpstr>
      <vt:lpstr>PowerPoint Presentation</vt:lpstr>
      <vt:lpstr>Week 9</vt:lpstr>
      <vt:lpstr>Continuous outcomes?</vt:lpstr>
      <vt:lpstr>Continuous outcomes?</vt:lpstr>
      <vt:lpstr>Continuous outcomes?</vt:lpstr>
      <vt:lpstr>Continuous outcomes?</vt:lpstr>
      <vt:lpstr>How is income inequality associated with social trust?</vt:lpstr>
      <vt:lpstr>Does inequality explain social trust?</vt:lpstr>
      <vt:lpstr>The spirit level (2010)</vt:lpstr>
      <vt:lpstr>What is a ‘best’ line?</vt:lpstr>
      <vt:lpstr>PowerPoint Presentation</vt:lpstr>
      <vt:lpstr>Estimation</vt:lpstr>
      <vt:lpstr>Estimation</vt:lpstr>
      <vt:lpstr>Inequality  Social trust</vt:lpstr>
      <vt:lpstr>Inequality  Social trust</vt:lpstr>
      <vt:lpstr>Inequality  Social trust</vt:lpstr>
      <vt:lpstr>Inequality  Social trust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Inequality + Region  Social trust</vt:lpstr>
      <vt:lpstr>Workshop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Moreh</dc:creator>
  <cp:lastModifiedBy>Chris Moreh</cp:lastModifiedBy>
  <cp:revision>4</cp:revision>
  <dcterms:created xsi:type="dcterms:W3CDTF">2024-07-11T13:35:49Z</dcterms:created>
  <dcterms:modified xsi:type="dcterms:W3CDTF">2025-11-24T11:03:56Z</dcterms:modified>
</cp:coreProperties>
</file>