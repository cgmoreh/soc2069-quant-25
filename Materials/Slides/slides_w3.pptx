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307" r:id="rId3"/>
    <p:sldId id="522" r:id="rId4"/>
    <p:sldId id="519" r:id="rId5"/>
    <p:sldId id="557" r:id="rId6"/>
    <p:sldId id="558" r:id="rId7"/>
    <p:sldId id="518" r:id="rId8"/>
    <p:sldId id="544" r:id="rId9"/>
    <p:sldId id="530" r:id="rId10"/>
    <p:sldId id="357" r:id="rId11"/>
    <p:sldId id="553" r:id="rId12"/>
    <p:sldId id="554" r:id="rId13"/>
    <p:sldId id="556" r:id="rId14"/>
    <p:sldId id="555" r:id="rId15"/>
    <p:sldId id="543" r:id="rId16"/>
    <p:sldId id="295" r:id="rId17"/>
    <p:sldId id="296" r:id="rId18"/>
    <p:sldId id="297" r:id="rId19"/>
    <p:sldId id="308" r:id="rId20"/>
    <p:sldId id="309" r:id="rId21"/>
    <p:sldId id="563" r:id="rId22"/>
    <p:sldId id="564" r:id="rId23"/>
    <p:sldId id="354" r:id="rId24"/>
    <p:sldId id="523" r:id="rId25"/>
    <p:sldId id="26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0000"/>
    <a:srgbClr val="3F739B"/>
    <a:srgbClr val="174CF7"/>
    <a:srgbClr val="E4C8C8"/>
    <a:srgbClr val="E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27" autoAdjust="0"/>
  </p:normalViewPr>
  <p:slideViewPr>
    <p:cSldViewPr snapToGrid="0">
      <p:cViewPr varScale="1">
        <p:scale>
          <a:sx n="105" d="100"/>
          <a:sy n="105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167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oreh" userId="17b81281-9f29-44e0-9273-6dadbf6896a2" providerId="ADAL" clId="{BCF66164-2C9C-4B48-AFF3-6B0B0038345A}"/>
    <pc:docChg chg="undo custSel delSld modSld sldOrd">
      <pc:chgData name="Chris Moreh" userId="17b81281-9f29-44e0-9273-6dadbf6896a2" providerId="ADAL" clId="{BCF66164-2C9C-4B48-AFF3-6B0B0038345A}" dt="2025-11-24T10:58:31.525" v="54"/>
      <pc:docMkLst>
        <pc:docMk/>
      </pc:docMkLst>
      <pc:sldChg chg="modSp mod">
        <pc:chgData name="Chris Moreh" userId="17b81281-9f29-44e0-9273-6dadbf6896a2" providerId="ADAL" clId="{BCF66164-2C9C-4B48-AFF3-6B0B0038345A}" dt="2025-11-24T09:41:18.727" v="1" actId="20577"/>
        <pc:sldMkLst>
          <pc:docMk/>
          <pc:sldMk cId="3814459198" sldId="307"/>
        </pc:sldMkLst>
        <pc:spChg chg="mod">
          <ac:chgData name="Chris Moreh" userId="17b81281-9f29-44e0-9273-6dadbf6896a2" providerId="ADAL" clId="{BCF66164-2C9C-4B48-AFF3-6B0B0038345A}" dt="2025-11-24T09:41:18.727" v="1" actId="20577"/>
          <ac:spMkLst>
            <pc:docMk/>
            <pc:sldMk cId="3814459198" sldId="307"/>
            <ac:spMk id="6" creationId="{24060982-6EE3-A8F1-75FE-C4BDB2FF3CBE}"/>
          </ac:spMkLst>
        </pc:spChg>
      </pc:sldChg>
      <pc:sldChg chg="ord">
        <pc:chgData name="Chris Moreh" userId="17b81281-9f29-44e0-9273-6dadbf6896a2" providerId="ADAL" clId="{BCF66164-2C9C-4B48-AFF3-6B0B0038345A}" dt="2025-11-24T10:58:31.525" v="54"/>
        <pc:sldMkLst>
          <pc:docMk/>
          <pc:sldMk cId="404413708" sldId="357"/>
        </pc:sldMkLst>
      </pc:sldChg>
      <pc:sldChg chg="modSp mod">
        <pc:chgData name="Chris Moreh" userId="17b81281-9f29-44e0-9273-6dadbf6896a2" providerId="ADAL" clId="{BCF66164-2C9C-4B48-AFF3-6B0B0038345A}" dt="2025-11-24T09:42:45.650" v="48" actId="114"/>
        <pc:sldMkLst>
          <pc:docMk/>
          <pc:sldMk cId="3523596212" sldId="518"/>
        </pc:sldMkLst>
        <pc:spChg chg="mod">
          <ac:chgData name="Chris Moreh" userId="17b81281-9f29-44e0-9273-6dadbf6896a2" providerId="ADAL" clId="{BCF66164-2C9C-4B48-AFF3-6B0B0038345A}" dt="2025-11-24T09:42:45.650" v="48" actId="114"/>
          <ac:spMkLst>
            <pc:docMk/>
            <pc:sldMk cId="3523596212" sldId="518"/>
            <ac:spMk id="13" creationId="{2C10D394-C9B2-B03C-4136-7B6EEA8FFA9D}"/>
          </ac:spMkLst>
        </pc:spChg>
      </pc:sldChg>
      <pc:sldChg chg="del">
        <pc:chgData name="Chris Moreh" userId="17b81281-9f29-44e0-9273-6dadbf6896a2" providerId="ADAL" clId="{BCF66164-2C9C-4B48-AFF3-6B0B0038345A}" dt="2025-11-24T10:57:34.746" v="50" actId="47"/>
        <pc:sldMkLst>
          <pc:docMk/>
          <pc:sldMk cId="2121120123" sldId="542"/>
        </pc:sldMkLst>
      </pc:sldChg>
      <pc:sldChg chg="del">
        <pc:chgData name="Chris Moreh" userId="17b81281-9f29-44e0-9273-6dadbf6896a2" providerId="ADAL" clId="{BCF66164-2C9C-4B48-AFF3-6B0B0038345A}" dt="2025-11-24T10:57:27.312" v="49" actId="47"/>
        <pc:sldMkLst>
          <pc:docMk/>
          <pc:sldMk cId="2617544839" sldId="549"/>
        </pc:sldMkLst>
      </pc:sldChg>
      <pc:sldChg chg="del">
        <pc:chgData name="Chris Moreh" userId="17b81281-9f29-44e0-9273-6dadbf6896a2" providerId="ADAL" clId="{BCF66164-2C9C-4B48-AFF3-6B0B0038345A}" dt="2025-11-24T10:57:41.291" v="52" actId="47"/>
        <pc:sldMkLst>
          <pc:docMk/>
          <pc:sldMk cId="1896707103" sldId="551"/>
        </pc:sldMkLst>
      </pc:sldChg>
      <pc:sldChg chg="del">
        <pc:chgData name="Chris Moreh" userId="17b81281-9f29-44e0-9273-6dadbf6896a2" providerId="ADAL" clId="{BCF66164-2C9C-4B48-AFF3-6B0B0038345A}" dt="2025-11-24T10:57:38.706" v="51" actId="47"/>
        <pc:sldMkLst>
          <pc:docMk/>
          <pc:sldMk cId="324367232" sldId="5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FBD195-041F-A9A0-1644-740C91990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01E07-BD6F-76A0-E2F3-6F9E834A0E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3203E3-7C81-41A5-A697-954FF252F964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FBD701-2DB0-B4B2-C5BD-0490DCBA57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1DA51-44A7-C88C-C39E-6DA6922B2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50DA-C3C8-4D4F-9A52-26049FB52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809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54BCB-1937-48CE-9F00-49B381FEB4E9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A333E-A95D-42FE-9CF0-D7FBE7CB01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4482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7504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490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053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6545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933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122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2425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8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47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8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94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1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66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18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72702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8103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hrismoreh.com/" TargetMode="External"/><Relationship Id="rId13" Type="http://schemas.openxmlformats.org/officeDocument/2006/relationships/image" Target="../media/image6.png"/><Relationship Id="rId3" Type="http://schemas.openxmlformats.org/officeDocument/2006/relationships/hyperlink" Target="https://www.ncl.ac.uk/gps/staff/profile/chrismoreh.html" TargetMode="External"/><Relationship Id="rId7" Type="http://schemas.openxmlformats.org/officeDocument/2006/relationships/hyperlink" Target="mailto:chris.moreh@ncl.ac.uk" TargetMode="External"/><Relationship Id="rId12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11" Type="http://schemas.openxmlformats.org/officeDocument/2006/relationships/hyperlink" Target="https://www.linkedin.com/in/cgm-phd/" TargetMode="Externa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hyperlink" Target="https://twitter.com/cgmoreh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github.com/CGMoreh" TargetMode="External"/><Relationship Id="rId1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9" Type="http://schemas.openxmlformats.org/officeDocument/2006/relationships/image" Target="../media/image48.svg"/><Relationship Id="rId21" Type="http://schemas.openxmlformats.org/officeDocument/2006/relationships/image" Target="../media/image30.svg"/><Relationship Id="rId34" Type="http://schemas.openxmlformats.org/officeDocument/2006/relationships/image" Target="../media/image43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svg"/><Relationship Id="rId41" Type="http://schemas.openxmlformats.org/officeDocument/2006/relationships/image" Target="../media/image5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37" Type="http://schemas.openxmlformats.org/officeDocument/2006/relationships/image" Target="../media/image46.svg"/><Relationship Id="rId40" Type="http://schemas.openxmlformats.org/officeDocument/2006/relationships/image" Target="../media/image49.pn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28" Type="http://schemas.openxmlformats.org/officeDocument/2006/relationships/image" Target="../media/image37.png"/><Relationship Id="rId36" Type="http://schemas.openxmlformats.org/officeDocument/2006/relationships/image" Target="../media/image45.pn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31" Type="http://schemas.openxmlformats.org/officeDocument/2006/relationships/image" Target="../media/image4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Relationship Id="rId30" Type="http://schemas.openxmlformats.org/officeDocument/2006/relationships/image" Target="../media/image39.png"/><Relationship Id="rId35" Type="http://schemas.openxmlformats.org/officeDocument/2006/relationships/image" Target="../media/image44.svg"/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33" Type="http://schemas.openxmlformats.org/officeDocument/2006/relationships/image" Target="../media/image42.svg"/><Relationship Id="rId38" Type="http://schemas.openxmlformats.org/officeDocument/2006/relationships/image" Target="../media/image4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svg"/><Relationship Id="rId18" Type="http://schemas.openxmlformats.org/officeDocument/2006/relationships/image" Target="../media/image21.png"/><Relationship Id="rId3" Type="http://schemas.openxmlformats.org/officeDocument/2006/relationships/image" Target="../media/image12.svg"/><Relationship Id="rId21" Type="http://schemas.openxmlformats.org/officeDocument/2006/relationships/image" Target="../media/image14.svg"/><Relationship Id="rId7" Type="http://schemas.openxmlformats.org/officeDocument/2006/relationships/image" Target="../media/image16.svg"/><Relationship Id="rId12" Type="http://schemas.openxmlformats.org/officeDocument/2006/relationships/image" Target="../media/image27.png"/><Relationship Id="rId17" Type="http://schemas.openxmlformats.org/officeDocument/2006/relationships/image" Target="../media/image30.svg"/><Relationship Id="rId2" Type="http://schemas.openxmlformats.org/officeDocument/2006/relationships/image" Target="../media/image11.png"/><Relationship Id="rId16" Type="http://schemas.openxmlformats.org/officeDocument/2006/relationships/image" Target="../media/image29.png"/><Relationship Id="rId20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24.svg"/><Relationship Id="rId15" Type="http://schemas.openxmlformats.org/officeDocument/2006/relationships/image" Target="../media/image20.svg"/><Relationship Id="rId10" Type="http://schemas.openxmlformats.org/officeDocument/2006/relationships/image" Target="../media/image17.png"/><Relationship Id="rId19" Type="http://schemas.openxmlformats.org/officeDocument/2006/relationships/image" Target="../media/image22.svg"/><Relationship Id="rId4" Type="http://schemas.openxmlformats.org/officeDocument/2006/relationships/image" Target="../media/image23.png"/><Relationship Id="rId9" Type="http://schemas.openxmlformats.org/officeDocument/2006/relationships/image" Target="../media/image26.svg"/><Relationship Id="rId14" Type="http://schemas.openxmlformats.org/officeDocument/2006/relationships/image" Target="../media/image19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hyperlink" Target="https://www.linkedin.com/in/cgm-phd/" TargetMode="External"/><Relationship Id="rId18" Type="http://schemas.openxmlformats.org/officeDocument/2006/relationships/image" Target="../media/image9.png"/><Relationship Id="rId3" Type="http://schemas.openxmlformats.org/officeDocument/2006/relationships/image" Target="../media/image51.png"/><Relationship Id="rId7" Type="http://schemas.openxmlformats.org/officeDocument/2006/relationships/image" Target="../media/image3.png"/><Relationship Id="rId12" Type="http://schemas.openxmlformats.org/officeDocument/2006/relationships/hyperlink" Target="https://twitter.com/cgmoreh" TargetMode="External"/><Relationship Id="rId17" Type="http://schemas.openxmlformats.org/officeDocument/2006/relationships/image" Target="../media/image8.png"/><Relationship Id="rId2" Type="http://schemas.openxmlformats.org/officeDocument/2006/relationships/image" Target="../media/image2.png"/><Relationship Id="rId16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3.svg"/><Relationship Id="rId11" Type="http://schemas.openxmlformats.org/officeDocument/2006/relationships/hyperlink" Target="https://github.com/CGMoreh" TargetMode="External"/><Relationship Id="rId5" Type="http://schemas.openxmlformats.org/officeDocument/2006/relationships/image" Target="../media/image52.png"/><Relationship Id="rId15" Type="http://schemas.openxmlformats.org/officeDocument/2006/relationships/image" Target="../media/image6.png"/><Relationship Id="rId10" Type="http://schemas.openxmlformats.org/officeDocument/2006/relationships/hyperlink" Target="https://www.chrismoreh.com/" TargetMode="External"/><Relationship Id="rId19" Type="http://schemas.openxmlformats.org/officeDocument/2006/relationships/image" Target="../media/image54.png"/><Relationship Id="rId4" Type="http://schemas.microsoft.com/office/2007/relationships/hdphoto" Target="../media/hdphoto1.wdp"/><Relationship Id="rId9" Type="http://schemas.openxmlformats.org/officeDocument/2006/relationships/hyperlink" Target="mailto:chris.moreh@ncl.ac.uk" TargetMode="External"/><Relationship Id="rId1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80000"/>
            <a:lum/>
          </a:blip>
          <a:srcRect/>
          <a:stretch>
            <a:fillRect l="2000" r="2000" b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598116"/>
            <a:ext cx="98755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4B1F7A-19A6-1CF3-BEAB-784AD8D53EB1}"/>
              </a:ext>
            </a:extLst>
          </p:cNvPr>
          <p:cNvSpPr txBox="1"/>
          <p:nvPr userDrawn="1"/>
        </p:nvSpPr>
        <p:spPr>
          <a:xfrm>
            <a:off x="1076962" y="4981037"/>
            <a:ext cx="329862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hlinkClick r:id="rId3"/>
              </a:rPr>
              <a:t>Dr Chris Moreh</a:t>
            </a:r>
            <a:endParaRPr lang="en-GB" sz="2400" b="1" dirty="0"/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Lecturer (Assistant Professor) in Sociology</a:t>
            </a:r>
          </a:p>
          <a:p>
            <a:pPr algn="ctr"/>
            <a:r>
              <a:rPr lang="en-GB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Newcastle University (UK)</a:t>
            </a:r>
          </a:p>
        </p:txBody>
      </p:sp>
      <p:pic>
        <p:nvPicPr>
          <p:cNvPr id="17" name="Picture 12" descr="Partners; Sustaining Creative Economies ...">
            <a:extLst>
              <a:ext uri="{FF2B5EF4-FFF2-40B4-BE49-F238E27FC236}">
                <a16:creationId xmlns:a16="http://schemas.microsoft.com/office/drawing/2014/main" id="{5E3F19EF-7B80-6D97-E3A7-968224B762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455" y="5559906"/>
            <a:ext cx="879898" cy="492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47E78DF-0172-CCB2-A101-66933B0971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5271" y="4969095"/>
            <a:ext cx="2466369" cy="8119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66C7AD-815A-A77E-DFE5-343F532EBF9A}"/>
              </a:ext>
            </a:extLst>
          </p:cNvPr>
          <p:cNvSpPr txBox="1"/>
          <p:nvPr userDrawn="1"/>
        </p:nvSpPr>
        <p:spPr>
          <a:xfrm>
            <a:off x="5214979" y="4804497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7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8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8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49FC35-C474-B9EE-00BD-BC74BCEB8E9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 flipH="1">
            <a:off x="5230888" y="5140634"/>
            <a:ext cx="174474" cy="18000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F9EC77A0-6416-6CCB-C929-DDC0F09623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359" y="5607125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>
            <a:extLst>
              <a:ext uri="{FF2B5EF4-FFF2-40B4-BE49-F238E27FC236}">
                <a16:creationId xmlns:a16="http://schemas.microsoft.com/office/drawing/2014/main" id="{F971661E-6DFA-370A-89DD-D2BC0DED9D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362" y="5875809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>
            <a:extLst>
              <a:ext uri="{FF2B5EF4-FFF2-40B4-BE49-F238E27FC236}">
                <a16:creationId xmlns:a16="http://schemas.microsoft.com/office/drawing/2014/main" id="{210423AF-0922-B2C9-F283-0DAD228B18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877" y="535357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A29CD3B3-0963-AF7B-DAAC-629686F339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5888" y="4898445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352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3F75-4629-998C-D4E2-8B503E84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60149-4935-39AC-F9A6-3A67DF9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F1058-E5AB-75EB-3440-399DB9E1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AAE89-1CB8-B1D2-4FC2-01A5F935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064384DD-349E-96E1-9F2A-86B3CB91ED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77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745" y="286604"/>
            <a:ext cx="9448800" cy="911576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 descr="A black background with text and colorful dots&#10;&#10;Description automatically generated">
            <a:extLst>
              <a:ext uri="{FF2B5EF4-FFF2-40B4-BE49-F238E27FC236}">
                <a16:creationId xmlns:a16="http://schemas.microsoft.com/office/drawing/2014/main" id="{77856388-EE09-056A-2FE4-8DA8669CE6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261" y="286604"/>
            <a:ext cx="1640837" cy="91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51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6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8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Comparisons and Associations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75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 dpi="0" rotWithShape="1">
          <a:blip r:embed="rId2">
            <a:lum/>
          </a:blip>
          <a:srcRect/>
          <a:stretch>
            <a:fillRect l="-1000" r="-1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539630" y="1128947"/>
            <a:ext cx="6468395" cy="31162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4452" y="1340856"/>
            <a:ext cx="6218753" cy="1475916"/>
          </a:xfrm>
        </p:spPr>
        <p:txBody>
          <a:bodyPr lIns="91440" tIns="0" rIns="91440" bIns="0" anchor="b">
            <a:noAutofit/>
          </a:bodyPr>
          <a:lstStyle>
            <a:lvl1pPr>
              <a:defRPr sz="5400" b="1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4452" y="3094377"/>
            <a:ext cx="6218753" cy="972284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32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1317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362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557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176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Comparisons and Associations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64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E28854-50C7-416D-09D3-A8563C85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43B67-CE49-0A0C-7F9C-757FF38A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70A5F-B5E2-79CD-FCA0-21992A61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4975CB-2B2F-AABC-1BEA-AC019045F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745" y="286604"/>
            <a:ext cx="10398935" cy="911576"/>
          </a:xfrm>
        </p:spPr>
        <p:txBody>
          <a:bodyPr/>
          <a:lstStyle>
            <a:lvl1pPr>
              <a:defRPr/>
            </a:lvl1pPr>
          </a:lstStyle>
          <a:p>
            <a:r>
              <a:rPr lang="en-GB" b="1" dirty="0"/>
              <a:t>Numbered bullets</a:t>
            </a:r>
          </a:p>
        </p:txBody>
      </p:sp>
      <p:pic>
        <p:nvPicPr>
          <p:cNvPr id="7" name="Graphic 6" descr="Badge 1 with solid fill">
            <a:extLst>
              <a:ext uri="{FF2B5EF4-FFF2-40B4-BE49-F238E27FC236}">
                <a16:creationId xmlns:a16="http://schemas.microsoft.com/office/drawing/2014/main" id="{EEDCACCF-0446-119C-CB06-6CC1142E7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9836" y="1872658"/>
            <a:ext cx="468000" cy="468000"/>
          </a:xfrm>
          <a:prstGeom prst="rect">
            <a:avLst/>
          </a:prstGeom>
        </p:spPr>
      </p:pic>
      <p:pic>
        <p:nvPicPr>
          <p:cNvPr id="8" name="Graphic 7" descr="Badge 10 with solid fill">
            <a:extLst>
              <a:ext uri="{FF2B5EF4-FFF2-40B4-BE49-F238E27FC236}">
                <a16:creationId xmlns:a16="http://schemas.microsoft.com/office/drawing/2014/main" id="{7F8BE7BD-9E19-44BB-2FE3-12ED9FDF94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8331" y="1876667"/>
            <a:ext cx="468000" cy="468000"/>
          </a:xfrm>
          <a:prstGeom prst="rect">
            <a:avLst/>
          </a:prstGeom>
        </p:spPr>
      </p:pic>
      <p:pic>
        <p:nvPicPr>
          <p:cNvPr id="9" name="Graphic 8" descr="Badge with solid fill">
            <a:extLst>
              <a:ext uri="{FF2B5EF4-FFF2-40B4-BE49-F238E27FC236}">
                <a16:creationId xmlns:a16="http://schemas.microsoft.com/office/drawing/2014/main" id="{F9F887CA-CB36-8ED8-6315-DC7D01B490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0601" y="1878489"/>
            <a:ext cx="468000" cy="468000"/>
          </a:xfrm>
          <a:prstGeom prst="rect">
            <a:avLst/>
          </a:prstGeom>
        </p:spPr>
      </p:pic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825A6F75-9C1C-A95D-D6DA-109E9EBA520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7342" y="1872658"/>
            <a:ext cx="468000" cy="468000"/>
          </a:xfrm>
          <a:prstGeom prst="rect">
            <a:avLst/>
          </a:prstGeom>
        </p:spPr>
      </p:pic>
      <p:pic>
        <p:nvPicPr>
          <p:cNvPr id="11" name="Graphic 10" descr="Badge 4 with solid fill">
            <a:extLst>
              <a:ext uri="{FF2B5EF4-FFF2-40B4-BE49-F238E27FC236}">
                <a16:creationId xmlns:a16="http://schemas.microsoft.com/office/drawing/2014/main" id="{60351B4A-6BB3-B9DA-023E-187EE4E1634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94542" y="1881516"/>
            <a:ext cx="468000" cy="468000"/>
          </a:xfrm>
          <a:prstGeom prst="rect">
            <a:avLst/>
          </a:prstGeom>
        </p:spPr>
      </p:pic>
      <p:pic>
        <p:nvPicPr>
          <p:cNvPr id="12" name="Graphic 11" descr="Badge 5 with solid fill">
            <a:extLst>
              <a:ext uri="{FF2B5EF4-FFF2-40B4-BE49-F238E27FC236}">
                <a16:creationId xmlns:a16="http://schemas.microsoft.com/office/drawing/2014/main" id="{1A300893-C177-035B-A219-FC6049E2DC7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50483" y="1880076"/>
            <a:ext cx="468000" cy="468000"/>
          </a:xfrm>
          <a:prstGeom prst="rect">
            <a:avLst/>
          </a:prstGeom>
        </p:spPr>
      </p:pic>
      <p:pic>
        <p:nvPicPr>
          <p:cNvPr id="13" name="Graphic 12" descr="Badge 6 with solid fill">
            <a:extLst>
              <a:ext uri="{FF2B5EF4-FFF2-40B4-BE49-F238E27FC236}">
                <a16:creationId xmlns:a16="http://schemas.microsoft.com/office/drawing/2014/main" id="{063091E7-A963-EF50-B2F2-C6CCFD335CF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21248" y="1882631"/>
            <a:ext cx="468000" cy="468000"/>
          </a:xfrm>
          <a:prstGeom prst="rect">
            <a:avLst/>
          </a:prstGeom>
        </p:spPr>
      </p:pic>
      <p:pic>
        <p:nvPicPr>
          <p:cNvPr id="14" name="Graphic 13" descr="Badge 7 with solid fill">
            <a:extLst>
              <a:ext uri="{FF2B5EF4-FFF2-40B4-BE49-F238E27FC236}">
                <a16:creationId xmlns:a16="http://schemas.microsoft.com/office/drawing/2014/main" id="{7412FF20-691E-38CC-D8B3-456AF73DB55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63624" y="1884307"/>
            <a:ext cx="468000" cy="468000"/>
          </a:xfrm>
          <a:prstGeom prst="rect">
            <a:avLst/>
          </a:prstGeom>
        </p:spPr>
      </p:pic>
      <p:pic>
        <p:nvPicPr>
          <p:cNvPr id="15" name="Graphic 14" descr="Badge 8 with solid fill">
            <a:extLst>
              <a:ext uri="{FF2B5EF4-FFF2-40B4-BE49-F238E27FC236}">
                <a16:creationId xmlns:a16="http://schemas.microsoft.com/office/drawing/2014/main" id="{F71DD924-767F-6F93-1AF3-D96571DEC0C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606000" y="1883485"/>
            <a:ext cx="468000" cy="468000"/>
          </a:xfrm>
          <a:prstGeom prst="rect">
            <a:avLst/>
          </a:prstGeom>
        </p:spPr>
      </p:pic>
      <p:pic>
        <p:nvPicPr>
          <p:cNvPr id="16" name="Graphic 15" descr="Badge 9 with solid fill">
            <a:extLst>
              <a:ext uri="{FF2B5EF4-FFF2-40B4-BE49-F238E27FC236}">
                <a16:creationId xmlns:a16="http://schemas.microsoft.com/office/drawing/2014/main" id="{05746AA2-07AD-BB3D-8AC7-7E01AE9FFD6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64706" y="1880076"/>
            <a:ext cx="468000" cy="468000"/>
          </a:xfrm>
          <a:prstGeom prst="rect">
            <a:avLst/>
          </a:prstGeom>
        </p:spPr>
      </p:pic>
      <p:pic>
        <p:nvPicPr>
          <p:cNvPr id="28" name="Graphic 27" descr="Badge 1 outline">
            <a:extLst>
              <a:ext uri="{FF2B5EF4-FFF2-40B4-BE49-F238E27FC236}">
                <a16:creationId xmlns:a16="http://schemas.microsoft.com/office/drawing/2014/main" id="{377A0617-1C4D-93A7-0816-74355CD27482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00935" y="2382047"/>
            <a:ext cx="914400" cy="914400"/>
          </a:xfrm>
          <a:prstGeom prst="rect">
            <a:avLst/>
          </a:prstGeom>
        </p:spPr>
      </p:pic>
      <p:pic>
        <p:nvPicPr>
          <p:cNvPr id="32" name="Graphic 31" descr="Badge outline">
            <a:extLst>
              <a:ext uri="{FF2B5EF4-FFF2-40B4-BE49-F238E27FC236}">
                <a16:creationId xmlns:a16="http://schemas.microsoft.com/office/drawing/2014/main" id="{328E83A1-A5CF-14CE-994B-9FC912A453D5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917798" y="2368814"/>
            <a:ext cx="914400" cy="914400"/>
          </a:xfrm>
          <a:prstGeom prst="rect">
            <a:avLst/>
          </a:prstGeom>
        </p:spPr>
      </p:pic>
      <p:pic>
        <p:nvPicPr>
          <p:cNvPr id="34" name="Graphic 33" descr="Badge 3 outline">
            <a:extLst>
              <a:ext uri="{FF2B5EF4-FFF2-40B4-BE49-F238E27FC236}">
                <a16:creationId xmlns:a16="http://schemas.microsoft.com/office/drawing/2014/main" id="{B8DB6A5A-BA59-B575-8EAE-1F62375C4821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22942" y="2360054"/>
            <a:ext cx="914400" cy="914400"/>
          </a:xfrm>
          <a:prstGeom prst="rect">
            <a:avLst/>
          </a:prstGeom>
        </p:spPr>
      </p:pic>
      <p:pic>
        <p:nvPicPr>
          <p:cNvPr id="36" name="Graphic 35" descr="Badge 4 outline">
            <a:extLst>
              <a:ext uri="{FF2B5EF4-FFF2-40B4-BE49-F238E27FC236}">
                <a16:creationId xmlns:a16="http://schemas.microsoft.com/office/drawing/2014/main" id="{7D7894F2-405D-D537-E8CD-FFC2FD562CEA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653533" y="2382047"/>
            <a:ext cx="914400" cy="914400"/>
          </a:xfrm>
          <a:prstGeom prst="rect">
            <a:avLst/>
          </a:prstGeom>
        </p:spPr>
      </p:pic>
      <p:pic>
        <p:nvPicPr>
          <p:cNvPr id="38" name="Graphic 37" descr="Badge 5 outline">
            <a:extLst>
              <a:ext uri="{FF2B5EF4-FFF2-40B4-BE49-F238E27FC236}">
                <a16:creationId xmlns:a16="http://schemas.microsoft.com/office/drawing/2014/main" id="{CCB95B5E-BCD4-CD6A-8DA0-49EF454DFC6B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470396" y="2382047"/>
            <a:ext cx="914400" cy="914400"/>
          </a:xfrm>
          <a:prstGeom prst="rect">
            <a:avLst/>
          </a:prstGeom>
        </p:spPr>
      </p:pic>
      <p:pic>
        <p:nvPicPr>
          <p:cNvPr id="40" name="Graphic 39" descr="Badge 6 outline">
            <a:extLst>
              <a:ext uri="{FF2B5EF4-FFF2-40B4-BE49-F238E27FC236}">
                <a16:creationId xmlns:a16="http://schemas.microsoft.com/office/drawing/2014/main" id="{B2E42FE5-E882-BB0B-DF27-634BED68E17D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287259" y="2360054"/>
            <a:ext cx="914400" cy="914400"/>
          </a:xfrm>
          <a:prstGeom prst="rect">
            <a:avLst/>
          </a:prstGeom>
        </p:spPr>
      </p:pic>
      <p:pic>
        <p:nvPicPr>
          <p:cNvPr id="42" name="Graphic 41" descr="Badge 7 outline">
            <a:extLst>
              <a:ext uri="{FF2B5EF4-FFF2-40B4-BE49-F238E27FC236}">
                <a16:creationId xmlns:a16="http://schemas.microsoft.com/office/drawing/2014/main" id="{4F474E09-0F6B-A545-A2FB-528D8342017C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04122" y="2382047"/>
            <a:ext cx="914400" cy="914400"/>
          </a:xfrm>
          <a:prstGeom prst="rect">
            <a:avLst/>
          </a:prstGeom>
        </p:spPr>
      </p:pic>
      <p:pic>
        <p:nvPicPr>
          <p:cNvPr id="44" name="Graphic 43" descr="Badge 8 outline">
            <a:extLst>
              <a:ext uri="{FF2B5EF4-FFF2-40B4-BE49-F238E27FC236}">
                <a16:creationId xmlns:a16="http://schemas.microsoft.com/office/drawing/2014/main" id="{E3982124-D3D3-AC60-CDFE-68CC967AC2ED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880662" y="2368814"/>
            <a:ext cx="914400" cy="914400"/>
          </a:xfrm>
          <a:prstGeom prst="rect">
            <a:avLst/>
          </a:prstGeom>
        </p:spPr>
      </p:pic>
      <p:pic>
        <p:nvPicPr>
          <p:cNvPr id="46" name="Graphic 45" descr="Badge 9 outline">
            <a:extLst>
              <a:ext uri="{FF2B5EF4-FFF2-40B4-BE49-F238E27FC236}">
                <a16:creationId xmlns:a16="http://schemas.microsoft.com/office/drawing/2014/main" id="{D98F73D0-5CF6-543B-2C7E-39B53C836163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686300" y="2368814"/>
            <a:ext cx="914400" cy="914400"/>
          </a:xfrm>
          <a:prstGeom prst="rect">
            <a:avLst/>
          </a:prstGeom>
        </p:spPr>
      </p:pic>
      <p:pic>
        <p:nvPicPr>
          <p:cNvPr id="48" name="Graphic 47" descr="Badge 10 outline">
            <a:extLst>
              <a:ext uri="{FF2B5EF4-FFF2-40B4-BE49-F238E27FC236}">
                <a16:creationId xmlns:a16="http://schemas.microsoft.com/office/drawing/2014/main" id="{9596ECA7-08AD-60AD-126A-2D32F85555E2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474065" y="236308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45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283" y="606093"/>
            <a:ext cx="9876849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952401"/>
              </p:ext>
            </p:extLst>
          </p:nvPr>
        </p:nvGraphicFramePr>
        <p:xfrm>
          <a:off x="1335634" y="1993748"/>
          <a:ext cx="9626149" cy="257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9086149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one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two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three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8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2200" dirty="0"/>
                        <a:t>four</a:t>
                      </a:r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494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3FB93-0A54-F0A3-44FD-9D6D98D41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399" y="689938"/>
            <a:ext cx="10115202" cy="911576"/>
          </a:xfrm>
        </p:spPr>
        <p:txBody>
          <a:bodyPr>
            <a:noAutofit/>
          </a:bodyPr>
          <a:lstStyle>
            <a:lvl1pPr algn="ctr">
              <a:defRPr sz="7200" b="1">
                <a:latin typeface="+mn-lt"/>
              </a:defRPr>
            </a:lvl1pPr>
          </a:lstStyle>
          <a:p>
            <a:r>
              <a:rPr lang="en-GB" dirty="0"/>
              <a:t>Add Outline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D10C5-6787-77AE-977F-D7E7083D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36E4D-BDDF-D97C-2EC6-0E974709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1CEC6-7F83-2BE7-95A9-5DF472D2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49E6D0-17C2-32B5-650D-F84097C07BF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96315249"/>
              </p:ext>
            </p:extLst>
          </p:nvPr>
        </p:nvGraphicFramePr>
        <p:xfrm>
          <a:off x="726954" y="1971714"/>
          <a:ext cx="10440000" cy="3284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547184884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425864904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861192458"/>
                    </a:ext>
                  </a:extLst>
                </a:gridCol>
                <a:gridCol w="4680000">
                  <a:extLst>
                    <a:ext uri="{9D8B030D-6E8A-4147-A177-3AD203B41FA5}">
                      <a16:colId xmlns:a16="http://schemas.microsoft.com/office/drawing/2014/main" val="199644677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">
                        <a:extLst>
                          <a:ext uri="{96DAC541-7B7A-43D3-8B79-37D633B846F1}">
                            <asvg:svgBlip xmlns:asvg="http://schemas.microsoft.com/office/drawing/2016/SVG/main" r:embed="rId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200" dirty="0"/>
                        <a:t>Edit in Master slide view</a:t>
                      </a:r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0"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83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58223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6">
                        <a:extLst>
                          <a:ext uri="{96DAC541-7B7A-43D3-8B79-37D633B846F1}">
                            <asvg:svgBlip xmlns:asvg="http://schemas.microsoft.com/office/drawing/2016/SVG/main" r:embed="rId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8">
                        <a:extLst>
                          <a:ext uri="{96DAC541-7B7A-43D3-8B79-37D633B846F1}">
                            <asvg:svgBlip xmlns:asvg="http://schemas.microsoft.com/office/drawing/2016/SVG/main" r:embed="rId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76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44012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0">
                        <a:extLst>
                          <a:ext uri="{96DAC541-7B7A-43D3-8B79-37D633B846F1}">
                            <asvg:svgBlip xmlns:asvg="http://schemas.microsoft.com/office/drawing/2016/SVG/main" r:embed="rId1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2">
                        <a:extLst>
                          <a:ext uri="{96DAC541-7B7A-43D3-8B79-37D633B846F1}">
                            <asvg:svgBlip xmlns:asvg="http://schemas.microsoft.com/office/drawing/2016/SVG/main" r:embed="rId13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10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2184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4">
                        <a:extLst>
                          <a:ext uri="{96DAC541-7B7A-43D3-8B79-37D633B846F1}">
                            <asvg:svgBlip xmlns:asvg="http://schemas.microsoft.com/office/drawing/2016/SVG/main" r:embed="rId15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6">
                        <a:extLst>
                          <a:ext uri="{96DAC541-7B7A-43D3-8B79-37D633B846F1}">
                            <asvg:svgBlip xmlns:asvg="http://schemas.microsoft.com/office/drawing/2016/SVG/main" r:embed="rId17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2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664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18">
                        <a:extLst>
                          <a:ext uri="{96DAC541-7B7A-43D3-8B79-37D633B846F1}">
                            <asvg:svgBlip xmlns:asvg="http://schemas.microsoft.com/office/drawing/2016/SVG/main" r:embed="rId19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72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20">
                        <a:extLst>
                          <a:ext uri="{96DAC541-7B7A-43D3-8B79-37D633B846F1}">
                            <asvg:svgBlip xmlns:asvg="http://schemas.microsoft.com/office/drawing/2016/SVG/main" r:embed="rId21"/>
                          </a:ext>
                        </a:extLst>
                      </a:blip>
                      <a:stretch>
                        <a:fillRect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endParaRPr lang="en-GB" sz="2200" dirty="0"/>
                    </a:p>
                  </a:txBody>
                  <a:tcPr marL="108000" marR="36000" marT="72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105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673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4895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479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267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2" descr="Partners; Sustaining Creative Economies ...">
            <a:extLst>
              <a:ext uri="{FF2B5EF4-FFF2-40B4-BE49-F238E27FC236}">
                <a16:creationId xmlns:a16="http://schemas.microsoft.com/office/drawing/2014/main" id="{C213A523-D735-8490-152A-23415FF254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991" y="5440123"/>
            <a:ext cx="1342114" cy="75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9AE9B-1271-7638-B347-A5F464D2B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3BAF4-52A6-7AC7-8C6F-183586D9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3AA3C-DFA6-2BE6-3BD0-0D6E6010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2A7E09F9-D2AF-737B-7EF3-D1714380AC3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44" b="94860" l="9780" r="89976">
                        <a14:foregroundMark x1="25672" y1="20093" x2="32152" y2="70327"/>
                        <a14:foregroundMark x1="32152" y1="70327" x2="79829" y2="87383"/>
                        <a14:foregroundMark x1="79829" y1="87383" x2="79095" y2="36682"/>
                        <a14:foregroundMark x1="79095" y1="36682" x2="64914" y2="14720"/>
                        <a14:foregroundMark x1="64914" y1="14720" x2="48533" y2="7944"/>
                        <a14:foregroundMark x1="48533" y1="7944" x2="30196" y2="13084"/>
                        <a14:foregroundMark x1="30196" y1="13084" x2="25306" y2="20561"/>
                        <a14:foregroundMark x1="21760" y1="39486" x2="25061" y2="78505"/>
                        <a14:foregroundMark x1="25061" y1="78505" x2="64670" y2="92056"/>
                        <a14:foregroundMark x1="64670" y1="92056" x2="78851" y2="91822"/>
                        <a14:foregroundMark x1="82641" y1="15187" x2="86675" y2="62850"/>
                        <a14:foregroundMark x1="86675" y1="62850" x2="80196" y2="94626"/>
                        <a14:foregroundMark x1="80196" y1="94626" x2="78117" y2="948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45" t="2011" r="13041"/>
          <a:stretch/>
        </p:blipFill>
        <p:spPr bwMode="auto">
          <a:xfrm>
            <a:off x="3480620" y="-23164"/>
            <a:ext cx="8635320" cy="635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 descr="Advertising outline">
            <a:extLst>
              <a:ext uri="{FF2B5EF4-FFF2-40B4-BE49-F238E27FC236}">
                <a16:creationId xmlns:a16="http://schemas.microsoft.com/office/drawing/2014/main" id="{1EDC15B8-2173-9DC7-DB3B-645E07D8406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71" y="208195"/>
            <a:ext cx="7304134" cy="675607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D1C29E7-0246-1CD7-8A1F-30707B7E185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94192" y="4729773"/>
            <a:ext cx="2851533" cy="938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8C7C2A-22F2-9C49-D70E-5C8A22C35019}"/>
              </a:ext>
            </a:extLst>
          </p:cNvPr>
          <p:cNvSpPr txBox="1"/>
          <p:nvPr userDrawn="1"/>
        </p:nvSpPr>
        <p:spPr>
          <a:xfrm>
            <a:off x="2189351" y="4909434"/>
            <a:ext cx="25825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9"/>
              </a:rPr>
              <a:t>chris.moreh@ncl.ac.uk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  <a:hlinkClick r:id="rId1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0"/>
              </a:rPr>
              <a:t>chrismoreh.com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1"/>
              </a:rPr>
              <a:t>/CGMoreh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2"/>
              </a:rPr>
              <a:t>@CGMoreh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  <a:p>
            <a:pPr marL="180000">
              <a:spcBef>
                <a:spcPts val="0"/>
              </a:spcBef>
            </a:pPr>
            <a:r>
              <a:rPr lang="en-GB" sz="1600" b="0" dirty="0">
                <a:latin typeface="Arial Nova Cond Light" panose="020B0306020202020204" pitchFamily="34" charset="0"/>
                <a:cs typeface="Courier New" panose="02070309020205020404" pitchFamily="49" charset="0"/>
                <a:hlinkClick r:id="rId13"/>
              </a:rPr>
              <a:t>Chris Moreh</a:t>
            </a:r>
            <a:endParaRPr lang="en-GB" sz="1600" b="0" dirty="0">
              <a:latin typeface="Arial Nova Cond Light" panose="020B0306020202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7CACF7-D679-73AB-9142-786DA076C3A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flipH="1">
            <a:off x="2205260" y="5245571"/>
            <a:ext cx="174474" cy="180000"/>
          </a:xfrm>
          <a:prstGeom prst="rect">
            <a:avLst/>
          </a:prstGeom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F5D755EC-05C2-0884-2C2F-74A7297B70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731" y="5712062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40A42823-F60C-D577-74D9-FE8C3E3A62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734" y="5980746"/>
            <a:ext cx="19125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>
            <a:extLst>
              <a:ext uri="{FF2B5EF4-FFF2-40B4-BE49-F238E27FC236}">
                <a16:creationId xmlns:a16="http://schemas.microsoft.com/office/drawing/2014/main" id="{ECDBB212-ABA5-CE0D-7F0C-C37D656E0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249" y="5458509"/>
            <a:ext cx="238421" cy="23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Email Icon Clip Art , Royalty PNG Transparent Background, Free Download  #130 - FreeIconsPNG">
            <a:extLst>
              <a:ext uri="{FF2B5EF4-FFF2-40B4-BE49-F238E27FC236}">
                <a16:creationId xmlns:a16="http://schemas.microsoft.com/office/drawing/2014/main" id="{9AD65224-3024-068D-2B15-9BC7659705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092" y="5003382"/>
            <a:ext cx="176400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63504B0-8CB3-256C-EF50-E93FEF75AC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9"/>
          <a:srcRect l="14262" t="5451" r="9231" b="22240"/>
          <a:stretch/>
        </p:blipFill>
        <p:spPr>
          <a:xfrm>
            <a:off x="851647" y="1470212"/>
            <a:ext cx="5629836" cy="26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2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ECC6-7BD6-D9D0-DD8F-30FCF10DE4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References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57D05-3B38-1245-894D-24581A24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C7BA36-6C3C-C811-3047-B251D5B2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89F523-D9FC-8E93-1712-1B6E3DE7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FD4878-448B-C559-6183-304914140D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7238" y="1431925"/>
            <a:ext cx="10455275" cy="46577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63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746" y="286604"/>
            <a:ext cx="9578516" cy="911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745" y="1477880"/>
            <a:ext cx="10398935" cy="468118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8 October 2024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9FAA51BB-2FC0-4DB8-B50E-F52D50E733B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24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8" r:id="rId5"/>
    <p:sldLayoutId id="2147483669" r:id="rId6"/>
    <p:sldLayoutId id="2147483664" r:id="rId7"/>
    <p:sldLayoutId id="2147483665" r:id="rId8"/>
    <p:sldLayoutId id="2147483666" r:id="rId9"/>
    <p:sldLayoutId id="2147483667" r:id="rId10"/>
    <p:sldLayoutId id="2147483674" r:id="rId11"/>
    <p:sldLayoutId id="2147483676" r:id="rId12"/>
    <p:sldLayoutId id="2147483675" r:id="rId13"/>
    <p:sldLayoutId id="2147483670" r:id="rId14"/>
    <p:sldLayoutId id="2147483671" r:id="rId15"/>
    <p:sldLayoutId id="2147483673" r:id="rId16"/>
    <p:sldLayoutId id="2147483677" r:id="rId17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 spc="-50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20000"/>
        <a:buFont typeface="Arial Narrow" panose="020B0606020202030204" pitchFamily="34" charset="0"/>
        <a:buChar char="●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Courier New" panose="02070309020205020404" pitchFamily="49" charset="0"/>
        <a:buChar char="o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49808" indent="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None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gif"/><Relationship Id="rId4" Type="http://schemas.openxmlformats.org/officeDocument/2006/relationships/image" Target="../media/image5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stor.org/stable/2682899" TargetMode="External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613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4060982-6EE3-A8F1-75FE-C4BDB2FF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6000" b="1" dirty="0"/>
              <a:t>Week 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12B5B6-7C9E-9DE5-8D2C-13D42F1F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Modelling continuous outcomes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383FB-FAD5-ACBF-8362-99A44C5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4BC908-4805-889D-BE4F-455E3A44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F49CC-8A5A-2FB3-FD34-139202D1D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459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01D-2A10-AAC3-1006-C86286DC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outcomes?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D68425-0661-96D9-7968-6D84B219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94F2C-CF60-62B4-F1A2-1FA4B8ED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53079-52E8-3CBE-35A8-A200B180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3</a:t>
            </a:fld>
            <a:endParaRPr lang="en-GB"/>
          </a:p>
        </p:txBody>
      </p:sp>
      <p:pic>
        <p:nvPicPr>
          <p:cNvPr id="6" name="Picture 2" descr="Image result for likert scale smiley faces">
            <a:extLst>
              <a:ext uri="{FF2B5EF4-FFF2-40B4-BE49-F238E27FC236}">
                <a16:creationId xmlns:a16="http://schemas.microsoft.com/office/drawing/2014/main" id="{82FD8197-AD3F-4E46-8396-3CB8693B1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280" y="3078065"/>
            <a:ext cx="4224413" cy="83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98E259-4F4F-4490-8628-7C470BE51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216" y="1868536"/>
            <a:ext cx="2997546" cy="830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E870A-DE02-462E-B98D-FCDDFE3CE2F9}"/>
              </a:ext>
            </a:extLst>
          </p:cNvPr>
          <p:cNvSpPr txBox="1"/>
          <p:nvPr/>
        </p:nvSpPr>
        <p:spPr>
          <a:xfrm>
            <a:off x="3801192" y="1868538"/>
            <a:ext cx="1964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Nominal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A844F-925A-482F-AEA6-A1C19BC2B721}"/>
              </a:ext>
            </a:extLst>
          </p:cNvPr>
          <p:cNvSpPr txBox="1"/>
          <p:nvPr/>
        </p:nvSpPr>
        <p:spPr>
          <a:xfrm>
            <a:off x="3801192" y="3078066"/>
            <a:ext cx="1850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Ordinal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3B7E98-6E18-4358-B76C-CC893A991317}"/>
              </a:ext>
            </a:extLst>
          </p:cNvPr>
          <p:cNvSpPr txBox="1"/>
          <p:nvPr/>
        </p:nvSpPr>
        <p:spPr>
          <a:xfrm>
            <a:off x="3834458" y="4287594"/>
            <a:ext cx="22615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Scale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GB" sz="2400" b="1" dirty="0">
                <a:solidFill>
                  <a:srgbClr val="3F739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Numeric</a:t>
            </a:r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Discrete,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Ratio,</a:t>
            </a:r>
          </a:p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Interval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F84F0-2F32-EE01-4F3E-56D7F4AA9517}"/>
              </a:ext>
            </a:extLst>
          </p:cNvPr>
          <p:cNvSpPr txBox="1"/>
          <p:nvPr/>
        </p:nvSpPr>
        <p:spPr>
          <a:xfrm>
            <a:off x="732360" y="2397821"/>
            <a:ext cx="29037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3F739B"/>
                </a:solidFill>
              </a:rPr>
              <a:t>Variable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types </a:t>
            </a:r>
          </a:p>
          <a:p>
            <a:pPr algn="ctr"/>
            <a:r>
              <a:rPr lang="en-GB" sz="3600" b="1" dirty="0"/>
              <a:t>/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Measurement</a:t>
            </a:r>
          </a:p>
          <a:p>
            <a:pPr algn="ctr"/>
            <a:r>
              <a:rPr lang="en-GB" sz="3600" b="1" dirty="0">
                <a:solidFill>
                  <a:srgbClr val="3F739B"/>
                </a:solidFill>
              </a:rPr>
              <a:t>levels</a:t>
            </a:r>
          </a:p>
        </p:txBody>
      </p:sp>
      <p:pic>
        <p:nvPicPr>
          <p:cNvPr id="2050" name="Picture 2" descr="The Celsius scale">
            <a:extLst>
              <a:ext uri="{FF2B5EF4-FFF2-40B4-BE49-F238E27FC236}">
                <a16:creationId xmlns:a16="http://schemas.microsoft.com/office/drawing/2014/main" id="{C997E3A0-D222-5B2F-26C5-CFE3945CE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13" b="-9830"/>
          <a:stretch/>
        </p:blipFill>
        <p:spPr bwMode="auto">
          <a:xfrm>
            <a:off x="6093070" y="5331026"/>
            <a:ext cx="5599497" cy="57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EF8034-4035-F991-8D4D-C4D51217E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070" y="4232575"/>
            <a:ext cx="5201992" cy="92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51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F10DEB46-1089-4DB0-9D46-DB261134DE74}"/>
              </a:ext>
            </a:extLst>
          </p:cNvPr>
          <p:cNvSpPr/>
          <p:nvPr/>
        </p:nvSpPr>
        <p:spPr>
          <a:xfrm>
            <a:off x="1307874" y="2384612"/>
            <a:ext cx="2762433" cy="208877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GB" b="1" kern="0" dirty="0">
                <a:solidFill>
                  <a:schemeClr val="bg1"/>
                </a:solidFill>
                <a:latin typeface="Arial"/>
                <a:sym typeface="Arial"/>
              </a:rPr>
              <a:t>Dependent / Outcome</a:t>
            </a:r>
          </a:p>
          <a:p>
            <a:pPr algn="ctr" defTabSz="1219170">
              <a:buClr>
                <a:srgbClr val="000000"/>
              </a:buClr>
            </a:pPr>
            <a:r>
              <a:rPr lang="en-GB" b="1" kern="0" dirty="0">
                <a:solidFill>
                  <a:schemeClr val="bg1"/>
                </a:solidFill>
                <a:latin typeface="Arial"/>
                <a:sym typeface="Arial"/>
              </a:rPr>
              <a:t>Variable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69D02-D0C3-4EC8-8F3C-A5294E2B460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959" y="1189433"/>
            <a:ext cx="4415291" cy="3796242"/>
          </a:xfrm>
          <a:prstGeom prst="rect">
            <a:avLst/>
          </a:prstGeom>
          <a:noFill/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E0C07184-B427-4031-86AE-735CAAAD0845}"/>
              </a:ext>
            </a:extLst>
          </p:cNvPr>
          <p:cNvSpPr/>
          <p:nvPr/>
        </p:nvSpPr>
        <p:spPr>
          <a:xfrm>
            <a:off x="4632870" y="4993752"/>
            <a:ext cx="3327474" cy="1231591"/>
          </a:xfrm>
          <a:prstGeom prst="upArrow">
            <a:avLst>
              <a:gd name="adj1" fmla="val 50000"/>
              <a:gd name="adj2" fmla="val 5225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9A07CA7-119F-4413-B039-CF91724F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outcomes?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FCF06-D411-A722-FB83-9BAADEA7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157AD-BEDE-ED2A-93B1-192C0B0B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ED8377-00C8-B2EB-5191-1A0960E4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EB09C-0E34-595F-2277-11204DF220A0}"/>
              </a:ext>
            </a:extLst>
          </p:cNvPr>
          <p:cNvSpPr txBox="1"/>
          <p:nvPr/>
        </p:nvSpPr>
        <p:spPr>
          <a:xfrm>
            <a:off x="1307874" y="4473388"/>
            <a:ext cx="2472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3F739B"/>
                </a:solidFill>
              </a:rPr>
              <a:t>The variable we want to explain/predict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A56A2-9E81-BE7B-DD95-5B04101C699C}"/>
              </a:ext>
            </a:extLst>
          </p:cNvPr>
          <p:cNvSpPr txBox="1"/>
          <p:nvPr/>
        </p:nvSpPr>
        <p:spPr>
          <a:xfrm>
            <a:off x="8084199" y="5220117"/>
            <a:ext cx="3327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3F739B"/>
                </a:solidFill>
              </a:rPr>
              <a:t>The variable we want to use for explaining/predicting the DV</a:t>
            </a:r>
          </a:p>
        </p:txBody>
      </p:sp>
    </p:spTree>
    <p:extLst>
      <p:ext uri="{BB962C8B-B14F-4D97-AF65-F5344CB8AC3E}">
        <p14:creationId xmlns:p14="http://schemas.microsoft.com/office/powerpoint/2010/main" val="175993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F10DEB46-1089-4DB0-9D46-DB261134DE74}"/>
              </a:ext>
            </a:extLst>
          </p:cNvPr>
          <p:cNvSpPr/>
          <p:nvPr/>
        </p:nvSpPr>
        <p:spPr>
          <a:xfrm>
            <a:off x="1307874" y="2384612"/>
            <a:ext cx="2762433" cy="208877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GB" b="1" kern="0" dirty="0">
                <a:solidFill>
                  <a:schemeClr val="bg1"/>
                </a:solidFill>
                <a:latin typeface="Arial"/>
                <a:sym typeface="Arial"/>
              </a:rPr>
              <a:t>Dependent / Outcome</a:t>
            </a:r>
          </a:p>
          <a:p>
            <a:pPr algn="ctr" defTabSz="1219170">
              <a:buClr>
                <a:srgbClr val="000000"/>
              </a:buClr>
            </a:pPr>
            <a:r>
              <a:rPr lang="en-GB" b="1" kern="0" dirty="0">
                <a:solidFill>
                  <a:schemeClr val="bg1"/>
                </a:solidFill>
                <a:latin typeface="Arial"/>
                <a:sym typeface="Arial"/>
              </a:rPr>
              <a:t>Variable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69D02-D0C3-4EC8-8F3C-A5294E2B460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485903" y="1189433"/>
            <a:ext cx="3589063" cy="3796242"/>
          </a:xfrm>
          <a:prstGeom prst="rect">
            <a:avLst/>
          </a:prstGeom>
          <a:noFill/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E0C07184-B427-4031-86AE-735CAAAD0845}"/>
              </a:ext>
            </a:extLst>
          </p:cNvPr>
          <p:cNvSpPr/>
          <p:nvPr/>
        </p:nvSpPr>
        <p:spPr>
          <a:xfrm>
            <a:off x="4632870" y="4993752"/>
            <a:ext cx="3327474" cy="1231591"/>
          </a:xfrm>
          <a:prstGeom prst="upArrow">
            <a:avLst>
              <a:gd name="adj1" fmla="val 50000"/>
              <a:gd name="adj2" fmla="val 5225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9A07CA7-119F-4413-B039-CF91724F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outcomes?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FCF06-D411-A722-FB83-9BAADEA7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157AD-BEDE-ED2A-93B1-192C0B0B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ED8377-00C8-B2EB-5191-1A0960E4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5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EB09C-0E34-595F-2277-11204DF220A0}"/>
              </a:ext>
            </a:extLst>
          </p:cNvPr>
          <p:cNvSpPr txBox="1"/>
          <p:nvPr/>
        </p:nvSpPr>
        <p:spPr>
          <a:xfrm>
            <a:off x="1307874" y="4473388"/>
            <a:ext cx="2472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3F739B"/>
                </a:solidFill>
              </a:rPr>
              <a:t>The variable we want to explain/predict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A56A2-9E81-BE7B-DD95-5B04101C699C}"/>
              </a:ext>
            </a:extLst>
          </p:cNvPr>
          <p:cNvSpPr txBox="1"/>
          <p:nvPr/>
        </p:nvSpPr>
        <p:spPr>
          <a:xfrm>
            <a:off x="8084199" y="5220117"/>
            <a:ext cx="3327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3F739B"/>
                </a:solidFill>
              </a:rPr>
              <a:t>The variable we want to use for explaining/predicting the DV</a:t>
            </a:r>
          </a:p>
        </p:txBody>
      </p:sp>
    </p:spTree>
    <p:extLst>
      <p:ext uri="{BB962C8B-B14F-4D97-AF65-F5344CB8AC3E}">
        <p14:creationId xmlns:p14="http://schemas.microsoft.com/office/powerpoint/2010/main" val="3506495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extLst>
              <a:ext uri="{FF2B5EF4-FFF2-40B4-BE49-F238E27FC236}">
                <a16:creationId xmlns:a16="http://schemas.microsoft.com/office/drawing/2014/main" id="{F10DEB46-1089-4DB0-9D46-DB261134DE74}"/>
              </a:ext>
            </a:extLst>
          </p:cNvPr>
          <p:cNvSpPr/>
          <p:nvPr/>
        </p:nvSpPr>
        <p:spPr>
          <a:xfrm>
            <a:off x="1307874" y="2384612"/>
            <a:ext cx="2762433" cy="208877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GB" b="1" kern="0" dirty="0">
                <a:solidFill>
                  <a:schemeClr val="bg1"/>
                </a:solidFill>
                <a:latin typeface="Arial"/>
                <a:sym typeface="Arial"/>
              </a:rPr>
              <a:t>Dependent / Outcome</a:t>
            </a:r>
          </a:p>
          <a:p>
            <a:pPr algn="ctr" defTabSz="1219170">
              <a:buClr>
                <a:srgbClr val="000000"/>
              </a:buClr>
            </a:pPr>
            <a:r>
              <a:rPr lang="en-GB" b="1" kern="0" dirty="0">
                <a:solidFill>
                  <a:schemeClr val="bg1"/>
                </a:solidFill>
                <a:latin typeface="Arial"/>
                <a:sym typeface="Arial"/>
              </a:rPr>
              <a:t>Variable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69D02-D0C3-4EC8-8F3C-A5294E2B460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08763" y="1198180"/>
            <a:ext cx="4822804" cy="3795572"/>
          </a:xfrm>
          <a:prstGeom prst="rect">
            <a:avLst/>
          </a:prstGeom>
          <a:noFill/>
        </p:spPr>
      </p:pic>
      <p:sp>
        <p:nvSpPr>
          <p:cNvPr id="6" name="Arrow: Up 5">
            <a:extLst>
              <a:ext uri="{FF2B5EF4-FFF2-40B4-BE49-F238E27FC236}">
                <a16:creationId xmlns:a16="http://schemas.microsoft.com/office/drawing/2014/main" id="{E0C07184-B427-4031-86AE-735CAAAD0845}"/>
              </a:ext>
            </a:extLst>
          </p:cNvPr>
          <p:cNvSpPr/>
          <p:nvPr/>
        </p:nvSpPr>
        <p:spPr>
          <a:xfrm>
            <a:off x="4632870" y="4993752"/>
            <a:ext cx="3327474" cy="1231591"/>
          </a:xfrm>
          <a:prstGeom prst="upArrow">
            <a:avLst>
              <a:gd name="adj1" fmla="val 50000"/>
              <a:gd name="adj2" fmla="val 5225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</a:t>
            </a:r>
          </a:p>
          <a:p>
            <a:pPr algn="ctr"/>
            <a:r>
              <a: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9A07CA7-119F-4413-B039-CF91724F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Continuous outcomes?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FCF06-D411-A722-FB83-9BAADEA7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157AD-BEDE-ED2A-93B1-192C0B0B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ED8377-00C8-B2EB-5191-1A0960E4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6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EB09C-0E34-595F-2277-11204DF220A0}"/>
              </a:ext>
            </a:extLst>
          </p:cNvPr>
          <p:cNvSpPr txBox="1"/>
          <p:nvPr/>
        </p:nvSpPr>
        <p:spPr>
          <a:xfrm>
            <a:off x="1307874" y="4473388"/>
            <a:ext cx="2472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3F739B"/>
                </a:solidFill>
              </a:rPr>
              <a:t>The variable we want to explain/predict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A56A2-9E81-BE7B-DD95-5B04101C699C}"/>
              </a:ext>
            </a:extLst>
          </p:cNvPr>
          <p:cNvSpPr txBox="1"/>
          <p:nvPr/>
        </p:nvSpPr>
        <p:spPr>
          <a:xfrm>
            <a:off x="8084199" y="5220117"/>
            <a:ext cx="3327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3F739B"/>
                </a:solidFill>
              </a:rPr>
              <a:t>The variable we want to use for explaining/predicting the DV</a:t>
            </a:r>
          </a:p>
        </p:txBody>
      </p:sp>
    </p:spTree>
    <p:extLst>
      <p:ext uri="{BB962C8B-B14F-4D97-AF65-F5344CB8AC3E}">
        <p14:creationId xmlns:p14="http://schemas.microsoft.com/office/powerpoint/2010/main" val="897844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C10D394-C9B2-B03C-4136-7B6EEA8F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4452" y="1762886"/>
            <a:ext cx="6218753" cy="2169033"/>
          </a:xfrm>
        </p:spPr>
        <p:txBody>
          <a:bodyPr/>
          <a:lstStyle/>
          <a:p>
            <a:r>
              <a:rPr lang="en-GB" dirty="0">
                <a:solidFill>
                  <a:srgbClr val="FFC000"/>
                </a:solidFill>
              </a:rPr>
              <a:t>How</a:t>
            </a:r>
            <a:r>
              <a:rPr lang="en-GB" dirty="0"/>
              <a:t> is </a:t>
            </a:r>
            <a:r>
              <a:rPr lang="en-GB" i="1" dirty="0"/>
              <a:t>income inequality </a:t>
            </a:r>
            <a:r>
              <a:rPr lang="en-GB" dirty="0"/>
              <a:t>associated with </a:t>
            </a:r>
            <a:r>
              <a:rPr lang="en-GB" i="1" dirty="0"/>
              <a:t>social trust</a:t>
            </a:r>
            <a:r>
              <a:rPr lang="en-GB" dirty="0"/>
              <a:t>?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970186A7-EA5C-A9A6-00C2-C2344CB3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E5130C6E-0065-E34B-BE45-C2C68B3C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9A7185-82FE-CA4A-924B-4CC133CB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596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A37C0FA-10DA-0D35-01CC-20520F3B8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Does inequality </a:t>
            </a:r>
            <a:r>
              <a:rPr lang="en-GB" i="1" dirty="0"/>
              <a:t>explain</a:t>
            </a:r>
            <a:r>
              <a:rPr lang="en-GB" dirty="0"/>
              <a:t> social trust?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E703C-944A-D7E7-F614-4BA84F323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Inequality as a </a:t>
            </a:r>
            <a:r>
              <a:rPr lang="en-GB" b="1" i="1" dirty="0"/>
              <a:t>predictor</a:t>
            </a:r>
            <a:r>
              <a:rPr lang="en-GB" b="1" dirty="0"/>
              <a:t> of social trust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Social trust as a </a:t>
            </a:r>
            <a:r>
              <a:rPr lang="en-GB" b="1" i="1" dirty="0"/>
              <a:t>function</a:t>
            </a:r>
            <a:r>
              <a:rPr lang="en-GB" b="1" dirty="0"/>
              <a:t> of inequality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A model of social trust </a:t>
            </a:r>
            <a:r>
              <a:rPr lang="en-GB" b="1" i="1" dirty="0"/>
              <a:t>dependent on </a:t>
            </a:r>
            <a:r>
              <a:rPr lang="en-GB" b="1" dirty="0"/>
              <a:t>inequality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/>
              <a:t>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AA952-F4BF-DF38-94E0-073B86D3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7E1DD-848E-88C2-F321-FB74DD996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6FB1-0E31-1374-5F8A-A8991240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277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i="1" dirty="0"/>
              <a:t>The spirit level </a:t>
            </a:r>
            <a:r>
              <a:rPr dirty="0"/>
              <a:t>(2010)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26" name="Picture 2" descr="The Spirit Level: Why Equality is Better for Everyone: Amazon.co.uk:  Pickett, Kate, Wilkinson, Richard: 9780241954294: Books">
            <a:extLst>
              <a:ext uri="{FF2B5EF4-FFF2-40B4-BE49-F238E27FC236}">
                <a16:creationId xmlns:a16="http://schemas.microsoft.com/office/drawing/2014/main" id="{A76EC4F5-D491-B613-8EA8-7A7CE063F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773" y="1561513"/>
            <a:ext cx="2664677" cy="408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AB09A-CAE0-2B37-AEB6-BF261E861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67004-7023-2934-B9CC-E419109BD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692" y="1198180"/>
            <a:ext cx="6288791" cy="50887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90FC48-83AB-43CE-58FF-FF45B8C80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‘best’ line?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E31FDA-E474-477F-89E4-2BE343EE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>
                <a:solidFill>
                  <a:schemeClr val="tx2">
                    <a:lumMod val="75000"/>
                  </a:schemeClr>
                </a:solidFill>
              </a:rPr>
              <a:pPr algn="ctr"/>
              <a:t>10</a:t>
            </a:fld>
            <a:endParaRPr lang="en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68F5D-993E-4553-80D2-F5656CF17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27" y="1390955"/>
            <a:ext cx="6306356" cy="41489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9631AD-853D-482E-8CC1-BB559ACD1740}"/>
              </a:ext>
            </a:extLst>
          </p:cNvPr>
          <p:cNvSpPr txBox="1"/>
          <p:nvPr/>
        </p:nvSpPr>
        <p:spPr>
          <a:xfrm>
            <a:off x="702656" y="5616905"/>
            <a:ext cx="5388608" cy="584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67" dirty="0">
                <a:solidFill>
                  <a:schemeClr val="tx2">
                    <a:lumMod val="75000"/>
                  </a:schemeClr>
                </a:solidFill>
              </a:rPr>
              <a:t>Source: F. J. Anscombe (1973). Graphs in Statistical Analysis. </a:t>
            </a:r>
            <a:r>
              <a:rPr lang="en-GB" sz="1067" i="1" dirty="0">
                <a:solidFill>
                  <a:schemeClr val="tx2">
                    <a:lumMod val="75000"/>
                  </a:schemeClr>
                </a:solidFill>
              </a:rPr>
              <a:t>The American Statistician</a:t>
            </a:r>
            <a:r>
              <a:rPr lang="en-GB" sz="1067" dirty="0">
                <a:solidFill>
                  <a:schemeClr val="tx2">
                    <a:lumMod val="75000"/>
                  </a:schemeClr>
                </a:solidFill>
              </a:rPr>
              <a:t>, 27(1):17-21. If you have access to JSTOR you can get the article at the following link: </a:t>
            </a:r>
            <a:r>
              <a:rPr lang="en-GB" sz="1067" dirty="0">
                <a:solidFill>
                  <a:schemeClr val="tx2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http://www.jstor.org/stable/2682899</a:t>
            </a:r>
            <a:r>
              <a:rPr lang="en-GB" sz="1067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5B775F-EBFA-4604-A384-C3EC4252B96A}"/>
              </a:ext>
            </a:extLst>
          </p:cNvPr>
          <p:cNvSpPr txBox="1"/>
          <p:nvPr/>
        </p:nvSpPr>
        <p:spPr>
          <a:xfrm>
            <a:off x="7202211" y="2580165"/>
            <a:ext cx="45530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>
                <a:schemeClr val="bg1"/>
              </a:buClr>
            </a:pPr>
            <a:r>
              <a:rPr lang="en-GB" sz="3600" dirty="0">
                <a:solidFill>
                  <a:schemeClr val="tx2">
                    <a:lumMod val="75000"/>
                  </a:schemeClr>
                </a:solidFill>
                <a:latin typeface="ArialMT"/>
              </a:rPr>
              <a:t>T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  <a:latin typeface="ArialMT"/>
              </a:rPr>
              <a:t>he same regression line could represent very different relationships</a:t>
            </a:r>
          </a:p>
          <a:p>
            <a:pPr marL="380990" indent="-38099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GB" sz="3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13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</a:t>
            </a:r>
            <a:r>
              <a:rPr lang="en-GB" b="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59F2B2-BAF1-26FC-FB99-4B5BB002077C}"/>
              </a:ext>
            </a:extLst>
          </p:cNvPr>
          <p:cNvSpPr/>
          <p:nvPr/>
        </p:nvSpPr>
        <p:spPr>
          <a:xfrm>
            <a:off x="7733664" y="5024906"/>
            <a:ext cx="884556" cy="872974"/>
          </a:xfrm>
          <a:prstGeom prst="rect">
            <a:avLst/>
          </a:prstGeom>
          <a:solidFill>
            <a:srgbClr val="DA000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07489F4-4847-6B11-F591-FE303D9E2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7"/>
          <a:stretch/>
        </p:blipFill>
        <p:spPr>
          <a:xfrm>
            <a:off x="491358" y="1782823"/>
            <a:ext cx="5276431" cy="42005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86AE07-9CAC-985C-B0F1-AA1EC47BE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7789" y="1206927"/>
            <a:ext cx="6217885" cy="478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5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</a:t>
            </a:r>
            <a:r>
              <a:rPr lang="en-GB" dirty="0">
                <a:sym typeface="Wingdings" panose="05000000000000000000" pitchFamily="2" charset="2"/>
              </a:rPr>
              <a:t>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787F33-4CD8-DBAD-424F-53CB7F065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0959" y="1352295"/>
            <a:ext cx="4186139" cy="30958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86AE07-9CAC-985C-B0F1-AA1EC47BE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7789" y="1206927"/>
            <a:ext cx="6217885" cy="47851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4DAB24-00D9-B6DD-D86C-03EB6F537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580" y="4512482"/>
            <a:ext cx="4186140" cy="145674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BB58A9-F045-4B3C-C165-C5584CAD34B7}"/>
              </a:ext>
            </a:extLst>
          </p:cNvPr>
          <p:cNvSpPr/>
          <p:nvPr/>
        </p:nvSpPr>
        <p:spPr>
          <a:xfrm>
            <a:off x="3729714" y="5365920"/>
            <a:ext cx="775325" cy="626167"/>
          </a:xfrm>
          <a:prstGeom prst="rect">
            <a:avLst/>
          </a:prstGeom>
          <a:solidFill>
            <a:srgbClr val="DA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7EA6B8-64B6-6667-54EA-040EB411A0A2}"/>
              </a:ext>
            </a:extLst>
          </p:cNvPr>
          <p:cNvSpPr/>
          <p:nvPr/>
        </p:nvSpPr>
        <p:spPr>
          <a:xfrm>
            <a:off x="9648998" y="5017770"/>
            <a:ext cx="686264" cy="924899"/>
          </a:xfrm>
          <a:prstGeom prst="rect">
            <a:avLst/>
          </a:prstGeom>
          <a:solidFill>
            <a:srgbClr val="DA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E64A40-0F4E-9321-610F-9C5F150C54DD}"/>
              </a:ext>
            </a:extLst>
          </p:cNvPr>
          <p:cNvSpPr/>
          <p:nvPr/>
        </p:nvSpPr>
        <p:spPr>
          <a:xfrm>
            <a:off x="10556469" y="3348990"/>
            <a:ext cx="759231" cy="468630"/>
          </a:xfrm>
          <a:prstGeom prst="rect">
            <a:avLst/>
          </a:prstGeom>
          <a:solidFill>
            <a:srgbClr val="0070C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480465-698D-39CB-FC56-5508F9A3DE36}"/>
              </a:ext>
            </a:extLst>
          </p:cNvPr>
          <p:cNvSpPr/>
          <p:nvPr/>
        </p:nvSpPr>
        <p:spPr>
          <a:xfrm>
            <a:off x="11131779" y="5719652"/>
            <a:ext cx="759231" cy="223017"/>
          </a:xfrm>
          <a:prstGeom prst="rect">
            <a:avLst/>
          </a:prstGeom>
          <a:solidFill>
            <a:srgbClr val="0070C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D21993-70B6-1A19-FEC0-A9A75942B355}"/>
              </a:ext>
            </a:extLst>
          </p:cNvPr>
          <p:cNvSpPr/>
          <p:nvPr/>
        </p:nvSpPr>
        <p:spPr>
          <a:xfrm>
            <a:off x="4549999" y="5343060"/>
            <a:ext cx="759231" cy="561839"/>
          </a:xfrm>
          <a:prstGeom prst="rect">
            <a:avLst/>
          </a:prstGeom>
          <a:solidFill>
            <a:srgbClr val="0070C0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6D13C4-8407-E3C2-20FB-5F0F5E797A6D}"/>
              </a:ext>
            </a:extLst>
          </p:cNvPr>
          <p:cNvSpPr/>
          <p:nvPr/>
        </p:nvSpPr>
        <p:spPr>
          <a:xfrm>
            <a:off x="6547104" y="1975104"/>
            <a:ext cx="767334" cy="665707"/>
          </a:xfrm>
          <a:prstGeom prst="rect">
            <a:avLst/>
          </a:prstGeom>
          <a:solidFill>
            <a:srgbClr val="DA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584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</a:t>
            </a:r>
            <a:r>
              <a:rPr lang="en-GB" b="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B15CB2-542B-A6B3-4671-B475B65F5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7"/>
          <a:stretch/>
        </p:blipFill>
        <p:spPr>
          <a:xfrm>
            <a:off x="491358" y="1782823"/>
            <a:ext cx="5688000" cy="42005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86AE07-9CAC-985C-B0F1-AA1EC47BE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7789" y="1206927"/>
            <a:ext cx="6217885" cy="478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32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787F33-4CD8-DBAD-424F-53CB7F065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07"/>
          <a:stretch/>
        </p:blipFill>
        <p:spPr>
          <a:xfrm>
            <a:off x="480060" y="1897379"/>
            <a:ext cx="5287729" cy="40947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86AE07-9CAC-985C-B0F1-AA1EC47BE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7789" y="1206927"/>
            <a:ext cx="6217885" cy="478516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E3ACF-D4C3-2502-17F0-03F90D66731A}"/>
              </a:ext>
            </a:extLst>
          </p:cNvPr>
          <p:cNvSpPr/>
          <p:nvPr/>
        </p:nvSpPr>
        <p:spPr>
          <a:xfrm>
            <a:off x="8663940" y="4992624"/>
            <a:ext cx="948690" cy="916685"/>
          </a:xfrm>
          <a:prstGeom prst="rect">
            <a:avLst/>
          </a:prstGeom>
          <a:solidFill>
            <a:srgbClr val="DA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5BE9DCD-36A4-9D2A-DEFC-526CBB943120}"/>
              </a:ext>
            </a:extLst>
          </p:cNvPr>
          <p:cNvSpPr/>
          <p:nvPr/>
        </p:nvSpPr>
        <p:spPr>
          <a:xfrm>
            <a:off x="5280661" y="3829050"/>
            <a:ext cx="160020" cy="69723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7709D734-C56C-74D2-BCF9-DEB651395DCD}"/>
              </a:ext>
            </a:extLst>
          </p:cNvPr>
          <p:cNvSpPr/>
          <p:nvPr/>
        </p:nvSpPr>
        <p:spPr>
          <a:xfrm>
            <a:off x="4667251" y="3729990"/>
            <a:ext cx="160020" cy="55626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347E80E-FE4B-EAB0-8C66-B491B6F5C12D}"/>
              </a:ext>
            </a:extLst>
          </p:cNvPr>
          <p:cNvSpPr/>
          <p:nvPr/>
        </p:nvSpPr>
        <p:spPr>
          <a:xfrm>
            <a:off x="3123924" y="3457575"/>
            <a:ext cx="72000" cy="216000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936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9FFEE-819C-5FF1-ECF4-8B5C41E0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2254E-8353-5AD7-F4D6-5066ACB1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3765A-E308-73B2-A609-99A0A769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15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43DD6-23DF-6BE5-7A41-B43D3F6A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8" y="531607"/>
            <a:ext cx="8908459" cy="52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080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E9004-46D7-4459-92C5-C04BA0CB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12" y="708931"/>
            <a:ext cx="9144825" cy="550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670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B22B1-E9CC-41F6-ADF8-58947530F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412" y="373391"/>
            <a:ext cx="8593176" cy="575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69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A31D3-72D3-4C2F-9E46-F962CBDEF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418" y="348589"/>
            <a:ext cx="8971167" cy="590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63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63665B-4A8A-4E7E-9EB9-FBCE5589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6" y="827778"/>
            <a:ext cx="9495203" cy="537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492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FE4D6-8766-49A0-B677-626E90F8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30" y="468154"/>
            <a:ext cx="7198999" cy="52642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3">
                <a:extLst>
                  <a:ext uri="{FF2B5EF4-FFF2-40B4-BE49-F238E27FC236}">
                    <a16:creationId xmlns:a16="http://schemas.microsoft.com/office/drawing/2014/main" id="{92E34DB3-B618-46C4-F0E8-66B5AAF489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79916" y="1125622"/>
                <a:ext cx="4886803" cy="1304412"/>
              </a:xfrm>
              <a:prstGeom prst="rect">
                <a:avLst/>
              </a:prstGeom>
            </p:spPr>
            <p:txBody>
              <a:bodyPr/>
              <a:lstStyle>
                <a:lvl1pPr marL="269875" indent="-269875" algn="l" defTabSz="342900" rtl="0" eaLnBrk="1" latinLnBrk="0" hangingPunct="1">
                  <a:spcBef>
                    <a:spcPct val="20000"/>
                  </a:spcBef>
                  <a:buClr>
                    <a:schemeClr val="accent1">
                      <a:lumMod val="50000"/>
                    </a:schemeClr>
                  </a:buClr>
                  <a:buSzPct val="130000"/>
                  <a:buFont typeface="Arial Narrow" panose="020B0606020202030204" pitchFamily="34" charset="0"/>
                  <a:buChar char="●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9750" indent="-196850" algn="l" defTabSz="342900" rtl="0" eaLnBrk="1" latinLnBrk="0" hangingPunct="1">
                  <a:spcBef>
                    <a:spcPct val="20000"/>
                  </a:spcBef>
                  <a:buClr>
                    <a:schemeClr val="accent1">
                      <a:lumMod val="50000"/>
                    </a:schemeClr>
                  </a:buClr>
                  <a:buFont typeface="Arial Narrow" panose="020B0606020202030204" pitchFamily="34" charset="0"/>
                  <a:buChar char="►"/>
                  <a:defRPr sz="1800" kern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717550" indent="-269875" algn="l" defTabSz="342900" rtl="0" eaLnBrk="1" latinLnBrk="0" hangingPunct="1">
                  <a:spcBef>
                    <a:spcPct val="20000"/>
                  </a:spcBef>
                  <a:buClr>
                    <a:srgbClr val="5E8F3D"/>
                  </a:buClr>
                  <a:buFont typeface="Arial Narrow" panose="020B0606020202030204" pitchFamily="34" charset="0"/>
                  <a:buChar char="◄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9625" indent="-177800" algn="l" defTabSz="342900" rtl="0" eaLnBrk="1" latinLnBrk="0" hangingPunct="1">
                  <a:spcBef>
                    <a:spcPct val="20000"/>
                  </a:spcBef>
                  <a:buClr>
                    <a:schemeClr val="accent6">
                      <a:lumMod val="50000"/>
                    </a:schemeClr>
                  </a:buClr>
                  <a:buFont typeface="Arial Narrow" panose="020B0606020202030204" pitchFamily="34" charset="0"/>
                  <a:buChar char="▼"/>
                  <a:defRPr sz="140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895350" indent="-92075" algn="l" defTabSz="342900" rtl="0" eaLnBrk="1" latinLnBrk="0" hangingPunct="1">
                  <a:spcBef>
                    <a:spcPct val="20000"/>
                  </a:spcBef>
                  <a:buClr>
                    <a:srgbClr val="A88000"/>
                  </a:buClr>
                  <a:buFont typeface="Arial Narrow" panose="020B0606020202030204" pitchFamily="34" charset="0"/>
                  <a:buChar char="▲"/>
                  <a:defRPr sz="1200" kern="1200">
                    <a:solidFill>
                      <a:schemeClr val="bg1">
                        <a:lumMod val="6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0574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003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7432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086100" indent="-342900" algn="l" defTabSz="3429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01597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sz="2667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GB" sz="2667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667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667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667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667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667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667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667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2667" i="1" dirty="0">
                  <a:latin typeface="Cambria Math" panose="02040503050406030204" pitchFamily="18" charset="0"/>
                </a:endParaRPr>
              </a:p>
              <a:p>
                <a:pPr marL="101597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67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667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667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GB" sz="2667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667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2667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GB" sz="2667" dirty="0"/>
              </a:p>
            </p:txBody>
          </p:sp>
        </mc:Choice>
        <mc:Fallback xmlns="">
          <p:sp>
            <p:nvSpPr>
              <p:cNvPr id="2" name="Text Placeholder 3">
                <a:extLst>
                  <a:ext uri="{FF2B5EF4-FFF2-40B4-BE49-F238E27FC236}">
                    <a16:creationId xmlns:a16="http://schemas.microsoft.com/office/drawing/2014/main" id="{92E34DB3-B618-46C4-F0E8-66B5AAF48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916" y="1125622"/>
                <a:ext cx="4886803" cy="13044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F1E549E-C8DB-DE07-B1ED-FF5722BABEF5}"/>
              </a:ext>
            </a:extLst>
          </p:cNvPr>
          <p:cNvSpPr/>
          <p:nvPr/>
        </p:nvSpPr>
        <p:spPr>
          <a:xfrm>
            <a:off x="7003625" y="2176498"/>
            <a:ext cx="4144361" cy="38370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0701F-D9D6-6991-C683-FACE1F142BDA}"/>
              </a:ext>
            </a:extLst>
          </p:cNvPr>
          <p:cNvSpPr/>
          <p:nvPr/>
        </p:nvSpPr>
        <p:spPr>
          <a:xfrm>
            <a:off x="8135847" y="2711234"/>
            <a:ext cx="3491981" cy="31601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9A6748-F37D-94A4-AEAC-3FE2A0B2AD44}"/>
              </a:ext>
            </a:extLst>
          </p:cNvPr>
          <p:cNvSpPr/>
          <p:nvPr/>
        </p:nvSpPr>
        <p:spPr>
          <a:xfrm>
            <a:off x="8285851" y="2739899"/>
            <a:ext cx="1693795" cy="1620315"/>
          </a:xfrm>
          <a:prstGeom prst="ellipse">
            <a:avLst/>
          </a:prstGeom>
          <a:solidFill>
            <a:srgbClr val="FFFF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X1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0ACD01-36E4-D4A4-1E7C-CE56D0CF83A1}"/>
              </a:ext>
            </a:extLst>
          </p:cNvPr>
          <p:cNvSpPr/>
          <p:nvPr/>
        </p:nvSpPr>
        <p:spPr>
          <a:xfrm>
            <a:off x="9373779" y="3284115"/>
            <a:ext cx="1760221" cy="1620315"/>
          </a:xfrm>
          <a:prstGeom prst="ellipse">
            <a:avLst/>
          </a:prstGeom>
          <a:solidFill>
            <a:schemeClr val="accent6">
              <a:lumMod val="75000"/>
              <a:alpha val="38824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X2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00FEB95-4329-643B-5B34-FF5EBD23FCCD}"/>
              </a:ext>
            </a:extLst>
          </p:cNvPr>
          <p:cNvSpPr/>
          <p:nvPr/>
        </p:nvSpPr>
        <p:spPr>
          <a:xfrm>
            <a:off x="8333772" y="3916657"/>
            <a:ext cx="1693795" cy="1510497"/>
          </a:xfrm>
          <a:prstGeom prst="ellipse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X3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42181-377B-DB51-81AF-6B14CB707D0E}"/>
              </a:ext>
            </a:extLst>
          </p:cNvPr>
          <p:cNvSpPr txBox="1"/>
          <p:nvPr/>
        </p:nvSpPr>
        <p:spPr>
          <a:xfrm>
            <a:off x="10316562" y="5086416"/>
            <a:ext cx="1252559" cy="502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33" dirty="0">
                <a:solidFill>
                  <a:schemeClr val="tx2">
                    <a:lumMod val="75000"/>
                  </a:schemeClr>
                </a:solidFill>
              </a:rPr>
              <a:t>60%</a:t>
            </a:r>
          </a:p>
          <a:p>
            <a:r>
              <a:rPr lang="en-GB" sz="1333" dirty="0">
                <a:solidFill>
                  <a:schemeClr val="tx2">
                    <a:lumMod val="75000"/>
                  </a:schemeClr>
                </a:solidFill>
              </a:rPr>
              <a:t>unexplained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DA9B2C-703C-A088-6BFF-48AF5458E31B}"/>
              </a:ext>
            </a:extLst>
          </p:cNvPr>
          <p:cNvSpPr/>
          <p:nvPr/>
        </p:nvSpPr>
        <p:spPr>
          <a:xfrm>
            <a:off x="7497012" y="2711233"/>
            <a:ext cx="4144361" cy="355588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583205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+ Region </a:t>
            </a:r>
            <a:r>
              <a:rPr lang="en-GB" b="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7" name="Picture 6" descr="Week_3_R_files/figure-pptx/unnamed-chunk-11-1.png">
            <a:extLst>
              <a:ext uri="{FF2B5EF4-FFF2-40B4-BE49-F238E27FC236}">
                <a16:creationId xmlns:a16="http://schemas.microsoft.com/office/drawing/2014/main" id="{388F4460-24C3-240C-539A-6A4798396CB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9343" y="1418843"/>
            <a:ext cx="8573262" cy="428663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9067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Inequality + Region </a:t>
            </a:r>
            <a:r>
              <a:rPr lang="en-GB" b="0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/>
              <a:t>Social trust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Comparisons and Associations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Slide </a:t>
            </a:r>
            <a:fld id="{C5EF2332-01BF-834F-8236-50238282D53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CD17F-A726-D793-29D0-2E344835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D205ED-8448-CB12-483E-6A2D5FE1D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56" y="2112798"/>
            <a:ext cx="10001771" cy="316722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530B3D8-2727-C11F-16E6-3F88C710044A}"/>
              </a:ext>
            </a:extLst>
          </p:cNvPr>
          <p:cNvSpPr/>
          <p:nvPr/>
        </p:nvSpPr>
        <p:spPr>
          <a:xfrm>
            <a:off x="1996440" y="3429000"/>
            <a:ext cx="8814436" cy="1285875"/>
          </a:xfrm>
          <a:prstGeom prst="rect">
            <a:avLst/>
          </a:prstGeom>
          <a:solidFill>
            <a:srgbClr val="DA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54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2CBA3A-E59C-1E5C-37CA-CD0F1E18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Workshop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6F7FD2-53FA-4A51-9681-6FC5C896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1-3pm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334B-2A42-251C-845C-1CED23366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48055-4F62-3048-C4D2-554FF004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35960-24E1-CFDC-22DF-A828C2B2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pPr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129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CA108-CB1D-5541-DFA5-C4B6F5FB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Questions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0E86ADC-9F29-16A6-FCC9-F4480732B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A.  Are </a:t>
            </a:r>
            <a:r>
              <a:rPr lang="en-GB" b="1" dirty="0"/>
              <a:t>religious</a:t>
            </a:r>
            <a:r>
              <a:rPr lang="en-GB" dirty="0"/>
              <a:t> people more </a:t>
            </a:r>
            <a:r>
              <a:rPr lang="en-GB" b="1" dirty="0"/>
              <a:t>satisfied</a:t>
            </a:r>
            <a:r>
              <a:rPr lang="en-GB" dirty="0"/>
              <a:t> with life?</a:t>
            </a:r>
          </a:p>
          <a:p>
            <a:r>
              <a:rPr lang="en-GB" dirty="0"/>
              <a:t>B.  Are </a:t>
            </a:r>
            <a:r>
              <a:rPr lang="en-GB" b="1" dirty="0"/>
              <a:t>older</a:t>
            </a:r>
            <a:r>
              <a:rPr lang="en-GB" dirty="0"/>
              <a:t> people more likely to see the </a:t>
            </a:r>
            <a:r>
              <a:rPr lang="en-GB" b="1" dirty="0"/>
              <a:t>death penalty as justifiable</a:t>
            </a:r>
            <a:r>
              <a:rPr lang="en-GB" dirty="0"/>
              <a:t>?</a:t>
            </a:r>
          </a:p>
          <a:p>
            <a:r>
              <a:rPr lang="en-GB" dirty="0"/>
              <a:t>C.  What </a:t>
            </a:r>
            <a:r>
              <a:rPr lang="en-GB" b="1" dirty="0"/>
              <a:t>factors</a:t>
            </a:r>
            <a:r>
              <a:rPr lang="en-GB" dirty="0"/>
              <a:t> are associated with </a:t>
            </a:r>
            <a:r>
              <a:rPr lang="en-GB" b="1" dirty="0"/>
              <a:t>opinions about future European Union enlargement </a:t>
            </a:r>
            <a:r>
              <a:rPr lang="en-GB" dirty="0"/>
              <a:t>among Europeans?</a:t>
            </a:r>
          </a:p>
          <a:p>
            <a:r>
              <a:rPr lang="en-GB" dirty="0"/>
              <a:t>D.  Is higher </a:t>
            </a:r>
            <a:r>
              <a:rPr lang="en-GB" b="1" dirty="0"/>
              <a:t>internet use </a:t>
            </a:r>
            <a:r>
              <a:rPr lang="en-GB" dirty="0"/>
              <a:t>associated with stronger </a:t>
            </a:r>
            <a:r>
              <a:rPr lang="en-GB" b="1" dirty="0"/>
              <a:t>anti-immigrant sentiments</a:t>
            </a:r>
            <a:r>
              <a:rPr lang="en-GB" dirty="0"/>
              <a:t>?</a:t>
            </a:r>
          </a:p>
          <a:p>
            <a:r>
              <a:rPr lang="en-GB" dirty="0"/>
              <a:t>E.  How does </a:t>
            </a:r>
            <a:r>
              <a:rPr lang="en-GB" b="1" dirty="0"/>
              <a:t>victimisation</a:t>
            </a:r>
            <a:r>
              <a:rPr lang="en-GB" dirty="0"/>
              <a:t> relate to </a:t>
            </a:r>
            <a:r>
              <a:rPr lang="en-GB" b="1" dirty="0"/>
              <a:t>trust in the police</a:t>
            </a:r>
            <a:r>
              <a:rPr lang="en-GB" dirty="0"/>
              <a:t>?</a:t>
            </a:r>
          </a:p>
          <a:p>
            <a:r>
              <a:rPr lang="en-GB" dirty="0"/>
              <a:t>F.  What </a:t>
            </a:r>
            <a:r>
              <a:rPr lang="en-GB" b="1" dirty="0"/>
              <a:t>factors</a:t>
            </a:r>
            <a:r>
              <a:rPr lang="en-GB" dirty="0"/>
              <a:t> are associated with </a:t>
            </a:r>
            <a:r>
              <a:rPr lang="en-GB" b="1" dirty="0"/>
              <a:t>belief in life after death</a:t>
            </a:r>
            <a:r>
              <a:rPr lang="en-GB" dirty="0"/>
              <a:t>?</a:t>
            </a:r>
          </a:p>
          <a:p>
            <a:r>
              <a:rPr lang="en-GB" dirty="0"/>
              <a:t>G.  Are government/public </a:t>
            </a:r>
            <a:r>
              <a:rPr lang="en-GB" b="1" dirty="0"/>
              <a:t>sector</a:t>
            </a:r>
            <a:r>
              <a:rPr lang="en-GB" dirty="0"/>
              <a:t> employees more inclined to </a:t>
            </a:r>
            <a:r>
              <a:rPr lang="en-GB" b="1" dirty="0"/>
              <a:t>perceive higher levels of corruption</a:t>
            </a:r>
            <a:r>
              <a:rPr lang="en-GB" dirty="0"/>
              <a:t> than those working in the private sector?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4CD3D-6209-B71E-328E-3CEE4431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2AC9-C062-ACDA-78EB-2E5B2DF3B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A58D7-3FC7-1868-4188-EE9D3329F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A51BB-2FC0-4DB8-B50E-F52D50E733B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1853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AE4DB1-6B08-6AEB-B597-8064268F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8 October 2024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2723A-2C1C-2AB6-3420-9BD762F76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Comparisons and Associations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FD3A0-9074-636F-30B6-C6C650C3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FAA51BB-2FC0-4DB8-B50E-F52D50E733B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09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Moreh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F739B"/>
      </a:accent1>
      <a:accent2>
        <a:srgbClr val="1F394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B88C00"/>
      </a:hlink>
      <a:folHlink>
        <a:srgbClr val="B88C0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reh template.pptx" id="{976FE89A-DE24-46CA-AC0C-F592F46D6A11}" vid="{6FA3B6B4-ED01-4468-97EF-FE3176612C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24.07.16-Osaka</Template>
  <TotalTime>3658</TotalTime>
  <Words>524</Words>
  <Application>Microsoft Office PowerPoint</Application>
  <PresentationFormat>Widescreen</PresentationFormat>
  <Paragraphs>132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Aptos</vt:lpstr>
      <vt:lpstr>Arial</vt:lpstr>
      <vt:lpstr>Arial Narrow</vt:lpstr>
      <vt:lpstr>Arial Nova Cond Light</vt:lpstr>
      <vt:lpstr>ArialMT</vt:lpstr>
      <vt:lpstr>Calibri</vt:lpstr>
      <vt:lpstr>Calibri Light</vt:lpstr>
      <vt:lpstr>Cambria Math</vt:lpstr>
      <vt:lpstr>Courier New</vt:lpstr>
      <vt:lpstr>Wingdings</vt:lpstr>
      <vt:lpstr>Retrospect</vt:lpstr>
      <vt:lpstr>PowerPoint Presentation</vt:lpstr>
      <vt:lpstr>Week 9</vt:lpstr>
      <vt:lpstr>Continuous outcomes?</vt:lpstr>
      <vt:lpstr>Continuous outcomes?</vt:lpstr>
      <vt:lpstr>Continuous outcomes?</vt:lpstr>
      <vt:lpstr>Continuous outcomes?</vt:lpstr>
      <vt:lpstr>How is income inequality associated with social trust?</vt:lpstr>
      <vt:lpstr>Does inequality explain social trust?</vt:lpstr>
      <vt:lpstr>The spirit level (2010)</vt:lpstr>
      <vt:lpstr>What is a ‘best’ line?</vt:lpstr>
      <vt:lpstr>Inequality  Social trust</vt:lpstr>
      <vt:lpstr>Inequality  Social trust</vt:lpstr>
      <vt:lpstr>Inequality  Social trust</vt:lpstr>
      <vt:lpstr>Inequality  Social trust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Inequality + Region  Social trust</vt:lpstr>
      <vt:lpstr>Inequality + Region  Social trust</vt:lpstr>
      <vt:lpstr>Workshop</vt:lpstr>
      <vt:lpstr>Assignment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Moreh</dc:creator>
  <cp:lastModifiedBy>Chris Moreh</cp:lastModifiedBy>
  <cp:revision>4</cp:revision>
  <dcterms:created xsi:type="dcterms:W3CDTF">2024-07-11T13:35:49Z</dcterms:created>
  <dcterms:modified xsi:type="dcterms:W3CDTF">2025-11-24T10:58:40Z</dcterms:modified>
</cp:coreProperties>
</file>