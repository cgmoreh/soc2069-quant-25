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07" r:id="rId3"/>
    <p:sldId id="522" r:id="rId4"/>
    <p:sldId id="565" r:id="rId5"/>
    <p:sldId id="412" r:id="rId6"/>
    <p:sldId id="413" r:id="rId7"/>
    <p:sldId id="416" r:id="rId8"/>
    <p:sldId id="417" r:id="rId9"/>
    <p:sldId id="418" r:id="rId10"/>
    <p:sldId id="419" r:id="rId11"/>
    <p:sldId id="415" r:id="rId12"/>
    <p:sldId id="420" r:id="rId13"/>
    <p:sldId id="257" r:id="rId14"/>
    <p:sldId id="259" r:id="rId15"/>
    <p:sldId id="569" r:id="rId16"/>
    <p:sldId id="262" r:id="rId17"/>
    <p:sldId id="263" r:id="rId18"/>
    <p:sldId id="422" r:id="rId19"/>
    <p:sldId id="423" r:id="rId20"/>
    <p:sldId id="425" r:id="rId21"/>
    <p:sldId id="354" r:id="rId22"/>
    <p:sldId id="523" r:id="rId23"/>
    <p:sldId id="26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DA0000"/>
    <a:srgbClr val="3F739B"/>
    <a:srgbClr val="174CF7"/>
    <a:srgbClr val="E4C8C8"/>
    <a:srgbClr val="E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27" autoAdjust="0"/>
  </p:normalViewPr>
  <p:slideViewPr>
    <p:cSldViewPr snapToGrid="0">
      <p:cViewPr varScale="1">
        <p:scale>
          <a:sx n="105" d="100"/>
          <a:sy n="105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67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oreh" userId="17b81281-9f29-44e0-9273-6dadbf6896a2" providerId="ADAL" clId="{BCF66164-2C9C-4B48-AFF3-6B0B0038345A}"/>
    <pc:docChg chg="modSld">
      <pc:chgData name="Chris Moreh" userId="17b81281-9f29-44e0-9273-6dadbf6896a2" providerId="ADAL" clId="{BCF66164-2C9C-4B48-AFF3-6B0B0038345A}" dt="2025-12-01T10:34:44.731" v="2" actId="20577"/>
      <pc:docMkLst>
        <pc:docMk/>
      </pc:docMkLst>
      <pc:sldChg chg="modSp mod">
        <pc:chgData name="Chris Moreh" userId="17b81281-9f29-44e0-9273-6dadbf6896a2" providerId="ADAL" clId="{BCF66164-2C9C-4B48-AFF3-6B0B0038345A}" dt="2025-12-01T10:34:44.731" v="2" actId="20577"/>
        <pc:sldMkLst>
          <pc:docMk/>
          <pc:sldMk cId="3814459198" sldId="307"/>
        </pc:sldMkLst>
        <pc:spChg chg="mod">
          <ac:chgData name="Chris Moreh" userId="17b81281-9f29-44e0-9273-6dadbf6896a2" providerId="ADAL" clId="{BCF66164-2C9C-4B48-AFF3-6B0B0038345A}" dt="2025-12-01T10:34:44.731" v="2" actId="20577"/>
          <ac:spMkLst>
            <pc:docMk/>
            <pc:sldMk cId="3814459198" sldId="307"/>
            <ac:spMk id="6" creationId="{24060982-6EE3-A8F1-75FE-C4BDB2FF3CB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FBD195-041F-A9A0-1644-740C91990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01E07-BD6F-76A0-E2F3-6F9E834A0E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203E3-7C81-41A5-A697-954FF252F964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BD701-2DB0-B4B2-C5BD-0490DCBA57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1DA51-44A7-C88C-C39E-6DA6922B2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50DA-C3C8-4D4F-9A52-26049FB52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1809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54BCB-1937-48CE-9F00-49B381FEB4E9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A333E-A95D-42FE-9CF0-D7FBE7CB0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4482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504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490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053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4673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49E1-B49B-4EB2-8824-C1420F95C67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310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49E1-B49B-4EB2-8824-C1420F95C67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56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450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49E1-B49B-4EB2-8824-C1420F95C67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083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49E1-B49B-4EB2-8824-C1420F95C67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23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649E1-B49B-4EB2-8824-C1420F95C67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857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7270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810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hrismoreh.com/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www.ncl.ac.uk/gps/staff/profile/chrismoreh.html" TargetMode="External"/><Relationship Id="rId7" Type="http://schemas.openxmlformats.org/officeDocument/2006/relationships/hyperlink" Target="mailto:chris.moreh@ncl.ac.uk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11" Type="http://schemas.openxmlformats.org/officeDocument/2006/relationships/hyperlink" Target="https://www.linkedin.com/in/cgm-phd/" TargetMode="Externa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hyperlink" Target="https://twitter.com/cgmoreh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github.com/CGMoreh" TargetMode="External"/><Relationship Id="rId1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svg"/><Relationship Id="rId21" Type="http://schemas.openxmlformats.org/officeDocument/2006/relationships/image" Target="../media/image30.svg"/><Relationship Id="rId34" Type="http://schemas.openxmlformats.org/officeDocument/2006/relationships/image" Target="../media/image43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svg"/><Relationship Id="rId41" Type="http://schemas.openxmlformats.org/officeDocument/2006/relationships/image" Target="../media/image5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svg"/><Relationship Id="rId40" Type="http://schemas.openxmlformats.org/officeDocument/2006/relationships/image" Target="../media/image49.pn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31" Type="http://schemas.openxmlformats.org/officeDocument/2006/relationships/image" Target="../media/image4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4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svg"/><Relationship Id="rId7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svg"/><Relationship Id="rId18" Type="http://schemas.openxmlformats.org/officeDocument/2006/relationships/image" Target="../media/image21.png"/><Relationship Id="rId3" Type="http://schemas.openxmlformats.org/officeDocument/2006/relationships/image" Target="../media/image12.svg"/><Relationship Id="rId21" Type="http://schemas.openxmlformats.org/officeDocument/2006/relationships/image" Target="../media/image14.svg"/><Relationship Id="rId7" Type="http://schemas.openxmlformats.org/officeDocument/2006/relationships/image" Target="../media/image16.svg"/><Relationship Id="rId12" Type="http://schemas.openxmlformats.org/officeDocument/2006/relationships/image" Target="../media/image27.png"/><Relationship Id="rId17" Type="http://schemas.openxmlformats.org/officeDocument/2006/relationships/image" Target="../media/image30.svg"/><Relationship Id="rId2" Type="http://schemas.openxmlformats.org/officeDocument/2006/relationships/image" Target="../media/image11.png"/><Relationship Id="rId16" Type="http://schemas.openxmlformats.org/officeDocument/2006/relationships/image" Target="../media/image29.png"/><Relationship Id="rId20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5" Type="http://schemas.openxmlformats.org/officeDocument/2006/relationships/image" Target="../media/image20.svg"/><Relationship Id="rId10" Type="http://schemas.openxmlformats.org/officeDocument/2006/relationships/image" Target="../media/image17.png"/><Relationship Id="rId19" Type="http://schemas.openxmlformats.org/officeDocument/2006/relationships/image" Target="../media/image22.svg"/><Relationship Id="rId4" Type="http://schemas.openxmlformats.org/officeDocument/2006/relationships/image" Target="../media/image23.png"/><Relationship Id="rId9" Type="http://schemas.openxmlformats.org/officeDocument/2006/relationships/image" Target="../media/image26.svg"/><Relationship Id="rId14" Type="http://schemas.openxmlformats.org/officeDocument/2006/relationships/image" Target="../media/image1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hyperlink" Target="https://www.linkedin.com/in/cgm-phd/" TargetMode="External"/><Relationship Id="rId18" Type="http://schemas.openxmlformats.org/officeDocument/2006/relationships/image" Target="../media/image9.png"/><Relationship Id="rId3" Type="http://schemas.openxmlformats.org/officeDocument/2006/relationships/image" Target="../media/image51.png"/><Relationship Id="rId7" Type="http://schemas.openxmlformats.org/officeDocument/2006/relationships/image" Target="../media/image3.png"/><Relationship Id="rId12" Type="http://schemas.openxmlformats.org/officeDocument/2006/relationships/hyperlink" Target="https://twitter.com/cgmoreh" TargetMode="External"/><Relationship Id="rId17" Type="http://schemas.openxmlformats.org/officeDocument/2006/relationships/image" Target="../media/image8.png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3.svg"/><Relationship Id="rId11" Type="http://schemas.openxmlformats.org/officeDocument/2006/relationships/hyperlink" Target="https://github.com/CGMoreh" TargetMode="External"/><Relationship Id="rId5" Type="http://schemas.openxmlformats.org/officeDocument/2006/relationships/image" Target="../media/image52.png"/><Relationship Id="rId15" Type="http://schemas.openxmlformats.org/officeDocument/2006/relationships/image" Target="../media/image6.png"/><Relationship Id="rId10" Type="http://schemas.openxmlformats.org/officeDocument/2006/relationships/hyperlink" Target="https://www.chrismoreh.com/" TargetMode="External"/><Relationship Id="rId19" Type="http://schemas.openxmlformats.org/officeDocument/2006/relationships/image" Target="../media/image54.png"/><Relationship Id="rId4" Type="http://schemas.microsoft.com/office/2007/relationships/hdphoto" Target="../media/hdphoto1.wdp"/><Relationship Id="rId9" Type="http://schemas.openxmlformats.org/officeDocument/2006/relationships/hyperlink" Target="mailto:chris.moreh@ncl.ac.uk" TargetMode="External"/><Relationship Id="rId1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80000"/>
            <a:lum/>
          </a:blip>
          <a:srcRect/>
          <a:stretch>
            <a:fillRect l="2000" r="2000" b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598116"/>
            <a:ext cx="98755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4B1F7A-19A6-1CF3-BEAB-784AD8D53EB1}"/>
              </a:ext>
            </a:extLst>
          </p:cNvPr>
          <p:cNvSpPr txBox="1"/>
          <p:nvPr userDrawn="1"/>
        </p:nvSpPr>
        <p:spPr>
          <a:xfrm>
            <a:off x="1076962" y="4981037"/>
            <a:ext cx="32986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hlinkClick r:id="rId3"/>
              </a:rPr>
              <a:t>Dr Chris Moreh</a:t>
            </a:r>
            <a:endParaRPr lang="en-GB" sz="2400" b="1" dirty="0"/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Lecturer (Assistant Professor) in Sociology</a:t>
            </a:r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Newcastle University (UK)</a:t>
            </a:r>
          </a:p>
        </p:txBody>
      </p:sp>
      <p:pic>
        <p:nvPicPr>
          <p:cNvPr id="17" name="Picture 12" descr="Partners; Sustaining Creative Economies ...">
            <a:extLst>
              <a:ext uri="{FF2B5EF4-FFF2-40B4-BE49-F238E27FC236}">
                <a16:creationId xmlns:a16="http://schemas.microsoft.com/office/drawing/2014/main" id="{5E3F19EF-7B80-6D97-E3A7-968224B762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455" y="5559906"/>
            <a:ext cx="879898" cy="49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47E78DF-0172-CCB2-A101-66933B097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5271" y="4969095"/>
            <a:ext cx="2466369" cy="8119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66C7AD-815A-A77E-DFE5-343F532EBF9A}"/>
              </a:ext>
            </a:extLst>
          </p:cNvPr>
          <p:cNvSpPr txBox="1"/>
          <p:nvPr userDrawn="1"/>
        </p:nvSpPr>
        <p:spPr>
          <a:xfrm>
            <a:off x="5214979" y="4804497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7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8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8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1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49FC35-C474-B9EE-00BD-BC74BCEB8E9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 flipH="1">
            <a:off x="5230888" y="5140634"/>
            <a:ext cx="174474" cy="1800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F9EC77A0-6416-6CCB-C929-DDC0F09623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359" y="5607125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F971661E-6DFA-370A-89DD-D2BC0DED9D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62" y="5875809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210423AF-0922-B2C9-F283-0DAD228B18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877" y="535357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A29CD3B3-0963-AF7B-DAAC-629686F339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888" y="4898445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35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3F75-4629-998C-D4E2-8B503E84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60149-4935-39AC-F9A6-3A67DF92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F1058-E5AB-75EB-3440-399DB9E1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AAE89-1CB8-B1D2-4FC2-01A5F935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064384DD-349E-96E1-9F2A-86B3CB91E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77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745" y="286604"/>
            <a:ext cx="9448800" cy="911576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77856388-EE09-056A-2FE4-8DA8669CE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51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69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22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75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 l="-1000" r="-1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539630" y="1128947"/>
            <a:ext cx="6468395" cy="31162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4452" y="1340856"/>
            <a:ext cx="6218753" cy="1475916"/>
          </a:xfrm>
        </p:spPr>
        <p:txBody>
          <a:bodyPr lIns="91440" tIns="0" rIns="91440" bIns="0" anchor="b">
            <a:noAutofit/>
          </a:bodyPr>
          <a:lstStyle>
            <a:lvl1pPr>
              <a:defRPr sz="54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4452" y="3094377"/>
            <a:ext cx="6218753" cy="9722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32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31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362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557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176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Logistic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64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28854-50C7-416D-09D3-A8563C85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43B67-CE49-0A0C-7F9C-757FF38A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70A5F-B5E2-79CD-FCA0-21992A61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4975CB-2B2F-AABC-1BEA-AC019045F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745" y="286604"/>
            <a:ext cx="10398935" cy="911576"/>
          </a:xfrm>
        </p:spPr>
        <p:txBody>
          <a:bodyPr/>
          <a:lstStyle>
            <a:lvl1pPr>
              <a:defRPr/>
            </a:lvl1pPr>
          </a:lstStyle>
          <a:p>
            <a:r>
              <a:rPr lang="en-GB" b="1" dirty="0"/>
              <a:t>Numbered bullets</a:t>
            </a:r>
          </a:p>
        </p:txBody>
      </p:sp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EEDCACCF-0446-119C-CB06-6CC1142E7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9836" y="1872658"/>
            <a:ext cx="468000" cy="468000"/>
          </a:xfrm>
          <a:prstGeom prst="rect">
            <a:avLst/>
          </a:prstGeom>
        </p:spPr>
      </p:pic>
      <p:pic>
        <p:nvPicPr>
          <p:cNvPr id="8" name="Graphic 7" descr="Badge 10 with solid fill">
            <a:extLst>
              <a:ext uri="{FF2B5EF4-FFF2-40B4-BE49-F238E27FC236}">
                <a16:creationId xmlns:a16="http://schemas.microsoft.com/office/drawing/2014/main" id="{7F8BE7BD-9E19-44BB-2FE3-12ED9FDF94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8331" y="1876667"/>
            <a:ext cx="468000" cy="468000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F9F887CA-CB36-8ED8-6315-DC7D01B490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0601" y="1878489"/>
            <a:ext cx="468000" cy="468000"/>
          </a:xfrm>
          <a:prstGeom prst="rect">
            <a:avLst/>
          </a:prstGeom>
        </p:spPr>
      </p:pic>
      <p:pic>
        <p:nvPicPr>
          <p:cNvPr id="10" name="Graphic 9" descr="Badge 3 with solid fill">
            <a:extLst>
              <a:ext uri="{FF2B5EF4-FFF2-40B4-BE49-F238E27FC236}">
                <a16:creationId xmlns:a16="http://schemas.microsoft.com/office/drawing/2014/main" id="{825A6F75-9C1C-A95D-D6DA-109E9EBA52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7342" y="1872658"/>
            <a:ext cx="468000" cy="468000"/>
          </a:xfrm>
          <a:prstGeom prst="rect">
            <a:avLst/>
          </a:prstGeom>
        </p:spPr>
      </p:pic>
      <p:pic>
        <p:nvPicPr>
          <p:cNvPr id="11" name="Graphic 10" descr="Badge 4 with solid fill">
            <a:extLst>
              <a:ext uri="{FF2B5EF4-FFF2-40B4-BE49-F238E27FC236}">
                <a16:creationId xmlns:a16="http://schemas.microsoft.com/office/drawing/2014/main" id="{60351B4A-6BB3-B9DA-023E-187EE4E1634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94542" y="1881516"/>
            <a:ext cx="468000" cy="468000"/>
          </a:xfrm>
          <a:prstGeom prst="rect">
            <a:avLst/>
          </a:prstGeom>
        </p:spPr>
      </p:pic>
      <p:pic>
        <p:nvPicPr>
          <p:cNvPr id="12" name="Graphic 11" descr="Badge 5 with solid fill">
            <a:extLst>
              <a:ext uri="{FF2B5EF4-FFF2-40B4-BE49-F238E27FC236}">
                <a16:creationId xmlns:a16="http://schemas.microsoft.com/office/drawing/2014/main" id="{1A300893-C177-035B-A219-FC6049E2DC7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50483" y="1880076"/>
            <a:ext cx="468000" cy="468000"/>
          </a:xfrm>
          <a:prstGeom prst="rect">
            <a:avLst/>
          </a:prstGeom>
        </p:spPr>
      </p:pic>
      <p:pic>
        <p:nvPicPr>
          <p:cNvPr id="13" name="Graphic 12" descr="Badge 6 with solid fill">
            <a:extLst>
              <a:ext uri="{FF2B5EF4-FFF2-40B4-BE49-F238E27FC236}">
                <a16:creationId xmlns:a16="http://schemas.microsoft.com/office/drawing/2014/main" id="{063091E7-A963-EF50-B2F2-C6CCFD335CF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21248" y="1882631"/>
            <a:ext cx="468000" cy="468000"/>
          </a:xfrm>
          <a:prstGeom prst="rect">
            <a:avLst/>
          </a:prstGeom>
        </p:spPr>
      </p:pic>
      <p:pic>
        <p:nvPicPr>
          <p:cNvPr id="14" name="Graphic 13" descr="Badge 7 with solid fill">
            <a:extLst>
              <a:ext uri="{FF2B5EF4-FFF2-40B4-BE49-F238E27FC236}">
                <a16:creationId xmlns:a16="http://schemas.microsoft.com/office/drawing/2014/main" id="{7412FF20-691E-38CC-D8B3-456AF73DB55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63624" y="1884307"/>
            <a:ext cx="468000" cy="468000"/>
          </a:xfrm>
          <a:prstGeom prst="rect">
            <a:avLst/>
          </a:prstGeom>
        </p:spPr>
      </p:pic>
      <p:pic>
        <p:nvPicPr>
          <p:cNvPr id="15" name="Graphic 14" descr="Badge 8 with solid fill">
            <a:extLst>
              <a:ext uri="{FF2B5EF4-FFF2-40B4-BE49-F238E27FC236}">
                <a16:creationId xmlns:a16="http://schemas.microsoft.com/office/drawing/2014/main" id="{F71DD924-767F-6F93-1AF3-D96571DEC0C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06000" y="1883485"/>
            <a:ext cx="468000" cy="468000"/>
          </a:xfrm>
          <a:prstGeom prst="rect">
            <a:avLst/>
          </a:prstGeom>
        </p:spPr>
      </p:pic>
      <p:pic>
        <p:nvPicPr>
          <p:cNvPr id="16" name="Graphic 15" descr="Badge 9 with solid fill">
            <a:extLst>
              <a:ext uri="{FF2B5EF4-FFF2-40B4-BE49-F238E27FC236}">
                <a16:creationId xmlns:a16="http://schemas.microsoft.com/office/drawing/2014/main" id="{05746AA2-07AD-BB3D-8AC7-7E01AE9FFD6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64706" y="1880076"/>
            <a:ext cx="468000" cy="468000"/>
          </a:xfrm>
          <a:prstGeom prst="rect">
            <a:avLst/>
          </a:prstGeom>
        </p:spPr>
      </p:pic>
      <p:pic>
        <p:nvPicPr>
          <p:cNvPr id="28" name="Graphic 27" descr="Badge 1 outline">
            <a:extLst>
              <a:ext uri="{FF2B5EF4-FFF2-40B4-BE49-F238E27FC236}">
                <a16:creationId xmlns:a16="http://schemas.microsoft.com/office/drawing/2014/main" id="{377A0617-1C4D-93A7-0816-74355CD27482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00935" y="2382047"/>
            <a:ext cx="914400" cy="914400"/>
          </a:xfrm>
          <a:prstGeom prst="rect">
            <a:avLst/>
          </a:prstGeom>
        </p:spPr>
      </p:pic>
      <p:pic>
        <p:nvPicPr>
          <p:cNvPr id="32" name="Graphic 31" descr="Badge outline">
            <a:extLst>
              <a:ext uri="{FF2B5EF4-FFF2-40B4-BE49-F238E27FC236}">
                <a16:creationId xmlns:a16="http://schemas.microsoft.com/office/drawing/2014/main" id="{328E83A1-A5CF-14CE-994B-9FC912A453D5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917798" y="2368814"/>
            <a:ext cx="914400" cy="914400"/>
          </a:xfrm>
          <a:prstGeom prst="rect">
            <a:avLst/>
          </a:prstGeom>
        </p:spPr>
      </p:pic>
      <p:pic>
        <p:nvPicPr>
          <p:cNvPr id="34" name="Graphic 33" descr="Badge 3 outline">
            <a:extLst>
              <a:ext uri="{FF2B5EF4-FFF2-40B4-BE49-F238E27FC236}">
                <a16:creationId xmlns:a16="http://schemas.microsoft.com/office/drawing/2014/main" id="{B8DB6A5A-BA59-B575-8EAE-1F62375C482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22942" y="2360054"/>
            <a:ext cx="914400" cy="914400"/>
          </a:xfrm>
          <a:prstGeom prst="rect">
            <a:avLst/>
          </a:prstGeom>
        </p:spPr>
      </p:pic>
      <p:pic>
        <p:nvPicPr>
          <p:cNvPr id="36" name="Graphic 35" descr="Badge 4 outline">
            <a:extLst>
              <a:ext uri="{FF2B5EF4-FFF2-40B4-BE49-F238E27FC236}">
                <a16:creationId xmlns:a16="http://schemas.microsoft.com/office/drawing/2014/main" id="{7D7894F2-405D-D537-E8CD-FFC2FD562CEA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653533" y="2382047"/>
            <a:ext cx="914400" cy="914400"/>
          </a:xfrm>
          <a:prstGeom prst="rect">
            <a:avLst/>
          </a:prstGeom>
        </p:spPr>
      </p:pic>
      <p:pic>
        <p:nvPicPr>
          <p:cNvPr id="38" name="Graphic 37" descr="Badge 5 outline">
            <a:extLst>
              <a:ext uri="{FF2B5EF4-FFF2-40B4-BE49-F238E27FC236}">
                <a16:creationId xmlns:a16="http://schemas.microsoft.com/office/drawing/2014/main" id="{CCB95B5E-BCD4-CD6A-8DA0-49EF454DFC6B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70396" y="2382047"/>
            <a:ext cx="914400" cy="914400"/>
          </a:xfrm>
          <a:prstGeom prst="rect">
            <a:avLst/>
          </a:prstGeom>
        </p:spPr>
      </p:pic>
      <p:pic>
        <p:nvPicPr>
          <p:cNvPr id="40" name="Graphic 39" descr="Badge 6 outline">
            <a:extLst>
              <a:ext uri="{FF2B5EF4-FFF2-40B4-BE49-F238E27FC236}">
                <a16:creationId xmlns:a16="http://schemas.microsoft.com/office/drawing/2014/main" id="{B2E42FE5-E882-BB0B-DF27-634BED68E17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87259" y="2360054"/>
            <a:ext cx="914400" cy="914400"/>
          </a:xfrm>
          <a:prstGeom prst="rect">
            <a:avLst/>
          </a:prstGeom>
        </p:spPr>
      </p:pic>
      <p:pic>
        <p:nvPicPr>
          <p:cNvPr id="42" name="Graphic 41" descr="Badge 7 outline">
            <a:extLst>
              <a:ext uri="{FF2B5EF4-FFF2-40B4-BE49-F238E27FC236}">
                <a16:creationId xmlns:a16="http://schemas.microsoft.com/office/drawing/2014/main" id="{4F474E09-0F6B-A545-A2FB-528D8342017C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04122" y="2382047"/>
            <a:ext cx="914400" cy="914400"/>
          </a:xfrm>
          <a:prstGeom prst="rect">
            <a:avLst/>
          </a:prstGeom>
        </p:spPr>
      </p:pic>
      <p:pic>
        <p:nvPicPr>
          <p:cNvPr id="44" name="Graphic 43" descr="Badge 8 outline">
            <a:extLst>
              <a:ext uri="{FF2B5EF4-FFF2-40B4-BE49-F238E27FC236}">
                <a16:creationId xmlns:a16="http://schemas.microsoft.com/office/drawing/2014/main" id="{E3982124-D3D3-AC60-CDFE-68CC967AC2ED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880662" y="2368814"/>
            <a:ext cx="914400" cy="914400"/>
          </a:xfrm>
          <a:prstGeom prst="rect">
            <a:avLst/>
          </a:prstGeom>
        </p:spPr>
      </p:pic>
      <p:pic>
        <p:nvPicPr>
          <p:cNvPr id="46" name="Graphic 45" descr="Badge 9 outline">
            <a:extLst>
              <a:ext uri="{FF2B5EF4-FFF2-40B4-BE49-F238E27FC236}">
                <a16:creationId xmlns:a16="http://schemas.microsoft.com/office/drawing/2014/main" id="{D98F73D0-5CF6-543B-2C7E-39B53C836163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686300" y="2368814"/>
            <a:ext cx="914400" cy="914400"/>
          </a:xfrm>
          <a:prstGeom prst="rect">
            <a:avLst/>
          </a:prstGeom>
        </p:spPr>
      </p:pic>
      <p:pic>
        <p:nvPicPr>
          <p:cNvPr id="48" name="Graphic 47" descr="Badge 10 outline">
            <a:extLst>
              <a:ext uri="{FF2B5EF4-FFF2-40B4-BE49-F238E27FC236}">
                <a16:creationId xmlns:a16="http://schemas.microsoft.com/office/drawing/2014/main" id="{9596ECA7-08AD-60AD-126A-2D32F85555E2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474065" y="23630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45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283" y="606093"/>
            <a:ext cx="9876849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952401"/>
              </p:ext>
            </p:extLst>
          </p:nvPr>
        </p:nvGraphicFramePr>
        <p:xfrm>
          <a:off x="1335634" y="1993748"/>
          <a:ext cx="9626149" cy="257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9086149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one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two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three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8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four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49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399" y="689938"/>
            <a:ext cx="10115202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96315249"/>
              </p:ext>
            </p:extLst>
          </p:nvPr>
        </p:nvGraphicFramePr>
        <p:xfrm>
          <a:off x="726954" y="1971714"/>
          <a:ext cx="10440000" cy="328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61192458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99644677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Edit in Master slide view</a:t>
                      </a:r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0"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8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0">
                        <a:extLs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2">
                        <a:extLst>
                          <a:ext uri="{96DAC541-7B7A-43D3-8B79-37D633B846F1}">
                            <asvg:svgBlip xmlns:asvg="http://schemas.microsoft.com/office/drawing/2016/SVG/main" r:embed="rId1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4">
                        <a:extLst>
                          <a:ext uri="{96DAC541-7B7A-43D3-8B79-37D633B846F1}">
                            <asvg:svgBlip xmlns:asvg="http://schemas.microsoft.com/office/drawing/2016/SVG/main" r:embed="rId1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6">
                        <a:extLst>
                          <a:ext uri="{96DAC541-7B7A-43D3-8B79-37D633B846F1}">
                            <asvg:svgBlip xmlns:asvg="http://schemas.microsoft.com/office/drawing/2016/SVG/main" r:embed="rId1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8">
                        <a:extLst>
                          <a:ext uri="{96DAC541-7B7A-43D3-8B79-37D633B846F1}">
                            <asvg:svgBlip xmlns:asvg="http://schemas.microsoft.com/office/drawing/2016/SVG/main" r:embed="rId1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0">
                        <a:extLst>
                          <a:ext uri="{96DAC541-7B7A-43D3-8B79-37D633B846F1}">
                            <asvg:svgBlip xmlns:asvg="http://schemas.microsoft.com/office/drawing/2016/SVG/main" r:embed="rId21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10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673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895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479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267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2" descr="Partners; Sustaining Creative Economies ...">
            <a:extLst>
              <a:ext uri="{FF2B5EF4-FFF2-40B4-BE49-F238E27FC236}">
                <a16:creationId xmlns:a16="http://schemas.microsoft.com/office/drawing/2014/main" id="{C213A523-D735-8490-152A-23415FF254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991" y="5440123"/>
            <a:ext cx="1342114" cy="75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9AE9B-1271-7638-B347-A5F464D2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3BAF4-52A6-7AC7-8C6F-183586D9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3AA3C-DFA6-2BE6-3BD0-0D6E6010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2A7E09F9-D2AF-737B-7EF3-D1714380AC3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44" b="94860" l="9780" r="89976">
                        <a14:foregroundMark x1="25672" y1="20093" x2="32152" y2="70327"/>
                        <a14:foregroundMark x1="32152" y1="70327" x2="79829" y2="87383"/>
                        <a14:foregroundMark x1="79829" y1="87383" x2="79095" y2="36682"/>
                        <a14:foregroundMark x1="79095" y1="36682" x2="64914" y2="14720"/>
                        <a14:foregroundMark x1="64914" y1="14720" x2="48533" y2="7944"/>
                        <a14:foregroundMark x1="48533" y1="7944" x2="30196" y2="13084"/>
                        <a14:foregroundMark x1="30196" y1="13084" x2="25306" y2="20561"/>
                        <a14:foregroundMark x1="21760" y1="39486" x2="25061" y2="78505"/>
                        <a14:foregroundMark x1="25061" y1="78505" x2="64670" y2="92056"/>
                        <a14:foregroundMark x1="64670" y1="92056" x2="78851" y2="91822"/>
                        <a14:foregroundMark x1="82641" y1="15187" x2="86675" y2="62850"/>
                        <a14:foregroundMark x1="86675" y1="62850" x2="80196" y2="94626"/>
                        <a14:foregroundMark x1="80196" y1="94626" x2="78117" y2="94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45" t="2011" r="13041"/>
          <a:stretch/>
        </p:blipFill>
        <p:spPr bwMode="auto">
          <a:xfrm>
            <a:off x="3480620" y="-23164"/>
            <a:ext cx="8635320" cy="635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Advertising outline">
            <a:extLst>
              <a:ext uri="{FF2B5EF4-FFF2-40B4-BE49-F238E27FC236}">
                <a16:creationId xmlns:a16="http://schemas.microsoft.com/office/drawing/2014/main" id="{1EDC15B8-2173-9DC7-DB3B-645E07D8406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1" y="208195"/>
            <a:ext cx="7304134" cy="675607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D1C29E7-0246-1CD7-8A1F-30707B7E185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94192" y="4729773"/>
            <a:ext cx="2851533" cy="938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8C7C2A-22F2-9C49-D70E-5C8A22C35019}"/>
              </a:ext>
            </a:extLst>
          </p:cNvPr>
          <p:cNvSpPr txBox="1"/>
          <p:nvPr userDrawn="1"/>
        </p:nvSpPr>
        <p:spPr>
          <a:xfrm>
            <a:off x="2189351" y="4909434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1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1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2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3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7CACF7-D679-73AB-9142-786DA076C3A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 flipH="1">
            <a:off x="2205260" y="5245571"/>
            <a:ext cx="174474" cy="180000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F5D755EC-05C2-0884-2C2F-74A7297B70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731" y="571206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40A42823-F60C-D577-74D9-FE8C3E3A62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734" y="5980746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>
            <a:extLst>
              <a:ext uri="{FF2B5EF4-FFF2-40B4-BE49-F238E27FC236}">
                <a16:creationId xmlns:a16="http://schemas.microsoft.com/office/drawing/2014/main" id="{ECDBB212-ABA5-CE0D-7F0C-C37D656E0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249" y="5458509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9AD65224-3024-068D-2B15-9BC7659705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092" y="5003382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3504B0-8CB3-256C-EF50-E93FEF75AC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l="14262" t="5451" r="9231" b="22240"/>
          <a:stretch/>
        </p:blipFill>
        <p:spPr>
          <a:xfrm>
            <a:off x="851647" y="1470212"/>
            <a:ext cx="5629836" cy="267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2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ECC6-7BD6-D9D0-DD8F-30FCF10DE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References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57D05-3B38-1245-894D-24581A24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7BA36-6C3C-C811-3047-B251D5B2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9F523-D9FC-8E93-1712-1B6E3DE7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FD4878-448B-C559-6183-304914140D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7238" y="1431925"/>
            <a:ext cx="10455275" cy="46577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6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A8F960-150E-CFFE-3EB5-036D92AC41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921059-ACFF-7915-A3D0-F9C1B13326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2734" y="3113785"/>
            <a:ext cx="6165348" cy="104878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990575" indent="-990575" algn="l">
              <a:buFont typeface="+mj-lt"/>
              <a:buAutoNum type="arabicPeriod"/>
              <a:defRPr sz="5867">
                <a:solidFill>
                  <a:srgbClr val="496F2F"/>
                </a:solidFill>
              </a:defRPr>
            </a:lvl1pPr>
          </a:lstStyle>
          <a:p>
            <a:r>
              <a:rPr lang="en-US" dirty="0"/>
              <a:t>Section number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BE298-0C12-3E53-D830-52A766E96A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5782" y="4309859"/>
            <a:ext cx="6972300" cy="1727200"/>
          </a:xfrm>
        </p:spPr>
        <p:txBody>
          <a:bodyPr/>
          <a:lstStyle>
            <a:lvl1pPr marL="482588" indent="-245527">
              <a:buFont typeface="Arial" panose="020B0604020202020204" pitchFamily="34" charset="0"/>
              <a:buChar char="•"/>
              <a:defRPr sz="1867"/>
            </a:lvl1pPr>
            <a:lvl2pPr marL="457189" indent="0">
              <a:buNone/>
              <a:defRPr sz="1600"/>
            </a:lvl2pPr>
            <a:lvl3pPr marL="596885" indent="0">
              <a:buNone/>
              <a:defRPr sz="1467"/>
            </a:lvl3pPr>
            <a:lvl4pPr marL="842412" indent="0">
              <a:buNone/>
              <a:defRPr sz="1400"/>
            </a:lvl4pPr>
            <a:lvl5pPr marL="1071007" indent="0">
              <a:buNone/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34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745" y="1477880"/>
            <a:ext cx="10398935" cy="468118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22 October 2024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Logistic regression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24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8" r:id="rId5"/>
    <p:sldLayoutId id="2147483669" r:id="rId6"/>
    <p:sldLayoutId id="2147483664" r:id="rId7"/>
    <p:sldLayoutId id="2147483665" r:id="rId8"/>
    <p:sldLayoutId id="2147483666" r:id="rId9"/>
    <p:sldLayoutId id="2147483667" r:id="rId10"/>
    <p:sldLayoutId id="2147483674" r:id="rId11"/>
    <p:sldLayoutId id="2147483676" r:id="rId12"/>
    <p:sldLayoutId id="2147483675" r:id="rId13"/>
    <p:sldLayoutId id="2147483670" r:id="rId14"/>
    <p:sldLayoutId id="2147483671" r:id="rId15"/>
    <p:sldLayoutId id="2147483673" r:id="rId16"/>
    <p:sldLayoutId id="2147483677" r:id="rId17"/>
    <p:sldLayoutId id="2147483678" r:id="rId18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spc="-50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20000"/>
        <a:buFont typeface="Arial Narrow" panose="020B0606020202030204" pitchFamily="34" charset="0"/>
        <a:buChar char="●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Courier New" panose="02070309020205020404" pitchFamily="49" charset="0"/>
        <a:buChar char="o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49808" indent="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None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gif"/><Relationship Id="rId4" Type="http://schemas.openxmlformats.org/officeDocument/2006/relationships/image" Target="../media/image5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gif"/><Relationship Id="rId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61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060982-6EE3-A8F1-75FE-C4BDB2FF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b="1" dirty="0"/>
              <a:t>Week 10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B5B6-7C9E-9DE5-8D2C-13D42F1F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4452" y="3094377"/>
            <a:ext cx="6369052" cy="972284"/>
          </a:xfrm>
        </p:spPr>
        <p:txBody>
          <a:bodyPr>
            <a:normAutofit lnSpcReduction="10000"/>
          </a:bodyPr>
          <a:lstStyle/>
          <a:p>
            <a:r>
              <a:rPr lang="en-GB" sz="3600" dirty="0"/>
              <a:t>Modelling </a:t>
            </a:r>
          </a:p>
          <a:p>
            <a:r>
              <a:rPr lang="en-GB" sz="3600" dirty="0"/>
              <a:t>dichotomous outcomes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383FB-FAD5-ACBF-8362-99A44C5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BC908-4805-889D-BE4F-455E3A44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81445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01D-2A10-AAC3-1006-C86286DC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Dichotomous outcomes?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D68425-0661-96D9-7968-6D84B219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94F2C-CF60-62B4-F1A2-1FA4B8ED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pic>
        <p:nvPicPr>
          <p:cNvPr id="6" name="Picture 2" descr="Image result for likert scale smiley faces">
            <a:extLst>
              <a:ext uri="{FF2B5EF4-FFF2-40B4-BE49-F238E27FC236}">
                <a16:creationId xmlns:a16="http://schemas.microsoft.com/office/drawing/2014/main" id="{82FD8197-AD3F-4E46-8396-3CB8693B1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280" y="3078065"/>
            <a:ext cx="4224413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8E259-4F4F-4490-8628-7C470BE51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16" y="1868536"/>
            <a:ext cx="2997546" cy="830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E870A-DE02-462E-B98D-FCDDFE3CE2F9}"/>
              </a:ext>
            </a:extLst>
          </p:cNvPr>
          <p:cNvSpPr txBox="1"/>
          <p:nvPr/>
        </p:nvSpPr>
        <p:spPr>
          <a:xfrm>
            <a:off x="3801192" y="1868538"/>
            <a:ext cx="1964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Nominal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A844F-925A-482F-AEA6-A1C19BC2B721}"/>
              </a:ext>
            </a:extLst>
          </p:cNvPr>
          <p:cNvSpPr txBox="1"/>
          <p:nvPr/>
        </p:nvSpPr>
        <p:spPr>
          <a:xfrm>
            <a:off x="3801192" y="3078066"/>
            <a:ext cx="1850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Ordinal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B7E98-6E18-4358-B76C-CC893A991317}"/>
              </a:ext>
            </a:extLst>
          </p:cNvPr>
          <p:cNvSpPr txBox="1"/>
          <p:nvPr/>
        </p:nvSpPr>
        <p:spPr>
          <a:xfrm>
            <a:off x="3834458" y="4287594"/>
            <a:ext cx="2261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Scale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Numeric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Discrete,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Ratio,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Interval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F84F0-2F32-EE01-4F3E-56D7F4AA9517}"/>
              </a:ext>
            </a:extLst>
          </p:cNvPr>
          <p:cNvSpPr txBox="1"/>
          <p:nvPr/>
        </p:nvSpPr>
        <p:spPr>
          <a:xfrm>
            <a:off x="732360" y="2397821"/>
            <a:ext cx="29037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3F739B"/>
                </a:solidFill>
              </a:rPr>
              <a:t>Variable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types </a:t>
            </a:r>
          </a:p>
          <a:p>
            <a:pPr algn="ctr"/>
            <a:r>
              <a:rPr lang="en-GB" sz="3600" b="1" dirty="0"/>
              <a:t>/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Measurement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levels</a:t>
            </a:r>
          </a:p>
        </p:txBody>
      </p:sp>
      <p:pic>
        <p:nvPicPr>
          <p:cNvPr id="2050" name="Picture 2" descr="The Celsius scale">
            <a:extLst>
              <a:ext uri="{FF2B5EF4-FFF2-40B4-BE49-F238E27FC236}">
                <a16:creationId xmlns:a16="http://schemas.microsoft.com/office/drawing/2014/main" id="{C997E3A0-D222-5B2F-26C5-CFE3945CE3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13" b="-9830"/>
          <a:stretch/>
        </p:blipFill>
        <p:spPr bwMode="auto">
          <a:xfrm>
            <a:off x="6093070" y="5331026"/>
            <a:ext cx="5599497" cy="57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EF8034-4035-F991-8D4D-C4D51217E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070" y="4232575"/>
            <a:ext cx="5201992" cy="92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51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01D-2A10-AAC3-1006-C86286DC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Dichotomous outcomes?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D68425-0661-96D9-7968-6D84B219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94F2C-CF60-62B4-F1A2-1FA4B8ED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  <p:pic>
        <p:nvPicPr>
          <p:cNvPr id="6" name="Picture 2" descr="Image result for likert scale smiley faces">
            <a:extLst>
              <a:ext uri="{FF2B5EF4-FFF2-40B4-BE49-F238E27FC236}">
                <a16:creationId xmlns:a16="http://schemas.microsoft.com/office/drawing/2014/main" id="{82FD8197-AD3F-4E46-8396-3CB8693B1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036" b="19273"/>
          <a:stretch/>
        </p:blipFill>
        <p:spPr bwMode="auto">
          <a:xfrm>
            <a:off x="7087452" y="3078065"/>
            <a:ext cx="843352" cy="67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8E259-4F4F-4490-8628-7C470BE51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577"/>
          <a:stretch/>
        </p:blipFill>
        <p:spPr>
          <a:xfrm>
            <a:off x="7010216" y="1868536"/>
            <a:ext cx="1841176" cy="830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E870A-DE02-462E-B98D-FCDDFE3CE2F9}"/>
              </a:ext>
            </a:extLst>
          </p:cNvPr>
          <p:cNvSpPr txBox="1"/>
          <p:nvPr/>
        </p:nvSpPr>
        <p:spPr>
          <a:xfrm>
            <a:off x="3801192" y="1868538"/>
            <a:ext cx="1964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Nominal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A844F-925A-482F-AEA6-A1C19BC2B721}"/>
              </a:ext>
            </a:extLst>
          </p:cNvPr>
          <p:cNvSpPr txBox="1"/>
          <p:nvPr/>
        </p:nvSpPr>
        <p:spPr>
          <a:xfrm>
            <a:off x="3801192" y="3078066"/>
            <a:ext cx="1850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Ordinal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B7E98-6E18-4358-B76C-CC893A991317}"/>
              </a:ext>
            </a:extLst>
          </p:cNvPr>
          <p:cNvSpPr txBox="1"/>
          <p:nvPr/>
        </p:nvSpPr>
        <p:spPr>
          <a:xfrm>
            <a:off x="3834458" y="4287594"/>
            <a:ext cx="2261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Scale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Numeric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Discrete,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Ratio,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Interval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F84F0-2F32-EE01-4F3E-56D7F4AA9517}"/>
              </a:ext>
            </a:extLst>
          </p:cNvPr>
          <p:cNvSpPr txBox="1"/>
          <p:nvPr/>
        </p:nvSpPr>
        <p:spPr>
          <a:xfrm>
            <a:off x="732360" y="2397821"/>
            <a:ext cx="29037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3F739B"/>
                </a:solidFill>
              </a:rPr>
              <a:t>Variable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types </a:t>
            </a:r>
          </a:p>
          <a:p>
            <a:pPr algn="ctr"/>
            <a:r>
              <a:rPr lang="en-GB" sz="3600" b="1" dirty="0"/>
              <a:t>/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Measurement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levels</a:t>
            </a:r>
          </a:p>
        </p:txBody>
      </p:sp>
      <p:pic>
        <p:nvPicPr>
          <p:cNvPr id="2050" name="Picture 2" descr="The Celsius scale">
            <a:extLst>
              <a:ext uri="{FF2B5EF4-FFF2-40B4-BE49-F238E27FC236}">
                <a16:creationId xmlns:a16="http://schemas.microsoft.com/office/drawing/2014/main" id="{C997E3A0-D222-5B2F-26C5-CFE3945CE3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13" b="-9830"/>
          <a:stretch/>
        </p:blipFill>
        <p:spPr bwMode="auto">
          <a:xfrm>
            <a:off x="6093070" y="5331026"/>
            <a:ext cx="5599497" cy="57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EF8034-4035-F991-8D4D-C4D51217E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070" y="4232575"/>
            <a:ext cx="5201992" cy="929565"/>
          </a:xfrm>
          <a:prstGeom prst="rect">
            <a:avLst/>
          </a:prstGeom>
        </p:spPr>
      </p:pic>
      <p:pic>
        <p:nvPicPr>
          <p:cNvPr id="7" name="Picture 2" descr="Image result for likert scale smiley faces">
            <a:extLst>
              <a:ext uri="{FF2B5EF4-FFF2-40B4-BE49-F238E27FC236}">
                <a16:creationId xmlns:a16="http://schemas.microsoft.com/office/drawing/2014/main" id="{36B0C099-3F52-C0CA-3516-AA2A41B9E1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94" b="15335"/>
          <a:stretch/>
        </p:blipFill>
        <p:spPr bwMode="auto">
          <a:xfrm>
            <a:off x="8133323" y="3061700"/>
            <a:ext cx="845125" cy="70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41527C-6099-08ED-29D3-B300E8FBF0F3}"/>
              </a:ext>
            </a:extLst>
          </p:cNvPr>
          <p:cNvCxnSpPr/>
          <p:nvPr/>
        </p:nvCxnSpPr>
        <p:spPr>
          <a:xfrm>
            <a:off x="8694066" y="4059936"/>
            <a:ext cx="0" cy="20574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EB901A4-00D9-9AE5-A130-74A51A245B06}"/>
              </a:ext>
            </a:extLst>
          </p:cNvPr>
          <p:cNvSpPr/>
          <p:nvPr/>
        </p:nvSpPr>
        <p:spPr>
          <a:xfrm>
            <a:off x="6093070" y="4059936"/>
            <a:ext cx="2600992" cy="2057400"/>
          </a:xfrm>
          <a:prstGeom prst="rect">
            <a:avLst/>
          </a:prstGeom>
          <a:solidFill>
            <a:srgbClr val="0066FF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37E77-1D9C-8162-DD1D-D1B21718FF12}"/>
              </a:ext>
            </a:extLst>
          </p:cNvPr>
          <p:cNvSpPr/>
          <p:nvPr/>
        </p:nvSpPr>
        <p:spPr>
          <a:xfrm>
            <a:off x="8694062" y="4059936"/>
            <a:ext cx="2600992" cy="2057400"/>
          </a:xfrm>
          <a:prstGeom prst="rect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259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3E04-C9D5-A3F0-E59C-BA9F707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5CE12-B2C9-E62E-6110-B5A2591E5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Question: “Do teenagers get 7+ hours of sleep?”</a:t>
            </a: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tkinson Hyperlegible"/>
              </a:rPr>
              <a:t>Students in grades 9 - 12 surveyed about health risk behaviours including whether they usually get 7 or more hours of sleep</a:t>
            </a: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tkinson Hyperlegible"/>
              </a:rPr>
              <a:t>Sleep: </a:t>
            </a:r>
          </a:p>
          <a:p>
            <a:pPr lvl="1"/>
            <a:r>
              <a:rPr lang="en-GB" dirty="0">
                <a:solidFill>
                  <a:srgbClr val="222222"/>
                </a:solidFill>
                <a:latin typeface="Atkinson Hyperlegible"/>
              </a:rPr>
              <a:t>1 = “Yes”</a:t>
            </a:r>
          </a:p>
          <a:p>
            <a:pPr lvl="1"/>
            <a:r>
              <a:rPr lang="en-GB" b="0" i="0" dirty="0">
                <a:solidFill>
                  <a:srgbClr val="222222"/>
                </a:solidFill>
                <a:effectLst/>
                <a:latin typeface="Atkinson Hyperlegible"/>
              </a:rPr>
              <a:t>0 = “No”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6902-C899-1951-8F47-29C3FE8E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A4CE3A-5A16-271D-BF97-A905D7721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08"/>
          <a:stretch/>
        </p:blipFill>
        <p:spPr>
          <a:xfrm>
            <a:off x="4032504" y="3072384"/>
            <a:ext cx="7213164" cy="305311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242BB0-88A9-3C1C-CDE1-91D2FF08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964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AB17-CB0A-429F-78B9-F85E47DD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4BAE6-27BE-4CAF-41D9-B506E730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DB8D79-57EE-DED0-165E-AA432170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427" y="1616573"/>
            <a:ext cx="7393146" cy="438354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F83F3-B6BE-F7D8-A754-7A4EA29E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528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AB17-CB0A-429F-78B9-F85E47DD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CC1AD-7BBD-4EAD-C827-062A4C2C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Outcome</a:t>
            </a:r>
            <a:r>
              <a:rPr lang="es-ES" dirty="0"/>
              <a:t>: 1 = yes, 0 = no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4BAE6-27BE-4CAF-41D9-B506E730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8C4645-422E-66D6-2734-437BEF56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2138318"/>
            <a:ext cx="6422428" cy="38522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FC486-C490-7948-2535-E4AC3DFF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983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AB17-CB0A-429F-78B9-F85E47DD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CC1AD-7BBD-4EAD-C827-062A4C2C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Outcome: Probability of getting 7+ hours of sleep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4BAE6-27BE-4CAF-41D9-B506E730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9914363-6F8B-31D2-AD62-CF83AC6EC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563" y="1931629"/>
            <a:ext cx="6840874" cy="422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EA35D-2516-439A-C3EE-EA8756A0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45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9914363-6F8B-31D2-AD62-CF83AC6EC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341881" y="1903285"/>
            <a:ext cx="6886368" cy="42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98AB17-CB0A-429F-78B9-F85E47DD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CC1AD-7BBD-4EAD-C827-062A4C2C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Outcome: Probability of getting 7+ hours of sleep (</a:t>
            </a:r>
            <a:r>
              <a:rPr lang="en-GB" dirty="0">
                <a:solidFill>
                  <a:srgbClr val="C00000"/>
                </a:solidFill>
              </a:rPr>
              <a:t>Linear model)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4BAE6-27BE-4CAF-41D9-B506E730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5133DE63-011D-312C-37EB-44B7C00E9F73}"/>
              </a:ext>
            </a:extLst>
          </p:cNvPr>
          <p:cNvSpPr/>
          <p:nvPr/>
        </p:nvSpPr>
        <p:spPr>
          <a:xfrm>
            <a:off x="2799081" y="2407408"/>
            <a:ext cx="1451428" cy="824411"/>
          </a:xfrm>
          <a:prstGeom prst="flowChartConnector">
            <a:avLst/>
          </a:prstGeom>
          <a:noFill/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5C8F51A-7356-A527-F990-898C7344A596}"/>
              </a:ext>
            </a:extLst>
          </p:cNvPr>
          <p:cNvSpPr/>
          <p:nvPr/>
        </p:nvSpPr>
        <p:spPr>
          <a:xfrm>
            <a:off x="7575297" y="4345791"/>
            <a:ext cx="1451428" cy="824411"/>
          </a:xfrm>
          <a:prstGeom prst="flowChartConnector">
            <a:avLst/>
          </a:prstGeom>
          <a:noFill/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B054F-A044-23C0-7136-2D6224B4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663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AB17-CB0A-429F-78B9-F85E47DD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CC1AD-7BBD-4EAD-C827-062A4C2C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Outcome: Probability of getting 7+ hours of sleep (</a:t>
            </a:r>
            <a:r>
              <a:rPr lang="en-GB" dirty="0">
                <a:solidFill>
                  <a:srgbClr val="C00000"/>
                </a:solidFill>
              </a:rPr>
              <a:t>Logistic model)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4BAE6-27BE-4CAF-41D9-B506E730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9914363-6F8B-31D2-AD62-CF83AC6EC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697480" y="2014092"/>
            <a:ext cx="6950376" cy="429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DFAB80-4600-7F42-59AA-37AF6946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893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AB17-CB0A-429F-78B9-F85E47DD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Different types of models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4BAE6-27BE-4CAF-41D9-B506E730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15601-CD04-BE13-28C3-356486A7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662" y="1709676"/>
            <a:ext cx="9033808" cy="423861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E9B1D-1401-B006-A629-91C51933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172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CD23AC-0A85-D9D0-4F22-DC32EC04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Logistic regression: </a:t>
            </a:r>
            <a:br>
              <a:rPr lang="en-GB" dirty="0"/>
            </a:br>
            <a:r>
              <a:rPr lang="en-GB" dirty="0"/>
              <a:t>the theory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542C17-2D4C-7318-D8DB-750135EFE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A1004-EA61-9EE1-5858-497753EB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5B42C-F9C0-A2AE-5786-4918FAF5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502470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What is logistic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lvl="0"/>
                <a:r>
                  <a:rPr dirty="0"/>
                  <a:t>Logistic regression is a generalized linear model where the outcome is a two-level categorical variable</a:t>
                </a:r>
              </a:p>
              <a:p>
                <a:pPr lvl="0"/>
                <a:r>
                  <a:rPr dirty="0" err="1"/>
                  <a:t>E.g</a:t>
                </a:r>
                <a:r>
                  <a:rPr dirty="0"/>
                  <a:t> “Trusting people” = 1, “Not trusting people” = 0</a:t>
                </a:r>
              </a:p>
              <a:p>
                <a:pPr lvl="0"/>
                <a:r>
                  <a:rPr dirty="0"/>
                  <a:t>The outcome variable for a GLM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where the index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 is used to represent observation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.</a:t>
                </a:r>
                <a:endParaRPr lang="en-GB" dirty="0"/>
              </a:p>
              <a:p>
                <a:pPr lvl="0"/>
                <a:r>
                  <a:rPr lang="en-GB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GB" dirty="0"/>
                  <a:t>will be used to represent whether person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in the </a:t>
                </a:r>
                <a:r>
                  <a:rPr lang="en-GB" i="1" dirty="0"/>
                  <a:t>trusting</a:t>
                </a:r>
                <a:r>
                  <a:rPr lang="en-GB" dirty="0"/>
                  <a:t> category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or not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).</a:t>
                </a:r>
              </a:p>
              <a:p>
                <a:pPr lvl="0"/>
                <a:r>
                  <a:rPr lang="en-GB" dirty="0"/>
                  <a:t>The outcome,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GB" dirty="0"/>
                  <a:t>takes the value 1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GB" dirty="0"/>
                  <a:t>and the value 0 with probability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 lvl="0"/>
                <a:r>
                  <a:rPr lang="en-GB" dirty="0"/>
                  <a:t>Because each observation has a slightly different context, (e.g., different education level if we have education as an independent variable), the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GB" dirty="0"/>
                  <a:t>will differ for each observation.</a:t>
                </a:r>
              </a:p>
              <a:p>
                <a:pPr lvl="0"/>
                <a:r>
                  <a:rPr lang="en-GB" dirty="0"/>
                  <a:t>It is this </a:t>
                </a:r>
                <a:r>
                  <a:rPr lang="en-GB" b="1" dirty="0"/>
                  <a:t>probability</a:t>
                </a:r>
                <a:r>
                  <a:rPr lang="en-GB" dirty="0"/>
                  <a:t> that we model in relation to the predictor variables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879" t="-2995" r="-18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F3A1A-C7EA-6FD3-C1E6-E2FDBF78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The </a:t>
            </a:r>
            <a:r>
              <a:rPr b="1"/>
              <a:t>logit</a:t>
            </a:r>
            <a:r>
              <a:t>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>
                <a:noAutofit/>
              </a:bodyPr>
              <a:lstStyle/>
              <a:p>
                <a:pPr lvl="0"/>
                <a:r>
                  <a:rPr dirty="0"/>
                  <a:t>The predictor variables are represented as follows: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is the value of variable 1 for observation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is the value of variable 2 for observation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, and so on.</a:t>
                </a:r>
              </a:p>
              <a:p>
                <a:pPr lvl="0"/>
                <a:r>
                  <a:rPr dirty="0"/>
                  <a:t>We want to choose a </a:t>
                </a:r>
                <a:r>
                  <a:rPr b="1" dirty="0"/>
                  <a:t>transformation</a:t>
                </a:r>
                <a:r>
                  <a:rPr dirty="0"/>
                  <a:t> in the equation that makes practical and mathematical sense.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𝑡𝑟𝑎𝑛𝑠𝑓𝑜𝑟𝑚𝑎𝑡𝑖𝑜𝑛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For example, we want a transformation that makes the range of possibilities on the left hand side of the equation equal to the range of possibilities for the right hand side; if there was no transformation for this equation, the left hand side could only take values between 0 and 1, but the right hand side could take values outside of this range.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185" t="-2746" r="-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47CCE-1484-1B99-C6C1-0680CAD4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The </a:t>
            </a:r>
            <a:r>
              <a:rPr b="1"/>
              <a:t>logit</a:t>
            </a:r>
            <a:r>
              <a:t>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 hasCustomPrompt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dirty="0"/>
                  <a:t>A common transformation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is the </a:t>
                </a:r>
                <a:r>
                  <a:rPr b="1" dirty="0"/>
                  <a:t>logit transformation</a:t>
                </a:r>
                <a:r>
                  <a:rPr dirty="0"/>
                  <a:t>, which may be written as:</a:t>
                </a:r>
                <a:endParaRPr lang="en-GB" dirty="0"/>
              </a:p>
              <a:p>
                <a:pPr marL="0" indent="0">
                  <a:buNone/>
                </a:pPr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lvl="0"/>
                <a:r>
                  <a:rPr lang="en-GB" dirty="0"/>
                  <a:t>We can rewrite the equation relating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GB" dirty="0"/>
                  <a:t>to its predictors using the logit transformation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  <a:endParaRPr lang="en-GB" dirty="0"/>
              </a:p>
              <a:p>
                <a:pPr marL="0" indent="0">
                  <a:buNone/>
                </a:pPr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 hasCustomPrompt="1"/>
              </p:nvPr>
            </p:nvSpPr>
            <p:spPr>
              <a:blipFill>
                <a:blip r:embed="rId2"/>
                <a:stretch>
                  <a:fillRect l="-1055" t="-3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AFB1-42B0-7F54-A3B5-6F9CF6F5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The </a:t>
            </a:r>
            <a:r>
              <a:rPr b="1"/>
              <a:t>logit</a:t>
            </a:r>
            <a:r>
              <a:t> transformation</a:t>
            </a:r>
          </a:p>
        </p:txBody>
      </p:sp>
      <p:pic>
        <p:nvPicPr>
          <p:cNvPr id="3" name="Picture 1" descr="Week_4_R_files/figure-pptx/unnamed-chunk-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914400"/>
            <a:ext cx="10972800" cy="548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490AA-B038-3F82-6A93-FCFFDC8C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GB" i="1" dirty="0"/>
              <a:t>Odds</a:t>
            </a:r>
            <a:r>
              <a:rPr dirty="0"/>
              <a:t> </a:t>
            </a:r>
            <a:r>
              <a:rPr lang="en-GB" dirty="0"/>
              <a:t>and</a:t>
            </a:r>
            <a:r>
              <a:rPr dirty="0"/>
              <a:t> </a:t>
            </a:r>
            <a:r>
              <a:rPr i="1" dirty="0"/>
              <a:t>probabilities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5D6378-1CF6-23DC-063A-5EA931C7E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727" y="1789133"/>
            <a:ext cx="9242475" cy="35542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64529-046F-8F2D-BF49-81986A34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45D6378-1CF6-23DC-063A-5EA931C7EE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120727" y="1789133"/>
            <a:ext cx="9242475" cy="35542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40"/>
            <a:ext cx="10043168" cy="49468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GB" i="1" dirty="0"/>
              <a:t>Odds</a:t>
            </a:r>
            <a:r>
              <a:rPr dirty="0"/>
              <a:t> </a:t>
            </a:r>
            <a:r>
              <a:rPr lang="en-GB" dirty="0"/>
              <a:t>and</a:t>
            </a:r>
            <a:r>
              <a:rPr dirty="0"/>
              <a:t> </a:t>
            </a:r>
            <a:r>
              <a:rPr i="1" dirty="0"/>
              <a:t>probabilities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DF0E5A-73B1-3A2C-72F4-1C6EE39DE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10100"/>
              </p:ext>
            </p:extLst>
          </p:nvPr>
        </p:nvGraphicFramePr>
        <p:xfrm>
          <a:off x="7132320" y="521978"/>
          <a:ext cx="2898648" cy="5698924"/>
        </p:xfrm>
        <a:graphic>
          <a:graphicData uri="http://schemas.openxmlformats.org/drawingml/2006/table">
            <a:tbl>
              <a:tblPr>
                <a:solidFill>
                  <a:srgbClr val="F0F0F0">
                    <a:alpha val="18039"/>
                  </a:srgbClr>
                </a:solidFill>
              </a:tblPr>
              <a:tblGrid>
                <a:gridCol w="1076961">
                  <a:extLst>
                    <a:ext uri="{9D8B030D-6E8A-4147-A177-3AD203B41FA5}">
                      <a16:colId xmlns:a16="http://schemas.microsoft.com/office/drawing/2014/main" val="366692607"/>
                    </a:ext>
                  </a:extLst>
                </a:gridCol>
                <a:gridCol w="770127">
                  <a:extLst>
                    <a:ext uri="{9D8B030D-6E8A-4147-A177-3AD203B41FA5}">
                      <a16:colId xmlns:a16="http://schemas.microsoft.com/office/drawing/2014/main" val="273083817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59584337"/>
                    </a:ext>
                  </a:extLst>
                </a:gridCol>
              </a:tblGrid>
              <a:tr h="389871"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1" dirty="0">
                          <a:effectLst/>
                        </a:rPr>
                        <a:t>probs</a:t>
                      </a:r>
                    </a:p>
                  </a:txBody>
                  <a:tcPr marL="66373" marR="66373" marT="66373" marB="6637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1" dirty="0">
                          <a:effectLst/>
                        </a:rPr>
                        <a:t>odds</a:t>
                      </a:r>
                    </a:p>
                  </a:txBody>
                  <a:tcPr marL="66373" marR="66373" marT="66373" marB="6637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800" b="1" dirty="0" err="1">
                          <a:effectLst/>
                        </a:rPr>
                        <a:t>log_odds</a:t>
                      </a:r>
                      <a:endParaRPr lang="en-GB" sz="1800" b="1" dirty="0">
                        <a:effectLst/>
                      </a:endParaRPr>
                    </a:p>
                  </a:txBody>
                  <a:tcPr marL="66373" marR="66373" marT="66373" marB="6637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997241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0.01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0.01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-4.60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88709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0.05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0.05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-2.94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646474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0.10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0.11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-2.20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55043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0.20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0.25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-1.39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126705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0.33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0.50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-0.69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78937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0.40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0.67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-0.41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994545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0.50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1.00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0.00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838675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0.60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1.50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0.41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870655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0.67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2.00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0.69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164810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0.80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4.00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1.39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494743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0.90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9.00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2.20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529448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0.95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19.00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2.94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340254"/>
                  </a:ext>
                </a:extLst>
              </a:tr>
              <a:tr h="389871"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>
                          <a:effectLst/>
                        </a:rPr>
                        <a:t>0.99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99.00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GB" sz="1800" b="1" dirty="0">
                          <a:effectLst/>
                        </a:rPr>
                        <a:t>4.60</a:t>
                      </a:r>
                    </a:p>
                  </a:txBody>
                  <a:tcPr marL="66373" marR="66373" marT="66373" marB="6637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54450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6EC2-FD43-AEDD-4896-48A48612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18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68BD-5D6D-7C67-683D-849E17A9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FD272-59E9-E5A3-D7B5-69AB3FEF4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733" dirty="0"/>
              <a:t>Suppose there is </a:t>
            </a:r>
            <a:r>
              <a:rPr lang="en-GB" sz="3733" b="1" dirty="0"/>
              <a:t>a 70% chance</a:t>
            </a:r>
            <a:r>
              <a:rPr lang="en-GB" sz="3733" dirty="0"/>
              <a:t> it will rain tomorrow</a:t>
            </a:r>
          </a:p>
          <a:p>
            <a:r>
              <a:rPr lang="en-GB" sz="3733" dirty="0"/>
              <a:t>Probability it </a:t>
            </a:r>
            <a:r>
              <a:rPr lang="en-GB" sz="3733" b="1" dirty="0"/>
              <a:t>will</a:t>
            </a:r>
            <a:r>
              <a:rPr lang="en-GB" sz="3733" dirty="0"/>
              <a:t> rain is </a:t>
            </a:r>
            <a:r>
              <a:rPr lang="en-GB" sz="3733" b="1" dirty="0"/>
              <a:t>p = 0.7</a:t>
            </a:r>
          </a:p>
          <a:p>
            <a:r>
              <a:rPr lang="en-GB" sz="3733" dirty="0"/>
              <a:t>Probability it </a:t>
            </a:r>
            <a:r>
              <a:rPr lang="en-GB" sz="3733" b="1" dirty="0"/>
              <a:t>won’t</a:t>
            </a:r>
            <a:r>
              <a:rPr lang="en-GB" sz="3733" dirty="0"/>
              <a:t> rain is </a:t>
            </a:r>
            <a:r>
              <a:rPr lang="en-GB" sz="3733" b="1" dirty="0"/>
              <a:t>1 − p = 0.3</a:t>
            </a:r>
          </a:p>
          <a:p>
            <a:r>
              <a:rPr lang="en-GB" sz="3733" b="1" dirty="0"/>
              <a:t>Odds</a:t>
            </a:r>
            <a:r>
              <a:rPr lang="en-GB" sz="3733" dirty="0"/>
              <a:t> it </a:t>
            </a:r>
            <a:r>
              <a:rPr lang="en-GB" sz="3733" b="1" dirty="0"/>
              <a:t>will</a:t>
            </a:r>
            <a:r>
              <a:rPr lang="en-GB" sz="3733" dirty="0"/>
              <a:t> rain are </a:t>
            </a:r>
            <a:r>
              <a:rPr lang="en-GB" sz="3733" b="1" dirty="0"/>
              <a:t>7 to 3</a:t>
            </a:r>
            <a:r>
              <a:rPr lang="en-GB" sz="3733" dirty="0"/>
              <a:t>, </a:t>
            </a:r>
            <a:r>
              <a:rPr lang="en-GB" sz="3733" b="1" dirty="0"/>
              <a:t>7:3</a:t>
            </a:r>
            <a:r>
              <a:rPr lang="en-GB" sz="3733" dirty="0"/>
              <a:t>, </a:t>
            </a:r>
            <a:r>
              <a:rPr lang="en-GB" sz="3733" b="1" dirty="0"/>
              <a:t>0.7/0.3 ≈ 2.33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D138A-2C42-8DA1-93DE-C9324C77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731008-C7CF-DDA2-D1CE-D268C243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078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C35E3-7A94-3F06-8310-D0F46BEF3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Are teenagers getting enough sleep?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56D62-5C0B-7A9C-9B55-CCC499478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50605"/>
            <a:ext cx="10711543" cy="5630583"/>
          </a:xfrm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sz="3200" dirty="0"/>
              <a:t>P(7+ hours of sleep) = P(Y=1) = p = 0.664</a:t>
            </a:r>
          </a:p>
          <a:p>
            <a:r>
              <a:rPr lang="en-GB" sz="3200" dirty="0"/>
              <a:t>P(&lt; 7 hours of sleep)=P(Y=0) = 1−p = 0.336</a:t>
            </a:r>
          </a:p>
          <a:p>
            <a:r>
              <a:rPr lang="en-GB" sz="3200" dirty="0"/>
              <a:t>P(odds of 7+ hours of sleep) = 0.664/0.336 = 1.976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F9B4D-BA86-CBB3-B88E-273DE97F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Logistic regression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E3887F-EF8F-98D2-076B-2550A5382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359" y="1524541"/>
            <a:ext cx="4677133" cy="190446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793CB1-3368-5CF0-C0BC-8E8378E9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150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2CBA3A-E59C-1E5C-37CA-CD0F1E18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452" y="1340856"/>
            <a:ext cx="6218753" cy="2344176"/>
          </a:xfrm>
        </p:spPr>
        <p:txBody>
          <a:bodyPr/>
          <a:lstStyle/>
          <a:p>
            <a:r>
              <a:rPr lang="en-GB" dirty="0"/>
              <a:t>Logistic regression</a:t>
            </a:r>
            <a:br>
              <a:rPr lang="en-GB" dirty="0"/>
            </a:br>
            <a:r>
              <a:rPr lang="en-GB" dirty="0"/>
              <a:t>applied: </a:t>
            </a:r>
            <a:br>
              <a:rPr lang="en-GB" dirty="0"/>
            </a:br>
            <a:r>
              <a:rPr lang="en-GB" dirty="0"/>
              <a:t>Workshop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6F7FD2-53FA-4A51-9681-6FC5C896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4452" y="3621023"/>
            <a:ext cx="6218753" cy="445637"/>
          </a:xfrm>
        </p:spPr>
        <p:txBody>
          <a:bodyPr/>
          <a:lstStyle/>
          <a:p>
            <a:r>
              <a:rPr lang="en-GB" dirty="0"/>
              <a:t>1-3pm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334B-2A42-251C-845C-1CED2336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48055-4F62-3048-C4D2-554FF004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129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CA108-CB1D-5541-DFA5-C4B6F5FB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Questions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E86ADC-9F29-16A6-FCC9-F4480732B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A.  Are </a:t>
            </a:r>
            <a:r>
              <a:rPr lang="en-GB" b="1" dirty="0"/>
              <a:t>religious</a:t>
            </a:r>
            <a:r>
              <a:rPr lang="en-GB" dirty="0"/>
              <a:t> people more </a:t>
            </a:r>
            <a:r>
              <a:rPr lang="en-GB" b="1" dirty="0"/>
              <a:t>satisfied</a:t>
            </a:r>
            <a:r>
              <a:rPr lang="en-GB" dirty="0"/>
              <a:t> with life?</a:t>
            </a:r>
          </a:p>
          <a:p>
            <a:r>
              <a:rPr lang="en-GB" dirty="0"/>
              <a:t>B.  Are </a:t>
            </a:r>
            <a:r>
              <a:rPr lang="en-GB" b="1" dirty="0"/>
              <a:t>older</a:t>
            </a:r>
            <a:r>
              <a:rPr lang="en-GB" dirty="0"/>
              <a:t> people more likely to see the </a:t>
            </a:r>
            <a:r>
              <a:rPr lang="en-GB" b="1" dirty="0"/>
              <a:t>death penalty as justifiable</a:t>
            </a:r>
            <a:r>
              <a:rPr lang="en-GB" dirty="0"/>
              <a:t>?</a:t>
            </a:r>
          </a:p>
          <a:p>
            <a:r>
              <a:rPr lang="en-GB" dirty="0"/>
              <a:t>C.  What </a:t>
            </a:r>
            <a:r>
              <a:rPr lang="en-GB" b="1" dirty="0"/>
              <a:t>factors</a:t>
            </a:r>
            <a:r>
              <a:rPr lang="en-GB" dirty="0"/>
              <a:t> are associated with </a:t>
            </a:r>
            <a:r>
              <a:rPr lang="en-GB" b="1" dirty="0"/>
              <a:t>opinions about future European Union enlargement </a:t>
            </a:r>
            <a:r>
              <a:rPr lang="en-GB" dirty="0"/>
              <a:t>among Europeans?</a:t>
            </a:r>
          </a:p>
          <a:p>
            <a:r>
              <a:rPr lang="en-GB" dirty="0"/>
              <a:t>D.  Is higher </a:t>
            </a:r>
            <a:r>
              <a:rPr lang="en-GB" b="1" dirty="0"/>
              <a:t>internet use </a:t>
            </a:r>
            <a:r>
              <a:rPr lang="en-GB" dirty="0"/>
              <a:t>associated with stronger </a:t>
            </a:r>
            <a:r>
              <a:rPr lang="en-GB" b="1" dirty="0"/>
              <a:t>anti-immigrant sentiments</a:t>
            </a:r>
            <a:r>
              <a:rPr lang="en-GB" dirty="0"/>
              <a:t>?</a:t>
            </a:r>
          </a:p>
          <a:p>
            <a:r>
              <a:rPr lang="en-GB" dirty="0"/>
              <a:t>E.  How does </a:t>
            </a:r>
            <a:r>
              <a:rPr lang="en-GB" b="1" dirty="0"/>
              <a:t>victimisation</a:t>
            </a:r>
            <a:r>
              <a:rPr lang="en-GB" dirty="0"/>
              <a:t> relate to </a:t>
            </a:r>
            <a:r>
              <a:rPr lang="en-GB" b="1" dirty="0"/>
              <a:t>trust in the police</a:t>
            </a:r>
            <a:r>
              <a:rPr lang="en-GB" dirty="0"/>
              <a:t>?</a:t>
            </a:r>
          </a:p>
          <a:p>
            <a:r>
              <a:rPr lang="en-GB" dirty="0"/>
              <a:t>F.  What </a:t>
            </a:r>
            <a:r>
              <a:rPr lang="en-GB" b="1" dirty="0"/>
              <a:t>factors</a:t>
            </a:r>
            <a:r>
              <a:rPr lang="en-GB" dirty="0"/>
              <a:t> are associated with </a:t>
            </a:r>
            <a:r>
              <a:rPr lang="en-GB" b="1" dirty="0"/>
              <a:t>belief in life after death</a:t>
            </a:r>
            <a:r>
              <a:rPr lang="en-GB" dirty="0"/>
              <a:t>?</a:t>
            </a:r>
          </a:p>
          <a:p>
            <a:r>
              <a:rPr lang="en-GB" dirty="0"/>
              <a:t>G.  Are government/public </a:t>
            </a:r>
            <a:r>
              <a:rPr lang="en-GB" b="1" dirty="0"/>
              <a:t>sector</a:t>
            </a:r>
            <a:r>
              <a:rPr lang="en-GB" dirty="0"/>
              <a:t> employees more inclined to </a:t>
            </a:r>
            <a:r>
              <a:rPr lang="en-GB" b="1" dirty="0"/>
              <a:t>perceive higher levels of corruption</a:t>
            </a:r>
            <a:r>
              <a:rPr lang="en-GB" dirty="0"/>
              <a:t> than those working in the private sector?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4CD3D-6209-B71E-328E-3CEE4431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2AC9-C062-ACDA-78EB-2E5B2DF3B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30185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E4DB1-6B08-6AEB-B597-8064268F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22 October 2024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2723A-2C1C-2AB6-3420-9BD762F7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858093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Moreh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F739B"/>
      </a:accent1>
      <a:accent2>
        <a:srgbClr val="1F394D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B88C00"/>
      </a:hlink>
      <a:folHlink>
        <a:srgbClr val="B88C0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reh template.pptx" id="{976FE89A-DE24-46CA-AC0C-F592F46D6A11}" vid="{6FA3B6B4-ED01-4468-97EF-FE3176612C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24.07.16-Osaka</Template>
  <TotalTime>3613</TotalTime>
  <Words>899</Words>
  <Application>Microsoft Office PowerPoint</Application>
  <PresentationFormat>Widescreen</PresentationFormat>
  <Paragraphs>188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</vt:lpstr>
      <vt:lpstr>Arial</vt:lpstr>
      <vt:lpstr>Arial Narrow</vt:lpstr>
      <vt:lpstr>Arial Nova Cond Light</vt:lpstr>
      <vt:lpstr>Atkinson Hyperlegible</vt:lpstr>
      <vt:lpstr>Calibri</vt:lpstr>
      <vt:lpstr>Calibri Light</vt:lpstr>
      <vt:lpstr>Cambria Math</vt:lpstr>
      <vt:lpstr>Courier New</vt:lpstr>
      <vt:lpstr>Wingdings</vt:lpstr>
      <vt:lpstr>Retrospect</vt:lpstr>
      <vt:lpstr>PowerPoint Presentation</vt:lpstr>
      <vt:lpstr>Week 10</vt:lpstr>
      <vt:lpstr>Dichotomous outcomes?</vt:lpstr>
      <vt:lpstr>Dichotomous outcomes?</vt:lpstr>
      <vt:lpstr>Example</vt:lpstr>
      <vt:lpstr>Example</vt:lpstr>
      <vt:lpstr>Example</vt:lpstr>
      <vt:lpstr>Example</vt:lpstr>
      <vt:lpstr>Example</vt:lpstr>
      <vt:lpstr>Example</vt:lpstr>
      <vt:lpstr>Different types of models</vt:lpstr>
      <vt:lpstr>Logistic regression:  the theory</vt:lpstr>
      <vt:lpstr>What is logistic regression?</vt:lpstr>
      <vt:lpstr>The logit transformation</vt:lpstr>
      <vt:lpstr>The logit transformation</vt:lpstr>
      <vt:lpstr>The logit transformation</vt:lpstr>
      <vt:lpstr>Odds and probabilities</vt:lpstr>
      <vt:lpstr>Odds and probabilities</vt:lpstr>
      <vt:lpstr>Odds</vt:lpstr>
      <vt:lpstr>Are teenagers getting enough sleep?</vt:lpstr>
      <vt:lpstr>Logistic regression applied:  Workshop</vt:lpstr>
      <vt:lpstr>Assignment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Moreh</dc:creator>
  <cp:lastModifiedBy>Chris Moreh</cp:lastModifiedBy>
  <cp:revision>4</cp:revision>
  <dcterms:created xsi:type="dcterms:W3CDTF">2024-07-11T13:35:49Z</dcterms:created>
  <dcterms:modified xsi:type="dcterms:W3CDTF">2025-12-01T10:34:55Z</dcterms:modified>
</cp:coreProperties>
</file>