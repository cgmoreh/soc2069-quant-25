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307" r:id="rId3"/>
    <p:sldId id="257" r:id="rId4"/>
    <p:sldId id="259" r:id="rId5"/>
    <p:sldId id="310" r:id="rId6"/>
    <p:sldId id="261" r:id="rId7"/>
    <p:sldId id="262" r:id="rId8"/>
    <p:sldId id="263" r:id="rId9"/>
    <p:sldId id="556" r:id="rId10"/>
    <p:sldId id="555" r:id="rId11"/>
    <p:sldId id="264" r:id="rId12"/>
    <p:sldId id="268" r:id="rId13"/>
    <p:sldId id="270" r:id="rId14"/>
    <p:sldId id="272" r:id="rId15"/>
    <p:sldId id="273" r:id="rId16"/>
    <p:sldId id="557" r:id="rId17"/>
    <p:sldId id="558" r:id="rId18"/>
    <p:sldId id="559" r:id="rId19"/>
    <p:sldId id="26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DA0000"/>
    <a:srgbClr val="3F739B"/>
    <a:srgbClr val="174CF7"/>
    <a:srgbClr val="E4C8C8"/>
    <a:srgbClr val="E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F84F0-3EB6-43D9-BDF6-E8FDA7C59EF3}" v="3" dt="2025-12-08T10:22:54.3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27" autoAdjust="0"/>
  </p:normalViewPr>
  <p:slideViewPr>
    <p:cSldViewPr snapToGrid="0">
      <p:cViewPr varScale="1">
        <p:scale>
          <a:sx n="105" d="100"/>
          <a:sy n="105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16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Moreh" userId="17b81281-9f29-44e0-9273-6dadbf6896a2" providerId="ADAL" clId="{BCF66164-2C9C-4B48-AFF3-6B0B0038345A}"/>
    <pc:docChg chg="modSld">
      <pc:chgData name="Chris Moreh" userId="17b81281-9f29-44e0-9273-6dadbf6896a2" providerId="ADAL" clId="{BCF66164-2C9C-4B48-AFF3-6B0B0038345A}" dt="2025-12-08T10:20:54.004" v="11" actId="20577"/>
      <pc:docMkLst>
        <pc:docMk/>
      </pc:docMkLst>
      <pc:sldChg chg="modSp mod">
        <pc:chgData name="Chris Moreh" userId="17b81281-9f29-44e0-9273-6dadbf6896a2" providerId="ADAL" clId="{BCF66164-2C9C-4B48-AFF3-6B0B0038345A}" dt="2025-12-08T10:20:54.004" v="11" actId="20577"/>
        <pc:sldMkLst>
          <pc:docMk/>
          <pc:sldMk cId="3814459198" sldId="307"/>
        </pc:sldMkLst>
        <pc:spChg chg="mod">
          <ac:chgData name="Chris Moreh" userId="17b81281-9f29-44e0-9273-6dadbf6896a2" providerId="ADAL" clId="{BCF66164-2C9C-4B48-AFF3-6B0B0038345A}" dt="2025-12-08T10:20:54.004" v="11" actId="20577"/>
          <ac:spMkLst>
            <pc:docMk/>
            <pc:sldMk cId="3814459198" sldId="307"/>
            <ac:spMk id="6" creationId="{24060982-6EE3-A8F1-75FE-C4BDB2FF3CBE}"/>
          </ac:spMkLst>
        </pc:spChg>
      </pc:sldChg>
      <pc:sldChg chg="modSp mod">
        <pc:chgData name="Chris Moreh" userId="17b81281-9f29-44e0-9273-6dadbf6896a2" providerId="ADAL" clId="{BCF66164-2C9C-4B48-AFF3-6B0B0038345A}" dt="2025-12-05T14:58:21.277" v="8" actId="6549"/>
        <pc:sldMkLst>
          <pc:docMk/>
          <pc:sldMk cId="3722870570" sldId="558"/>
        </pc:sldMkLst>
        <pc:spChg chg="mod">
          <ac:chgData name="Chris Moreh" userId="17b81281-9f29-44e0-9273-6dadbf6896a2" providerId="ADAL" clId="{BCF66164-2C9C-4B48-AFF3-6B0B0038345A}" dt="2025-12-05T14:58:21.277" v="8" actId="6549"/>
          <ac:spMkLst>
            <pc:docMk/>
            <pc:sldMk cId="3722870570" sldId="558"/>
            <ac:spMk id="3" creationId="{BDAC3A50-7269-FFAF-F678-1BCCF56ADC7E}"/>
          </ac:spMkLst>
        </pc:spChg>
      </pc:sldChg>
      <pc:sldChg chg="modSp mod">
        <pc:chgData name="Chris Moreh" userId="17b81281-9f29-44e0-9273-6dadbf6896a2" providerId="ADAL" clId="{BCF66164-2C9C-4B48-AFF3-6B0B0038345A}" dt="2025-12-05T14:56:51.380" v="3" actId="113"/>
        <pc:sldMkLst>
          <pc:docMk/>
          <pc:sldMk cId="518544894" sldId="559"/>
        </pc:sldMkLst>
        <pc:spChg chg="mod">
          <ac:chgData name="Chris Moreh" userId="17b81281-9f29-44e0-9273-6dadbf6896a2" providerId="ADAL" clId="{BCF66164-2C9C-4B48-AFF3-6B0B0038345A}" dt="2025-12-05T14:56:51.380" v="3" actId="113"/>
          <ac:spMkLst>
            <pc:docMk/>
            <pc:sldMk cId="518544894" sldId="559"/>
            <ac:spMk id="3" creationId="{5A79ADA7-0530-7BC3-4406-75E21700126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5FBD195-041F-A9A0-1644-740C91990A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1E07-BD6F-76A0-E2F3-6F9E834A0EE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203E3-7C81-41A5-A697-954FF252F964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BD701-2DB0-B4B2-C5BD-0490DCBA57E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51DA51-44A7-C88C-C39E-6DA6922B2AB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050DA-C3C8-4D4F-9A52-26049FB521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81809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E54BCB-1937-48CE-9F00-49B381FEB4E9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5A333E-A95D-42FE-9CF0-D7FBE7CB01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144826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504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9490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0981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603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810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hrismoreh.com/" TargetMode="External"/><Relationship Id="rId13" Type="http://schemas.openxmlformats.org/officeDocument/2006/relationships/image" Target="../media/image6.png"/><Relationship Id="rId3" Type="http://schemas.openxmlformats.org/officeDocument/2006/relationships/hyperlink" Target="https://www.ncl.ac.uk/gps/staff/profile/chrismoreh.html" TargetMode="External"/><Relationship Id="rId7" Type="http://schemas.openxmlformats.org/officeDocument/2006/relationships/hyperlink" Target="mailto:chris.moreh@ncl.ac.uk" TargetMode="External"/><Relationship Id="rId12" Type="http://schemas.openxmlformats.org/officeDocument/2006/relationships/image" Target="../media/image5.png"/><Relationship Id="rId2" Type="http://schemas.openxmlformats.org/officeDocument/2006/relationships/image" Target="../media/image1.png"/><Relationship Id="rId16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11" Type="http://schemas.openxmlformats.org/officeDocument/2006/relationships/hyperlink" Target="https://www.linkedin.com/in/cgm-phd/" TargetMode="External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10" Type="http://schemas.openxmlformats.org/officeDocument/2006/relationships/hyperlink" Target="https://twitter.com/cgmoreh" TargetMode="External"/><Relationship Id="rId4" Type="http://schemas.openxmlformats.org/officeDocument/2006/relationships/image" Target="../media/image2.png"/><Relationship Id="rId9" Type="http://schemas.openxmlformats.org/officeDocument/2006/relationships/hyperlink" Target="https://github.com/CGMoreh" TargetMode="External"/><Relationship Id="rId14" Type="http://schemas.openxmlformats.org/officeDocument/2006/relationships/image" Target="../media/image7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sv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svg"/><Relationship Id="rId21" Type="http://schemas.openxmlformats.org/officeDocument/2006/relationships/image" Target="../media/image30.svg"/><Relationship Id="rId34" Type="http://schemas.openxmlformats.org/officeDocument/2006/relationships/image" Target="../media/image43.pn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29" Type="http://schemas.openxmlformats.org/officeDocument/2006/relationships/image" Target="../media/image38.svg"/><Relationship Id="rId41" Type="http://schemas.openxmlformats.org/officeDocument/2006/relationships/image" Target="../media/image50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svg"/><Relationship Id="rId40" Type="http://schemas.openxmlformats.org/officeDocument/2006/relationships/image" Target="../media/image49.png"/><Relationship Id="rId5" Type="http://schemas.openxmlformats.org/officeDocument/2006/relationships/image" Target="../media/image14.svg"/><Relationship Id="rId15" Type="http://schemas.openxmlformats.org/officeDocument/2006/relationships/image" Target="../media/image24.svg"/><Relationship Id="rId23" Type="http://schemas.openxmlformats.org/officeDocument/2006/relationships/image" Target="../media/image32.sv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svg"/><Relationship Id="rId31" Type="http://schemas.openxmlformats.org/officeDocument/2006/relationships/image" Target="../media/image4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12" Type="http://schemas.openxmlformats.org/officeDocument/2006/relationships/image" Target="../media/image21.png"/><Relationship Id="rId17" Type="http://schemas.openxmlformats.org/officeDocument/2006/relationships/image" Target="../media/image26.svg"/><Relationship Id="rId25" Type="http://schemas.openxmlformats.org/officeDocument/2006/relationships/image" Target="../media/image34.svg"/><Relationship Id="rId33" Type="http://schemas.openxmlformats.org/officeDocument/2006/relationships/image" Target="../media/image42.svg"/><Relationship Id="rId38" Type="http://schemas.openxmlformats.org/officeDocument/2006/relationships/image" Target="../media/image47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svg"/><Relationship Id="rId18" Type="http://schemas.openxmlformats.org/officeDocument/2006/relationships/image" Target="../media/image21.png"/><Relationship Id="rId3" Type="http://schemas.openxmlformats.org/officeDocument/2006/relationships/image" Target="../media/image12.svg"/><Relationship Id="rId21" Type="http://schemas.openxmlformats.org/officeDocument/2006/relationships/image" Target="../media/image14.svg"/><Relationship Id="rId7" Type="http://schemas.openxmlformats.org/officeDocument/2006/relationships/image" Target="../media/image16.svg"/><Relationship Id="rId12" Type="http://schemas.openxmlformats.org/officeDocument/2006/relationships/image" Target="../media/image27.png"/><Relationship Id="rId17" Type="http://schemas.openxmlformats.org/officeDocument/2006/relationships/image" Target="../media/image30.svg"/><Relationship Id="rId2" Type="http://schemas.openxmlformats.org/officeDocument/2006/relationships/image" Target="../media/image11.png"/><Relationship Id="rId16" Type="http://schemas.openxmlformats.org/officeDocument/2006/relationships/image" Target="../media/image29.png"/><Relationship Id="rId20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5" Type="http://schemas.openxmlformats.org/officeDocument/2006/relationships/image" Target="../media/image20.svg"/><Relationship Id="rId10" Type="http://schemas.openxmlformats.org/officeDocument/2006/relationships/image" Target="../media/image17.png"/><Relationship Id="rId19" Type="http://schemas.openxmlformats.org/officeDocument/2006/relationships/image" Target="../media/image22.svg"/><Relationship Id="rId4" Type="http://schemas.openxmlformats.org/officeDocument/2006/relationships/image" Target="../media/image23.png"/><Relationship Id="rId9" Type="http://schemas.openxmlformats.org/officeDocument/2006/relationships/image" Target="../media/image26.svg"/><Relationship Id="rId14" Type="http://schemas.openxmlformats.org/officeDocument/2006/relationships/image" Target="../media/image19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hyperlink" Target="https://www.linkedin.com/in/cgm-phd/" TargetMode="External"/><Relationship Id="rId18" Type="http://schemas.openxmlformats.org/officeDocument/2006/relationships/image" Target="../media/image9.png"/><Relationship Id="rId3" Type="http://schemas.openxmlformats.org/officeDocument/2006/relationships/image" Target="../media/image51.png"/><Relationship Id="rId7" Type="http://schemas.openxmlformats.org/officeDocument/2006/relationships/image" Target="../media/image3.png"/><Relationship Id="rId12" Type="http://schemas.openxmlformats.org/officeDocument/2006/relationships/hyperlink" Target="https://twitter.com/cgmoreh" TargetMode="External"/><Relationship Id="rId17" Type="http://schemas.openxmlformats.org/officeDocument/2006/relationships/image" Target="../media/image8.png"/><Relationship Id="rId2" Type="http://schemas.openxmlformats.org/officeDocument/2006/relationships/image" Target="../media/image2.png"/><Relationship Id="rId16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3.svg"/><Relationship Id="rId11" Type="http://schemas.openxmlformats.org/officeDocument/2006/relationships/hyperlink" Target="https://github.com/CGMoreh" TargetMode="External"/><Relationship Id="rId5" Type="http://schemas.openxmlformats.org/officeDocument/2006/relationships/image" Target="../media/image52.png"/><Relationship Id="rId15" Type="http://schemas.openxmlformats.org/officeDocument/2006/relationships/image" Target="../media/image6.png"/><Relationship Id="rId10" Type="http://schemas.openxmlformats.org/officeDocument/2006/relationships/hyperlink" Target="https://www.chrismoreh.com/" TargetMode="External"/><Relationship Id="rId19" Type="http://schemas.openxmlformats.org/officeDocument/2006/relationships/image" Target="../media/image54.png"/><Relationship Id="rId4" Type="http://schemas.microsoft.com/office/2007/relationships/hdphoto" Target="../media/hdphoto1.wdp"/><Relationship Id="rId9" Type="http://schemas.openxmlformats.org/officeDocument/2006/relationships/hyperlink" Target="mailto:chris.moreh@ncl.ac.uk" TargetMode="External"/><Relationship Id="rId14" Type="http://schemas.openxmlformats.org/officeDocument/2006/relationships/image" Target="../media/image5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80000"/>
            <a:lum/>
          </a:blip>
          <a:srcRect/>
          <a:stretch>
            <a:fillRect l="2000" r="2000" b="2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2D0E9-173E-41C0-9D0C-BFCCF1B26BF3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598116"/>
            <a:ext cx="98755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64B1F7A-19A6-1CF3-BEAB-784AD8D53EB1}"/>
              </a:ext>
            </a:extLst>
          </p:cNvPr>
          <p:cNvSpPr txBox="1"/>
          <p:nvPr userDrawn="1"/>
        </p:nvSpPr>
        <p:spPr>
          <a:xfrm>
            <a:off x="1076962" y="4981037"/>
            <a:ext cx="329862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hlinkClick r:id="rId3"/>
              </a:rPr>
              <a:t>Dr Chris Moreh</a:t>
            </a:r>
            <a:endParaRPr lang="en-GB" sz="2400" b="1" dirty="0"/>
          </a:p>
          <a:p>
            <a:pPr algn="ctr"/>
            <a:r>
              <a:rPr lang="en-GB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Lecturer (Assistant Professor) in Sociology</a:t>
            </a:r>
          </a:p>
          <a:p>
            <a:pPr algn="ctr"/>
            <a:r>
              <a:rPr lang="en-GB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Newcastle University (UK)</a:t>
            </a:r>
          </a:p>
        </p:txBody>
      </p:sp>
      <p:pic>
        <p:nvPicPr>
          <p:cNvPr id="17" name="Picture 12" descr="Partners; Sustaining Creative Economies ...">
            <a:extLst>
              <a:ext uri="{FF2B5EF4-FFF2-40B4-BE49-F238E27FC236}">
                <a16:creationId xmlns:a16="http://schemas.microsoft.com/office/drawing/2014/main" id="{5E3F19EF-7B80-6D97-E3A7-968224B762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8455" y="5559906"/>
            <a:ext cx="879898" cy="492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D47E78DF-0172-CCB2-A101-66933B097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55271" y="4969095"/>
            <a:ext cx="2466369" cy="8119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66C7AD-815A-A77E-DFE5-343F532EBF9A}"/>
              </a:ext>
            </a:extLst>
          </p:cNvPr>
          <p:cNvSpPr txBox="1"/>
          <p:nvPr userDrawn="1"/>
        </p:nvSpPr>
        <p:spPr>
          <a:xfrm>
            <a:off x="5214979" y="4804497"/>
            <a:ext cx="25825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7"/>
              </a:rPr>
              <a:t>chris.moreh@ncl.ac.uk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  <a:hlinkClick r:id="rId8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8"/>
              </a:rPr>
              <a:t>chrismoreh.com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9"/>
              </a:rPr>
              <a:t>/CGMoreh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0"/>
              </a:rPr>
              <a:t>@CGMoreh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1"/>
              </a:rPr>
              <a:t>Chris 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149FC35-C474-B9EE-00BD-BC74BCEB8E9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 flipH="1">
            <a:off x="5230888" y="5140634"/>
            <a:ext cx="174474" cy="180000"/>
          </a:xfrm>
          <a:prstGeom prst="rect">
            <a:avLst/>
          </a:prstGeom>
        </p:spPr>
      </p:pic>
      <p:pic>
        <p:nvPicPr>
          <p:cNvPr id="21" name="Picture 4">
            <a:extLst>
              <a:ext uri="{FF2B5EF4-FFF2-40B4-BE49-F238E27FC236}">
                <a16:creationId xmlns:a16="http://schemas.microsoft.com/office/drawing/2014/main" id="{F9EC77A0-6416-6CCB-C929-DDC0F09623B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0359" y="5607125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>
            <a:extLst>
              <a:ext uri="{FF2B5EF4-FFF2-40B4-BE49-F238E27FC236}">
                <a16:creationId xmlns:a16="http://schemas.microsoft.com/office/drawing/2014/main" id="{F971661E-6DFA-370A-89DD-D2BC0DED9D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5362" y="5875809"/>
            <a:ext cx="19125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6">
            <a:extLst>
              <a:ext uri="{FF2B5EF4-FFF2-40B4-BE49-F238E27FC236}">
                <a16:creationId xmlns:a16="http://schemas.microsoft.com/office/drawing/2014/main" id="{210423AF-0922-B2C9-F283-0DAD228B18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4877" y="5353572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Email Icon Clip Art , Royalty PNG Transparent Background, Free Download  #130 - FreeIconsPNG">
            <a:extLst>
              <a:ext uri="{FF2B5EF4-FFF2-40B4-BE49-F238E27FC236}">
                <a16:creationId xmlns:a16="http://schemas.microsoft.com/office/drawing/2014/main" id="{A29CD3B3-0963-AF7B-DAAC-629686F339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5888" y="4898445"/>
            <a:ext cx="17640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3352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E3F75-4629-998C-D4E2-8B503E840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746" y="286604"/>
            <a:ext cx="9578516" cy="911576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160149-4935-39AC-F9A6-3A67DF92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32826-B67C-4F7A-B125-1998A9078BC3}" type="datetime3">
              <a:rPr lang="en-US" smtClean="0"/>
              <a:t>8 December 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F1058-E5AB-75EB-3440-399DB9E1D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AAE89-1CB8-B1D2-4FC2-01A5F935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Picture 5" descr="A black background with text and colorful dots&#10;&#10;Description automatically generated">
            <a:extLst>
              <a:ext uri="{FF2B5EF4-FFF2-40B4-BE49-F238E27FC236}">
                <a16:creationId xmlns:a16="http://schemas.microsoft.com/office/drawing/2014/main" id="{064384DD-349E-96E1-9F2A-86B3CB91ED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5261" y="286604"/>
            <a:ext cx="1640837" cy="91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7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745" y="286604"/>
            <a:ext cx="9448800" cy="911576"/>
          </a:xfrm>
        </p:spPr>
        <p:txBody>
          <a:bodyPr/>
          <a:lstStyle>
            <a:lvl1pPr marL="0"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200"/>
            </a:lvl1pPr>
          </a:lstStyle>
          <a:p>
            <a:fld id="{C5B692E6-9897-4277-9118-4222602D0EFA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 descr="A black background with text and colorful dots&#10;&#10;Description automatically generated">
            <a:extLst>
              <a:ext uri="{FF2B5EF4-FFF2-40B4-BE49-F238E27FC236}">
                <a16:creationId xmlns:a16="http://schemas.microsoft.com/office/drawing/2014/main" id="{77856388-EE09-056A-2FE4-8DA8669CE6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5261" y="286604"/>
            <a:ext cx="1640837" cy="91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251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6E00-E271-4660-86A8-FFAB6AA0B697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691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40283F-FE4B-4C6C-94F0-A8E75166B284}" type="datetime3">
              <a:rPr lang="en-US" smtClean="0"/>
              <a:t>8 December 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Logistic regression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753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blipFill dpi="0" rotWithShape="1">
          <a:blip r:embed="rId2">
            <a:lum/>
          </a:blip>
          <a:srcRect/>
          <a:stretch>
            <a:fillRect l="-1000" r="-1000" b="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5539630" y="1128947"/>
            <a:ext cx="6468395" cy="31162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4452" y="1340856"/>
            <a:ext cx="6218753" cy="1475916"/>
          </a:xfrm>
        </p:spPr>
        <p:txBody>
          <a:bodyPr lIns="91440" tIns="0" rIns="91440" bIns="0" anchor="b">
            <a:noAutofit/>
          </a:bodyPr>
          <a:lstStyle>
            <a:lvl1pPr>
              <a:defRPr sz="5400" b="1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4452" y="3094377"/>
            <a:ext cx="6218753" cy="972284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32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070D0-C279-483A-BEA1-B506F338A3A6}" type="datetime3">
              <a:rPr lang="en-US" smtClean="0"/>
              <a:t>8 December 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1317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3A096-76A2-437B-8225-A90CE2FC85D9}" type="datetime3">
              <a:rPr lang="en-US" smtClean="0"/>
              <a:t>8 December 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362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6A4D5-9EA8-41C0-B518-42B9F35892D8}" type="datetime3">
              <a:rPr lang="en-US" smtClean="0"/>
              <a:t>8 December 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8557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891EF-8FAA-41A7-94E7-A8C0B31E1AB1}" type="datetime3">
              <a:rPr lang="en-US" smtClean="0"/>
              <a:t>8 December 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176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6112-DBC4-4041-9B16-62EEC6F9EBFD}" type="datetime3">
              <a:rPr lang="en-US" smtClean="0"/>
              <a:t>8 December 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Logistic regression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9464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E28854-50C7-416D-09D3-A8563C85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BB777-8368-44A8-8361-DAFD39A82D81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43B67-CE49-0A0C-7F9C-757FF38AD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70A5F-B5E2-79CD-FCA0-21992A61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4975CB-2B2F-AABC-1BEA-AC019045F8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745" y="286604"/>
            <a:ext cx="10398935" cy="911576"/>
          </a:xfrm>
        </p:spPr>
        <p:txBody>
          <a:bodyPr/>
          <a:lstStyle>
            <a:lvl1pPr>
              <a:defRPr/>
            </a:lvl1pPr>
          </a:lstStyle>
          <a:p>
            <a:r>
              <a:rPr lang="en-GB" b="1" dirty="0"/>
              <a:t>Numbered bullets</a:t>
            </a:r>
          </a:p>
        </p:txBody>
      </p: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EEDCACCF-0446-119C-CB06-6CC1142E7E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836" y="1872658"/>
            <a:ext cx="468000" cy="468000"/>
          </a:xfrm>
          <a:prstGeom prst="rect">
            <a:avLst/>
          </a:prstGeom>
        </p:spPr>
      </p:pic>
      <p:pic>
        <p:nvPicPr>
          <p:cNvPr id="8" name="Graphic 7" descr="Badge 10 with solid fill">
            <a:extLst>
              <a:ext uri="{FF2B5EF4-FFF2-40B4-BE49-F238E27FC236}">
                <a16:creationId xmlns:a16="http://schemas.microsoft.com/office/drawing/2014/main" id="{7F8BE7BD-9E19-44BB-2FE3-12ED9FDF94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8331" y="1876667"/>
            <a:ext cx="468000" cy="468000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F9F887CA-CB36-8ED8-6315-DC7D01B4907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70601" y="1878489"/>
            <a:ext cx="468000" cy="468000"/>
          </a:xfrm>
          <a:prstGeom prst="rect">
            <a:avLst/>
          </a:prstGeom>
        </p:spPr>
      </p:pic>
      <p:pic>
        <p:nvPicPr>
          <p:cNvPr id="10" name="Graphic 9" descr="Badge 3 with solid fill">
            <a:extLst>
              <a:ext uri="{FF2B5EF4-FFF2-40B4-BE49-F238E27FC236}">
                <a16:creationId xmlns:a16="http://schemas.microsoft.com/office/drawing/2014/main" id="{825A6F75-9C1C-A95D-D6DA-109E9EBA520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37342" y="1872658"/>
            <a:ext cx="468000" cy="468000"/>
          </a:xfrm>
          <a:prstGeom prst="rect">
            <a:avLst/>
          </a:prstGeom>
        </p:spPr>
      </p:pic>
      <p:pic>
        <p:nvPicPr>
          <p:cNvPr id="11" name="Graphic 10" descr="Badge 4 with solid fill">
            <a:extLst>
              <a:ext uri="{FF2B5EF4-FFF2-40B4-BE49-F238E27FC236}">
                <a16:creationId xmlns:a16="http://schemas.microsoft.com/office/drawing/2014/main" id="{60351B4A-6BB3-B9DA-023E-187EE4E1634A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94542" y="1881516"/>
            <a:ext cx="468000" cy="468000"/>
          </a:xfrm>
          <a:prstGeom prst="rect">
            <a:avLst/>
          </a:prstGeom>
        </p:spPr>
      </p:pic>
      <p:pic>
        <p:nvPicPr>
          <p:cNvPr id="12" name="Graphic 11" descr="Badge 5 with solid fill">
            <a:extLst>
              <a:ext uri="{FF2B5EF4-FFF2-40B4-BE49-F238E27FC236}">
                <a16:creationId xmlns:a16="http://schemas.microsoft.com/office/drawing/2014/main" id="{1A300893-C177-035B-A219-FC6049E2DC7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50483" y="1880076"/>
            <a:ext cx="468000" cy="468000"/>
          </a:xfrm>
          <a:prstGeom prst="rect">
            <a:avLst/>
          </a:prstGeom>
        </p:spPr>
      </p:pic>
      <p:pic>
        <p:nvPicPr>
          <p:cNvPr id="13" name="Graphic 12" descr="Badge 6 with solid fill">
            <a:extLst>
              <a:ext uri="{FF2B5EF4-FFF2-40B4-BE49-F238E27FC236}">
                <a16:creationId xmlns:a16="http://schemas.microsoft.com/office/drawing/2014/main" id="{063091E7-A963-EF50-B2F2-C6CCFD335CF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21248" y="1882631"/>
            <a:ext cx="468000" cy="468000"/>
          </a:xfrm>
          <a:prstGeom prst="rect">
            <a:avLst/>
          </a:prstGeom>
        </p:spPr>
      </p:pic>
      <p:pic>
        <p:nvPicPr>
          <p:cNvPr id="14" name="Graphic 13" descr="Badge 7 with solid fill">
            <a:extLst>
              <a:ext uri="{FF2B5EF4-FFF2-40B4-BE49-F238E27FC236}">
                <a16:creationId xmlns:a16="http://schemas.microsoft.com/office/drawing/2014/main" id="{7412FF20-691E-38CC-D8B3-456AF73DB554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63624" y="1884307"/>
            <a:ext cx="468000" cy="468000"/>
          </a:xfrm>
          <a:prstGeom prst="rect">
            <a:avLst/>
          </a:prstGeom>
        </p:spPr>
      </p:pic>
      <p:pic>
        <p:nvPicPr>
          <p:cNvPr id="15" name="Graphic 14" descr="Badge 8 with solid fill">
            <a:extLst>
              <a:ext uri="{FF2B5EF4-FFF2-40B4-BE49-F238E27FC236}">
                <a16:creationId xmlns:a16="http://schemas.microsoft.com/office/drawing/2014/main" id="{F71DD924-767F-6F93-1AF3-D96571DEC0CD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606000" y="1883485"/>
            <a:ext cx="468000" cy="468000"/>
          </a:xfrm>
          <a:prstGeom prst="rect">
            <a:avLst/>
          </a:prstGeom>
        </p:spPr>
      </p:pic>
      <p:pic>
        <p:nvPicPr>
          <p:cNvPr id="16" name="Graphic 15" descr="Badge 9 with solid fill">
            <a:extLst>
              <a:ext uri="{FF2B5EF4-FFF2-40B4-BE49-F238E27FC236}">
                <a16:creationId xmlns:a16="http://schemas.microsoft.com/office/drawing/2014/main" id="{05746AA2-07AD-BB3D-8AC7-7E01AE9FFD6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064706" y="1880076"/>
            <a:ext cx="468000" cy="468000"/>
          </a:xfrm>
          <a:prstGeom prst="rect">
            <a:avLst/>
          </a:prstGeom>
        </p:spPr>
      </p:pic>
      <p:pic>
        <p:nvPicPr>
          <p:cNvPr id="28" name="Graphic 27" descr="Badge 1 outline">
            <a:extLst>
              <a:ext uri="{FF2B5EF4-FFF2-40B4-BE49-F238E27FC236}">
                <a16:creationId xmlns:a16="http://schemas.microsoft.com/office/drawing/2014/main" id="{377A0617-1C4D-93A7-0816-74355CD27482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100935" y="2382047"/>
            <a:ext cx="914400" cy="914400"/>
          </a:xfrm>
          <a:prstGeom prst="rect">
            <a:avLst/>
          </a:prstGeom>
        </p:spPr>
      </p:pic>
      <p:pic>
        <p:nvPicPr>
          <p:cNvPr id="32" name="Graphic 31" descr="Badge outline">
            <a:extLst>
              <a:ext uri="{FF2B5EF4-FFF2-40B4-BE49-F238E27FC236}">
                <a16:creationId xmlns:a16="http://schemas.microsoft.com/office/drawing/2014/main" id="{328E83A1-A5CF-14CE-994B-9FC912A453D5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17798" y="2368814"/>
            <a:ext cx="914400" cy="914400"/>
          </a:xfrm>
          <a:prstGeom prst="rect">
            <a:avLst/>
          </a:prstGeom>
        </p:spPr>
      </p:pic>
      <p:pic>
        <p:nvPicPr>
          <p:cNvPr id="34" name="Graphic 33" descr="Badge 3 outline">
            <a:extLst>
              <a:ext uri="{FF2B5EF4-FFF2-40B4-BE49-F238E27FC236}">
                <a16:creationId xmlns:a16="http://schemas.microsoft.com/office/drawing/2014/main" id="{B8DB6A5A-BA59-B575-8EAE-1F62375C482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822942" y="2360054"/>
            <a:ext cx="914400" cy="914400"/>
          </a:xfrm>
          <a:prstGeom prst="rect">
            <a:avLst/>
          </a:prstGeom>
        </p:spPr>
      </p:pic>
      <p:pic>
        <p:nvPicPr>
          <p:cNvPr id="36" name="Graphic 35" descr="Badge 4 outline">
            <a:extLst>
              <a:ext uri="{FF2B5EF4-FFF2-40B4-BE49-F238E27FC236}">
                <a16:creationId xmlns:a16="http://schemas.microsoft.com/office/drawing/2014/main" id="{7D7894F2-405D-D537-E8CD-FFC2FD562CEA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653533" y="2382047"/>
            <a:ext cx="914400" cy="914400"/>
          </a:xfrm>
          <a:prstGeom prst="rect">
            <a:avLst/>
          </a:prstGeom>
        </p:spPr>
      </p:pic>
      <p:pic>
        <p:nvPicPr>
          <p:cNvPr id="38" name="Graphic 37" descr="Badge 5 outline">
            <a:extLst>
              <a:ext uri="{FF2B5EF4-FFF2-40B4-BE49-F238E27FC236}">
                <a16:creationId xmlns:a16="http://schemas.microsoft.com/office/drawing/2014/main" id="{CCB95B5E-BCD4-CD6A-8DA0-49EF454DFC6B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70396" y="2382047"/>
            <a:ext cx="914400" cy="914400"/>
          </a:xfrm>
          <a:prstGeom prst="rect">
            <a:avLst/>
          </a:prstGeom>
        </p:spPr>
      </p:pic>
      <p:pic>
        <p:nvPicPr>
          <p:cNvPr id="40" name="Graphic 39" descr="Badge 6 outline">
            <a:extLst>
              <a:ext uri="{FF2B5EF4-FFF2-40B4-BE49-F238E27FC236}">
                <a16:creationId xmlns:a16="http://schemas.microsoft.com/office/drawing/2014/main" id="{B2E42FE5-E882-BB0B-DF27-634BED68E17D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87259" y="2360054"/>
            <a:ext cx="914400" cy="914400"/>
          </a:xfrm>
          <a:prstGeom prst="rect">
            <a:avLst/>
          </a:prstGeom>
        </p:spPr>
      </p:pic>
      <p:pic>
        <p:nvPicPr>
          <p:cNvPr id="42" name="Graphic 41" descr="Badge 7 outline">
            <a:extLst>
              <a:ext uri="{FF2B5EF4-FFF2-40B4-BE49-F238E27FC236}">
                <a16:creationId xmlns:a16="http://schemas.microsoft.com/office/drawing/2014/main" id="{4F474E09-0F6B-A545-A2FB-528D8342017C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104122" y="2382047"/>
            <a:ext cx="914400" cy="914400"/>
          </a:xfrm>
          <a:prstGeom prst="rect">
            <a:avLst/>
          </a:prstGeom>
        </p:spPr>
      </p:pic>
      <p:pic>
        <p:nvPicPr>
          <p:cNvPr id="44" name="Graphic 43" descr="Badge 8 outline">
            <a:extLst>
              <a:ext uri="{FF2B5EF4-FFF2-40B4-BE49-F238E27FC236}">
                <a16:creationId xmlns:a16="http://schemas.microsoft.com/office/drawing/2014/main" id="{E3982124-D3D3-AC60-CDFE-68CC967AC2ED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6880662" y="2368814"/>
            <a:ext cx="914400" cy="914400"/>
          </a:xfrm>
          <a:prstGeom prst="rect">
            <a:avLst/>
          </a:prstGeom>
        </p:spPr>
      </p:pic>
      <p:pic>
        <p:nvPicPr>
          <p:cNvPr id="46" name="Graphic 45" descr="Badge 9 outline">
            <a:extLst>
              <a:ext uri="{FF2B5EF4-FFF2-40B4-BE49-F238E27FC236}">
                <a16:creationId xmlns:a16="http://schemas.microsoft.com/office/drawing/2014/main" id="{D98F73D0-5CF6-543B-2C7E-39B53C836163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686300" y="2368814"/>
            <a:ext cx="914400" cy="914400"/>
          </a:xfrm>
          <a:prstGeom prst="rect">
            <a:avLst/>
          </a:prstGeom>
        </p:spPr>
      </p:pic>
      <p:pic>
        <p:nvPicPr>
          <p:cNvPr id="48" name="Graphic 47" descr="Badge 10 outline">
            <a:extLst>
              <a:ext uri="{FF2B5EF4-FFF2-40B4-BE49-F238E27FC236}">
                <a16:creationId xmlns:a16="http://schemas.microsoft.com/office/drawing/2014/main" id="{9596ECA7-08AD-60AD-126A-2D32F85555E2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8474065" y="236308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845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FB93-0A54-F0A3-44FD-9D6D98D416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0283" y="606093"/>
            <a:ext cx="9876849" cy="911576"/>
          </a:xfrm>
        </p:spPr>
        <p:txBody>
          <a:bodyPr>
            <a:noAutofit/>
          </a:bodyPr>
          <a:lstStyle>
            <a:lvl1pPr algn="ctr">
              <a:defRPr sz="7200" b="1">
                <a:latin typeface="+mn-lt"/>
              </a:defRPr>
            </a:lvl1pPr>
          </a:lstStyle>
          <a:p>
            <a:r>
              <a:rPr lang="en-GB" dirty="0"/>
              <a:t>Add Outline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FD10C5-6787-77AE-977F-D7E7083D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57CA2-243F-4A3D-83CC-ACEBD9D33988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36E4D-BDDF-D97C-2EC6-0E974709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1CEC6-7F83-2BE7-95A9-5DF472D2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549E6D0-17C2-32B5-650D-F84097C07BF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952401"/>
              </p:ext>
            </p:extLst>
          </p:nvPr>
        </p:nvGraphicFramePr>
        <p:xfrm>
          <a:off x="1335634" y="1993748"/>
          <a:ext cx="9626149" cy="257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547184884"/>
                    </a:ext>
                  </a:extLst>
                </a:gridCol>
                <a:gridCol w="9086149">
                  <a:extLst>
                    <a:ext uri="{9D8B030D-6E8A-4147-A177-3AD203B41FA5}">
                      <a16:colId xmlns:a16="http://schemas.microsoft.com/office/drawing/2014/main" val="4258649048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">
                        <a:extLst>
                          <a:ext uri="{96DAC541-7B7A-43D3-8B79-37D633B846F1}">
                            <asvg:svgBlip xmlns:asvg="http://schemas.microsoft.com/office/drawing/2016/SVG/main" r:embed="rId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one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083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58223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>
                        <a:extLst>
                          <a:ext uri="{96DAC541-7B7A-43D3-8B79-37D633B846F1}">
                            <asvg:svgBlip xmlns:asvg="http://schemas.microsoft.com/office/drawing/2016/SVG/main" r:embed="rId5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two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6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44012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6">
                        <a:extLst>
                          <a:ext uri="{96DAC541-7B7A-43D3-8B79-37D633B846F1}">
                            <asvg:svgBlip xmlns:asvg="http://schemas.microsoft.com/office/drawing/2016/SVG/main" r:embed="rId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three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10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2218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four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62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066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0494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FB93-0A54-F0A3-44FD-9D6D98D416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399" y="689938"/>
            <a:ext cx="10115202" cy="911576"/>
          </a:xfrm>
        </p:spPr>
        <p:txBody>
          <a:bodyPr>
            <a:noAutofit/>
          </a:bodyPr>
          <a:lstStyle>
            <a:lvl1pPr algn="ctr">
              <a:defRPr sz="7200" b="1">
                <a:latin typeface="+mn-lt"/>
              </a:defRPr>
            </a:lvl1pPr>
          </a:lstStyle>
          <a:p>
            <a:r>
              <a:rPr lang="en-GB" dirty="0"/>
              <a:t>Add Outline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FD10C5-6787-77AE-977F-D7E7083D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A695E-9617-46A3-B2A4-B1515159ECCB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36E4D-BDDF-D97C-2EC6-0E974709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1CEC6-7F83-2BE7-95A9-5DF472D2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549E6D0-17C2-32B5-650D-F84097C07BF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996315249"/>
              </p:ext>
            </p:extLst>
          </p:nvPr>
        </p:nvGraphicFramePr>
        <p:xfrm>
          <a:off x="726954" y="1971714"/>
          <a:ext cx="10440000" cy="328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547184884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425864904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861192458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19964467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">
                        <a:extLst>
                          <a:ext uri="{96DAC541-7B7A-43D3-8B79-37D633B846F1}">
                            <asvg:svgBlip xmlns:asvg="http://schemas.microsoft.com/office/drawing/2016/SVG/main" r:embed="rId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200" dirty="0"/>
                        <a:t>Edit in Master slide view</a:t>
                      </a:r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 dpi="0" rotWithShape="0">
                      <a:blip r:embed="rId4">
                        <a:extLst>
                          <a:ext uri="{96DAC541-7B7A-43D3-8B79-37D633B846F1}">
                            <asvg:svgBlip xmlns:asvg="http://schemas.microsoft.com/office/drawing/2016/SVG/main" r:embed="rId5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083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58223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6">
                        <a:extLst>
                          <a:ext uri="{96DAC541-7B7A-43D3-8B79-37D633B846F1}">
                            <asvg:svgBlip xmlns:asvg="http://schemas.microsoft.com/office/drawing/2016/SVG/main" r:embed="rId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6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44012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0">
                        <a:extLst>
                          <a:ext uri="{96DAC541-7B7A-43D3-8B79-37D633B846F1}">
                            <asvg:svgBlip xmlns:asvg="http://schemas.microsoft.com/office/drawing/2016/SVG/main" r:embed="rId11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2">
                        <a:extLst>
                          <a:ext uri="{96DAC541-7B7A-43D3-8B79-37D633B846F1}">
                            <asvg:svgBlip xmlns:asvg="http://schemas.microsoft.com/office/drawing/2016/SVG/main" r:embed="rId1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10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2218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4">
                        <a:extLst>
                          <a:ext uri="{96DAC541-7B7A-43D3-8B79-37D633B846F1}">
                            <asvg:svgBlip xmlns:asvg="http://schemas.microsoft.com/office/drawing/2016/SVG/main" r:embed="rId15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6">
                        <a:extLst>
                          <a:ext uri="{96DAC541-7B7A-43D3-8B79-37D633B846F1}">
                            <asvg:svgBlip xmlns:asvg="http://schemas.microsoft.com/office/drawing/2016/SVG/main" r:embed="rId1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62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06641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8">
                        <a:extLst>
                          <a:ext uri="{96DAC541-7B7A-43D3-8B79-37D633B846F1}">
                            <asvg:svgBlip xmlns:asvg="http://schemas.microsoft.com/office/drawing/2016/SVG/main" r:embed="rId1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0">
                        <a:extLst>
                          <a:ext uri="{96DAC541-7B7A-43D3-8B79-37D633B846F1}">
                            <asvg:svgBlip xmlns:asvg="http://schemas.microsoft.com/office/drawing/2016/SVG/main" r:embed="rId21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105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673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4895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5C1E-58EC-4573-8DC8-5E090CCA932A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479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D92C9-5601-4E6C-A948-1EA561CFD697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267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2" descr="Partners; Sustaining Creative Economies ...">
            <a:extLst>
              <a:ext uri="{FF2B5EF4-FFF2-40B4-BE49-F238E27FC236}">
                <a16:creationId xmlns:a16="http://schemas.microsoft.com/office/drawing/2014/main" id="{C213A523-D735-8490-152A-23415FF254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8991" y="5440123"/>
            <a:ext cx="1342114" cy="751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39AE9B-1271-7638-B347-A5F464D2B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E39-C5F7-4614-B180-A2BACFF3BA24}" type="datetime3">
              <a:rPr lang="en-US" smtClean="0"/>
              <a:t>8 December 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3BAF4-52A6-7AC7-8C6F-183586D9D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93AA3C-DFA6-2BE6-3BD0-0D6E60101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2A7E09F9-D2AF-737B-7EF3-D1714380AC3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944" b="94860" l="9780" r="89976">
                        <a14:foregroundMark x1="25672" y1="20093" x2="32152" y2="70327"/>
                        <a14:foregroundMark x1="32152" y1="70327" x2="79829" y2="87383"/>
                        <a14:foregroundMark x1="79829" y1="87383" x2="79095" y2="36682"/>
                        <a14:foregroundMark x1="79095" y1="36682" x2="64914" y2="14720"/>
                        <a14:foregroundMark x1="64914" y1="14720" x2="48533" y2="7944"/>
                        <a14:foregroundMark x1="48533" y1="7944" x2="30196" y2="13084"/>
                        <a14:foregroundMark x1="30196" y1="13084" x2="25306" y2="20561"/>
                        <a14:foregroundMark x1="21760" y1="39486" x2="25061" y2="78505"/>
                        <a14:foregroundMark x1="25061" y1="78505" x2="64670" y2="92056"/>
                        <a14:foregroundMark x1="64670" y1="92056" x2="78851" y2="91822"/>
                        <a14:foregroundMark x1="82641" y1="15187" x2="86675" y2="62850"/>
                        <a14:foregroundMark x1="86675" y1="62850" x2="80196" y2="94626"/>
                        <a14:foregroundMark x1="80196" y1="94626" x2="78117" y2="948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245" t="2011" r="13041"/>
          <a:stretch/>
        </p:blipFill>
        <p:spPr bwMode="auto">
          <a:xfrm>
            <a:off x="3480620" y="-23164"/>
            <a:ext cx="8635320" cy="6350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Graphic 9" descr="Advertising outline">
            <a:extLst>
              <a:ext uri="{FF2B5EF4-FFF2-40B4-BE49-F238E27FC236}">
                <a16:creationId xmlns:a16="http://schemas.microsoft.com/office/drawing/2014/main" id="{1EDC15B8-2173-9DC7-DB3B-645E07D8406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71" y="208195"/>
            <a:ext cx="7304134" cy="6756079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D1C29E7-0246-1CD7-8A1F-30707B7E185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94192" y="4729773"/>
            <a:ext cx="2851533" cy="938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B8C7C2A-22F2-9C49-D70E-5C8A22C35019}"/>
              </a:ext>
            </a:extLst>
          </p:cNvPr>
          <p:cNvSpPr txBox="1"/>
          <p:nvPr userDrawn="1"/>
        </p:nvSpPr>
        <p:spPr>
          <a:xfrm>
            <a:off x="2189351" y="4909434"/>
            <a:ext cx="25825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9"/>
              </a:rPr>
              <a:t>chris.moreh@ncl.ac.uk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  <a:hlinkClick r:id="rId1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0"/>
              </a:rPr>
              <a:t>chrismoreh.com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1"/>
              </a:rPr>
              <a:t>/CGMoreh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2"/>
              </a:rPr>
              <a:t>@CGMoreh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3"/>
              </a:rPr>
              <a:t>Chris 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D7CACF7-D679-73AB-9142-786DA076C3A7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 flipH="1">
            <a:off x="2205260" y="5245571"/>
            <a:ext cx="174474" cy="180000"/>
          </a:xfrm>
          <a:prstGeom prst="rect">
            <a:avLst/>
          </a:prstGeom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F5D755EC-05C2-0884-2C2F-74A7297B70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4731" y="5712062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>
            <a:extLst>
              <a:ext uri="{FF2B5EF4-FFF2-40B4-BE49-F238E27FC236}">
                <a16:creationId xmlns:a16="http://schemas.microsoft.com/office/drawing/2014/main" id="{40A42823-F60C-D577-74D9-FE8C3E3A62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734" y="5980746"/>
            <a:ext cx="19125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6">
            <a:extLst>
              <a:ext uri="{FF2B5EF4-FFF2-40B4-BE49-F238E27FC236}">
                <a16:creationId xmlns:a16="http://schemas.microsoft.com/office/drawing/2014/main" id="{ECDBB212-ABA5-CE0D-7F0C-C37D656E0D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249" y="5458509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mail Icon Clip Art , Royalty PNG Transparent Background, Free Download  #130 - FreeIconsPNG">
            <a:extLst>
              <a:ext uri="{FF2B5EF4-FFF2-40B4-BE49-F238E27FC236}">
                <a16:creationId xmlns:a16="http://schemas.microsoft.com/office/drawing/2014/main" id="{9AD65224-3024-068D-2B15-9BC76597054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0092" y="5003382"/>
            <a:ext cx="17640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63504B0-8CB3-256C-EF50-E93FEF75AC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9"/>
          <a:srcRect l="14262" t="5451" r="9231" b="22240"/>
          <a:stretch/>
        </p:blipFill>
        <p:spPr>
          <a:xfrm>
            <a:off x="851647" y="1470212"/>
            <a:ext cx="5629836" cy="267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324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ECC6-7BD6-D9D0-DD8F-30FCF10DE4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References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857D05-3B38-1245-894D-24581A24F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4250B-448A-4AED-B8B3-4BDFCDEB8EA3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C7BA36-6C3C-C811-3047-B251D5B25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9F523-D9FC-8E93-1712-1B6E3DE7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9FD4878-448B-C559-6183-304914140D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7238" y="1431925"/>
            <a:ext cx="10455275" cy="46577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363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7A8F960-150E-CFFE-3EB5-036D92AC41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F921059-ACFF-7915-A3D0-F9C1B133264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2734" y="3113785"/>
            <a:ext cx="6165348" cy="104878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Autofit/>
          </a:bodyPr>
          <a:lstStyle>
            <a:lvl1pPr marL="990575" indent="-990575" algn="l">
              <a:buFont typeface="+mj-lt"/>
              <a:buAutoNum type="arabicPeriod"/>
              <a:defRPr sz="5867">
                <a:solidFill>
                  <a:srgbClr val="496F2F"/>
                </a:solidFill>
              </a:defRPr>
            </a:lvl1pPr>
          </a:lstStyle>
          <a:p>
            <a:r>
              <a:rPr lang="en-US" dirty="0"/>
              <a:t>Section number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BE298-0C12-3E53-D830-52A766E96A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5782" y="4309859"/>
            <a:ext cx="6972300" cy="1727200"/>
          </a:xfrm>
        </p:spPr>
        <p:txBody>
          <a:bodyPr/>
          <a:lstStyle>
            <a:lvl1pPr marL="482588" indent="-245527">
              <a:buFont typeface="Arial" panose="020B0604020202020204" pitchFamily="34" charset="0"/>
              <a:buChar char="•"/>
              <a:defRPr sz="1867"/>
            </a:lvl1pPr>
            <a:lvl2pPr marL="457189" indent="0">
              <a:buNone/>
              <a:defRPr sz="1600"/>
            </a:lvl2pPr>
            <a:lvl3pPr marL="596885" indent="0">
              <a:buNone/>
              <a:defRPr sz="1467"/>
            </a:lvl3pPr>
            <a:lvl4pPr marL="842412" indent="0">
              <a:buNone/>
              <a:defRPr sz="1400"/>
            </a:lvl4pPr>
            <a:lvl5pPr marL="1071007" indent="0">
              <a:buNone/>
              <a:defRPr sz="1333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34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6746" y="286604"/>
            <a:ext cx="9578516" cy="9115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745" y="1477880"/>
            <a:ext cx="10398935" cy="468118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EDAA8515-A473-4602-A99A-4C7C8D13F189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Logistic regression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24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8" r:id="rId5"/>
    <p:sldLayoutId id="2147483669" r:id="rId6"/>
    <p:sldLayoutId id="2147483664" r:id="rId7"/>
    <p:sldLayoutId id="2147483665" r:id="rId8"/>
    <p:sldLayoutId id="2147483666" r:id="rId9"/>
    <p:sldLayoutId id="2147483667" r:id="rId10"/>
    <p:sldLayoutId id="2147483674" r:id="rId11"/>
    <p:sldLayoutId id="2147483676" r:id="rId12"/>
    <p:sldLayoutId id="2147483675" r:id="rId13"/>
    <p:sldLayoutId id="2147483670" r:id="rId14"/>
    <p:sldLayoutId id="2147483671" r:id="rId15"/>
    <p:sldLayoutId id="2147483673" r:id="rId16"/>
    <p:sldLayoutId id="2147483677" r:id="rId17"/>
    <p:sldLayoutId id="2147483678" r:id="rId18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 spc="-50" baseline="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20000"/>
        <a:buFont typeface="Arial Narrow" panose="020B0606020202030204" pitchFamily="34" charset="0"/>
        <a:buChar char="●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10000"/>
        <a:buFont typeface="Courier New" panose="02070309020205020404" pitchFamily="49" charset="0"/>
        <a:buChar char="o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749808" indent="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None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61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060982-6EE3-A8F1-75FE-C4BDB2FF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b="1" dirty="0"/>
              <a:t>Week 11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12B5B6-7C9E-9DE5-8D2C-13D42F1FB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64452" y="3094377"/>
            <a:ext cx="6369052" cy="972284"/>
          </a:xfrm>
        </p:spPr>
        <p:txBody>
          <a:bodyPr>
            <a:normAutofit/>
          </a:bodyPr>
          <a:lstStyle/>
          <a:p>
            <a:r>
              <a:rPr lang="en-GB" sz="3600" dirty="0"/>
              <a:t>Uncertainty and Inference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6383FB-FAD5-ACBF-8362-99A44C5B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EE084-490D-4CAB-BF9E-8B5A5A160BC0}" type="datetime3">
              <a:rPr lang="en-US" smtClean="0"/>
              <a:t>8 December 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4BC908-4805-889D-BE4F-455E3A449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3814459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t>From “data” to “population”</a:t>
            </a:r>
          </a:p>
          <a:p>
            <a:pPr lvl="0"/>
            <a:r>
              <a:t>From “association” to “causality”</a:t>
            </a:r>
          </a:p>
          <a:p>
            <a:pPr lvl="0"/>
            <a:r>
              <a:rPr b="1" i="1"/>
              <a:t>Statistical inference</a:t>
            </a:r>
            <a:r>
              <a:t> can be formulated as a set of operations on data that yield </a:t>
            </a:r>
            <a:r>
              <a:rPr b="1" i="1"/>
              <a:t>estimates</a:t>
            </a:r>
            <a:r>
              <a:t> and </a:t>
            </a:r>
            <a:r>
              <a:rPr b="1" i="1"/>
              <a:t>uncertainty statements</a:t>
            </a:r>
            <a:r>
              <a:t> about </a:t>
            </a:r>
            <a:r>
              <a:rPr b="1" i="1"/>
              <a:t>predictions</a:t>
            </a:r>
            <a:r>
              <a:t> and </a:t>
            </a:r>
            <a:r>
              <a:rPr b="1" i="1"/>
              <a:t>parameters</a:t>
            </a:r>
            <a:r>
              <a:t> of some underlying </a:t>
            </a:r>
            <a:r>
              <a:rPr b="1" i="1"/>
              <a:t>process</a:t>
            </a:r>
            <a:r>
              <a:t> or </a:t>
            </a:r>
            <a:r>
              <a:rPr b="1" i="1"/>
              <a:t>population</a:t>
            </a:r>
            <a:r>
              <a:t> (Gelman, Hill, and Vehtari 2020)</a:t>
            </a:r>
          </a:p>
          <a:p>
            <a:pPr lvl="0"/>
            <a:r>
              <a:t>From a mathematical standpoint, these </a:t>
            </a:r>
            <a:r>
              <a:rPr i="1"/>
              <a:t>probabilistic uncertainty statements</a:t>
            </a:r>
            <a:r>
              <a:t> are derived based on some </a:t>
            </a:r>
            <a:r>
              <a:rPr b="1" i="1"/>
              <a:t>assumed probability model</a:t>
            </a:r>
            <a:r>
              <a:t> for observed data.</a:t>
            </a:r>
          </a:p>
          <a:p>
            <a:pPr lvl="0"/>
            <a:r>
              <a:t>The </a:t>
            </a:r>
            <a:r>
              <a:rPr b="1" i="1"/>
              <a:t>normal (Gaussian) distribution</a:t>
            </a:r>
            <a:r>
              <a:t> — </a:t>
            </a:r>
            <a:r>
              <a:rPr i="1"/>
              <a:t>linear regression</a:t>
            </a:r>
          </a:p>
          <a:p>
            <a:pPr lvl="0"/>
            <a:r>
              <a:t>The </a:t>
            </a:r>
            <a:r>
              <a:rPr b="1" i="1"/>
              <a:t>binomial distribution</a:t>
            </a:r>
            <a:r>
              <a:t> — </a:t>
            </a:r>
            <a:r>
              <a:rPr i="1"/>
              <a:t>logistic regression</a:t>
            </a:r>
          </a:p>
          <a:p>
            <a:pPr lvl="0"/>
            <a:r>
              <a:t>So far we have focused on the “point” </a:t>
            </a:r>
            <a:r>
              <a:rPr b="1"/>
              <a:t>estimates</a:t>
            </a:r>
            <a:r>
              <a:t> from regression models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CC446-DA37-0BE6-3A13-40E9B17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C94FE-5F72-4ACE-BC7F-0C539930116A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6D18-5879-951E-312D-F35B3AEFF7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Estimation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213AC-B520-1C10-5083-9B4C825E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Association between </a:t>
            </a:r>
            <a:r>
              <a:rPr i="1" dirty="0"/>
              <a:t>inequality</a:t>
            </a:r>
            <a:r>
              <a:rPr dirty="0"/>
              <a:t> and </a:t>
            </a:r>
            <a:r>
              <a:rPr i="1" dirty="0"/>
              <a:t>social trust</a:t>
            </a:r>
            <a:r>
              <a:rPr dirty="0"/>
              <a:t> at cross-national comparative level (W3Ex1) (Wilkinson and Pickett 2010)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277B0-3AC5-0D62-7994-A671EFD6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pic>
        <p:nvPicPr>
          <p:cNvPr id="3" name="Picture 1" descr="Week_6_R_files/figure-pptx/unnamed-chunk-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05050" y="2271306"/>
            <a:ext cx="7472178" cy="37360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3EB8DB-C8B6-ED22-46AA-25E1A221B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EB96C-3C18-47AF-AD00-269380805C02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6D18-5879-951E-312D-F35B3AEFF7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Estimation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213AC-B520-1C10-5083-9B4C825E4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745" y="1477880"/>
            <a:ext cx="3396155" cy="4681181"/>
          </a:xfrm>
        </p:spPr>
        <p:txBody>
          <a:bodyPr/>
          <a:lstStyle/>
          <a:p>
            <a:pPr lvl="0"/>
            <a:r>
              <a:rPr b="1" dirty="0"/>
              <a:t>Intercept:</a:t>
            </a:r>
            <a:r>
              <a:rPr dirty="0"/>
              <a:t> Social trust in countries with 0 inequality is expected to be 45.4 on average.</a:t>
            </a:r>
          </a:p>
          <a:p>
            <a:pPr lvl="0"/>
            <a:r>
              <a:rPr b="1" dirty="0"/>
              <a:t>Slope:</a:t>
            </a:r>
            <a:r>
              <a:rPr dirty="0"/>
              <a:t> For each additional point increase in Inequality, the model predicts the level of social trust to be lower, on average, by 3.1 points.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277B0-3AC5-0D62-7994-A671EFD6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  <p:pic>
        <p:nvPicPr>
          <p:cNvPr id="3" name="Picture 1" descr="Week_6_R_files/figure-pptx/unnamed-chunk-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85340" y="1667760"/>
            <a:ext cx="7533317" cy="37666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2123C4-4965-FB20-3053-A41247C6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6760B-3EB7-49C9-B5A5-FF2D9F164106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From (sample) estimation to (population)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indent="0">
              <a:buNone/>
            </a:pPr>
            <a:r>
              <a:rPr sz="2667" i="1" dirty="0"/>
              <a:t>For each additional point increase in Inequality, the model predicts the level of social trust to be lower, on average, by 3.1 points</a:t>
            </a:r>
            <a:endParaRPr lang="en-GB" sz="2667" i="1" dirty="0"/>
          </a:p>
          <a:p>
            <a:pPr marL="0" indent="0">
              <a:buNone/>
            </a:pPr>
            <a:endParaRPr sz="2667" i="1" dirty="0"/>
          </a:p>
          <a:p>
            <a:pPr lvl="0"/>
            <a:r>
              <a:rPr dirty="0"/>
              <a:t>This estimate is valid for the single sample of the countries in the model</a:t>
            </a:r>
          </a:p>
          <a:p>
            <a:pPr lvl="0"/>
            <a:r>
              <a:rPr dirty="0"/>
              <a:t>But what if we’re not interested in quantifying the relationship between Inequality and Trust in only this sample?</a:t>
            </a:r>
          </a:p>
          <a:p>
            <a:pPr lvl="0"/>
            <a:r>
              <a:rPr dirty="0"/>
              <a:t>What if we want to say something about the relationship between these variables for all the countries in the world?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BBDD3-7C7C-8496-FC64-4DC890AB5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EE021-C11B-490B-8907-90EC6FDEA306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/>
          <a:p>
            <a:pPr lvl="0"/>
            <a:r>
              <a:rPr sz="3200" dirty="0"/>
              <a:t>Statistical inference provide</a:t>
            </a:r>
            <a:r>
              <a:rPr lang="en-GB" sz="3200" dirty="0"/>
              <a:t>s</a:t>
            </a:r>
            <a:r>
              <a:rPr sz="3200" dirty="0"/>
              <a:t> methods and tools for us to use the single sample we have observed to make </a:t>
            </a:r>
            <a:r>
              <a:rPr sz="3200" b="1" dirty="0"/>
              <a:t>valid statements (inferences) </a:t>
            </a:r>
            <a:r>
              <a:rPr sz="3200" dirty="0"/>
              <a:t>about the </a:t>
            </a:r>
            <a:r>
              <a:rPr sz="3200" b="1" dirty="0"/>
              <a:t>population</a:t>
            </a:r>
            <a:r>
              <a:rPr sz="3200" dirty="0"/>
              <a:t> it comes from</a:t>
            </a:r>
          </a:p>
          <a:p>
            <a:pPr lvl="0"/>
            <a:r>
              <a:rPr sz="3200" dirty="0"/>
              <a:t>For our inferences to be valid, the sample should be </a:t>
            </a:r>
            <a:r>
              <a:rPr sz="3200" b="1" dirty="0"/>
              <a:t>random</a:t>
            </a:r>
            <a:r>
              <a:rPr sz="3200" dirty="0"/>
              <a:t> and </a:t>
            </a:r>
            <a:r>
              <a:rPr sz="3200" b="1" dirty="0"/>
              <a:t>representative</a:t>
            </a:r>
            <a:r>
              <a:rPr sz="3200" dirty="0"/>
              <a:t> of the population </a:t>
            </a:r>
            <a:r>
              <a:rPr lang="en-GB" sz="3200" dirty="0"/>
              <a:t>it was sampled from</a:t>
            </a:r>
            <a:endParaRPr sz="32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C1A6C-A5BB-2A5D-56CB-74E6A502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77BBE-3CEF-4E54-A451-F8B015291E68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Inference for 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>
              <a:xfrm>
                <a:off x="756745" y="1800225"/>
                <a:ext cx="10398935" cy="4358836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sz="4000" dirty="0"/>
                  <a:t>Calculate a </a:t>
                </a:r>
                <a:r>
                  <a:rPr sz="4000" b="1" dirty="0"/>
                  <a:t>confidence interval </a:t>
                </a:r>
                <a:r>
                  <a:rPr sz="4000" dirty="0"/>
                  <a:t>for the slope,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4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4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sz="4000" dirty="0"/>
              </a:p>
              <a:p>
                <a:pPr lvl="0"/>
                <a:r>
                  <a:rPr sz="4000" dirty="0"/>
                  <a:t>Conduct a </a:t>
                </a:r>
                <a:r>
                  <a:rPr sz="4000" b="1" dirty="0"/>
                  <a:t>hypothesis test </a:t>
                </a:r>
                <a:r>
                  <a:rPr sz="4000" dirty="0"/>
                  <a:t>for the interval,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4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4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sz="4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xfrm>
                <a:off x="756745" y="1800225"/>
                <a:ext cx="10398935" cy="4358836"/>
              </a:xfrm>
              <a:blipFill>
                <a:blip r:embed="rId2"/>
                <a:stretch>
                  <a:fillRect l="-1817" t="-39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E9E6D-F66B-5A6D-6273-ADFFE8BD4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B83E6-81A2-4940-A71A-F37972B7C3A7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b="0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C005-4ACE-4016-AEB2-2CEE1BA467DA}" type="datetime3">
              <a:rPr lang="en-US" smtClean="0"/>
              <a:t>8 December 2025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B15CB2-542B-A6B3-4671-B475B65F53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7"/>
          <a:stretch/>
        </p:blipFill>
        <p:spPr>
          <a:xfrm>
            <a:off x="491358" y="1782823"/>
            <a:ext cx="5688000" cy="420053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7789" y="1206927"/>
            <a:ext cx="6217885" cy="478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41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B89F0-2C4C-4252-933A-421ED36F5A95}" type="datetime3">
              <a:rPr lang="en-US" smtClean="0"/>
              <a:t>8 December 2025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787F33-4CD8-DBAD-424F-53CB7F065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07"/>
          <a:stretch/>
        </p:blipFill>
        <p:spPr>
          <a:xfrm>
            <a:off x="480060" y="1897379"/>
            <a:ext cx="5287729" cy="40947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9480" y="1682636"/>
            <a:ext cx="6452520" cy="4094707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65BE9DCD-36A4-9D2A-DEFC-526CBB943120}"/>
              </a:ext>
            </a:extLst>
          </p:cNvPr>
          <p:cNvSpPr/>
          <p:nvPr/>
        </p:nvSpPr>
        <p:spPr>
          <a:xfrm>
            <a:off x="5280661" y="3829050"/>
            <a:ext cx="160020" cy="69723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7709D734-C56C-74D2-BCF9-DEB651395DCD}"/>
              </a:ext>
            </a:extLst>
          </p:cNvPr>
          <p:cNvSpPr/>
          <p:nvPr/>
        </p:nvSpPr>
        <p:spPr>
          <a:xfrm>
            <a:off x="4667251" y="3729990"/>
            <a:ext cx="160020" cy="55626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4347E80E-FE4B-EAB0-8C66-B491B6F5C12D}"/>
              </a:ext>
            </a:extLst>
          </p:cNvPr>
          <p:cNvSpPr/>
          <p:nvPr/>
        </p:nvSpPr>
        <p:spPr>
          <a:xfrm>
            <a:off x="3123924" y="3457575"/>
            <a:ext cx="72000" cy="21600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904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Confidence interval for the slope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Confidence interval:</a:t>
                </a:r>
                <a:r>
                  <a:t> Provide a plausible range of values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at a given confidence level.</a:t>
                </a:r>
              </a:p>
              <a:p>
                <a:pPr lvl="0"/>
                <a:r>
                  <a:t>Using only a single point estimate is like fishing in a murky lake with a spear, and using a confidence interval is like fishing with a net</a:t>
                </a:r>
              </a:p>
              <a:p>
                <a:pPr lvl="1"/>
                <a:r>
                  <a:t>We can throw a spear where we saw a fish but we will probably miss, if we toss a net in that area, we have a good chance of catching the fish</a:t>
                </a:r>
              </a:p>
              <a:p>
                <a:pPr lvl="1"/>
                <a:r>
                  <a:t>Similarly, if we report a point estimate, we probably will not hit the exact population parameter, but if we report a range of plausible values we have a good shot at capturing the parameter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 l="-1172" t="-2083" r="-4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9ABFB-00D4-8573-2D2A-DD68C851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D19CF-A3E7-4D2F-BC14-9D0D65BFB4AC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Mathematical representation, visualized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pic>
        <p:nvPicPr>
          <p:cNvPr id="4" name="Picture 3" descr="Week_6_R_files/figure-pptx/unnamed-chunk-4-1.png">
            <a:extLst>
              <a:ext uri="{FF2B5EF4-FFF2-40B4-BE49-F238E27FC236}">
                <a16:creationId xmlns:a16="http://schemas.microsoft.com/office/drawing/2014/main" id="{D1AC5C5E-12A2-B87B-98FD-C32578060AE9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09601" y="2717432"/>
            <a:ext cx="53848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D4D0AD7D-0B5B-5D65-B63B-5516D02D1E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7600" y="2319867"/>
                <a:ext cx="5384800" cy="4170839"/>
              </a:xfrm>
              <a:prstGeom prst="rect">
                <a:avLst/>
              </a:prstGeom>
            </p:spPr>
            <p:txBody>
              <a:bodyPr/>
              <a:lstStyle>
                <a:lvl1pPr marL="269875" indent="-269875" algn="l" defTabSz="342900" rtl="0" eaLnBrk="1" latinLnBrk="0" hangingPunct="1">
                  <a:spcBef>
                    <a:spcPct val="20000"/>
                  </a:spcBef>
                  <a:buClr>
                    <a:schemeClr val="accent1">
                      <a:lumMod val="50000"/>
                    </a:schemeClr>
                  </a:buClr>
                  <a:buSzPct val="130000"/>
                  <a:buFont typeface="Arial Narrow" panose="020B0606020202030204" pitchFamily="34" charset="0"/>
                  <a:buChar char="●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9750" indent="-196850" algn="l" defTabSz="342900" rtl="0" eaLnBrk="1" latinLnBrk="0" hangingPunct="1">
                  <a:spcBef>
                    <a:spcPct val="20000"/>
                  </a:spcBef>
                  <a:buClr>
                    <a:schemeClr val="accent1">
                      <a:lumMod val="50000"/>
                    </a:schemeClr>
                  </a:buClr>
                  <a:buFont typeface="Arial Narrow" panose="020B0606020202030204" pitchFamily="34" charset="0"/>
                  <a:buChar char="►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717550" indent="-269875" algn="l" defTabSz="342900" rtl="0" eaLnBrk="1" latinLnBrk="0" hangingPunct="1">
                  <a:spcBef>
                    <a:spcPct val="20000"/>
                  </a:spcBef>
                  <a:buClr>
                    <a:srgbClr val="5E8F3D"/>
                  </a:buClr>
                  <a:buFont typeface="Arial Narrow" panose="020B0606020202030204" pitchFamily="34" charset="0"/>
                  <a:buChar char="◄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9625" indent="-177800" algn="l" defTabSz="342900" rtl="0" eaLnBrk="1" latinLnBrk="0" hangingPunct="1">
                  <a:spcBef>
                    <a:spcPct val="20000"/>
                  </a:spcBef>
                  <a:buClr>
                    <a:schemeClr val="accent6">
                      <a:lumMod val="50000"/>
                    </a:schemeClr>
                  </a:buClr>
                  <a:buFont typeface="Arial Narrow" panose="020B0606020202030204" pitchFamily="34" charset="0"/>
                  <a:buChar char="▼"/>
                  <a:defRPr sz="1400" kern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895350" indent="-92075" algn="l" defTabSz="342900" rtl="0" eaLnBrk="1" latinLnBrk="0" hangingPunct="1">
                  <a:spcBef>
                    <a:spcPct val="20000"/>
                  </a:spcBef>
                  <a:buClr>
                    <a:srgbClr val="A88000"/>
                  </a:buClr>
                  <a:buFont typeface="Arial Narrow" panose="020B0606020202030204" pitchFamily="34" charset="0"/>
                  <a:buChar char="▲"/>
                  <a:defRPr sz="1200" kern="1200">
                    <a:solidFill>
                      <a:schemeClr val="bg1">
                        <a:lumMod val="6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sz="2667" dirty="0"/>
                  <a:t>Mean: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6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667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667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667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26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667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667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667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ar-AE" sz="2667" dirty="0"/>
                  <a:t>, </a:t>
                </a:r>
                <a:r>
                  <a:rPr lang="en-GB" sz="2667" dirty="0"/>
                  <a:t>the predicted value based on the regression model</a:t>
                </a:r>
              </a:p>
              <a:p>
                <a:r>
                  <a:rPr lang="en-GB" sz="2667" dirty="0"/>
                  <a:t>Variance: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2667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667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sz="2667"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  <m:sup>
                        <m:r>
                          <a:rPr lang="ar-AE" sz="2667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sz="2667" dirty="0"/>
                  <a:t>, </a:t>
                </a:r>
                <a:r>
                  <a:rPr lang="en-GB" sz="2667" dirty="0"/>
                  <a:t>constant across the range of </a:t>
                </a:r>
                <a14:m>
                  <m:oMath xmlns:m="http://schemas.openxmlformats.org/officeDocument/2006/math">
                    <m:r>
                      <a:rPr lang="en-GB" sz="2667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sz="2667" dirty="0"/>
              </a:p>
              <a:p>
                <a:pPr lvl="1"/>
                <a:r>
                  <a:rPr lang="en-GB" sz="2400" dirty="0"/>
                  <a:t>How do we estimate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sz="2400"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  <m:sup>
                        <m:r>
                          <a:rPr lang="ar-AE" sz="24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sz="2400" dirty="0"/>
                  <a:t>?</a:t>
                </a:r>
              </a:p>
            </p:txBody>
          </p:sp>
        </mc:Choice>
        <mc:Fallback xmlns="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D4D0AD7D-0B5B-5D65-B63B-5516D02D1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600" y="2319867"/>
                <a:ext cx="5384800" cy="4170839"/>
              </a:xfrm>
              <a:prstGeom prst="rect">
                <a:avLst/>
              </a:prstGeom>
              <a:blipFill>
                <a:blip r:embed="rId4"/>
                <a:stretch>
                  <a:fillRect l="-2945" t="-40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109E7E3-17ED-C8A8-DD00-A7F97430C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27B17-8055-4347-AD8E-108A9E8532BC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Regression standard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Once we fit the model, we can use the residuals to estimate the regression standard error (the spread of the distribution of the response, for a given value of the predictor variable):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D1449D-2A5C-8F89-5F2B-2F49BF787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986" y="2257937"/>
            <a:ext cx="7138396" cy="217200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882D9-E013-B278-D31D-9B279A2C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0510E-A576-4B79-B251-33C1EDABF978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74640"/>
            <a:ext cx="10043168" cy="49468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Hypothesis test for the slope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/>
              <a:lstStyle/>
              <a:p>
                <a:pPr lvl="0"/>
                <a:r>
                  <a:t>“Do the data provide sufficient evidence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(the true slope for the population) is different from 0?”</a:t>
                </a:r>
              </a:p>
              <a:p>
                <a:pPr lvl="0"/>
                <a:r>
                  <a:rPr b="1"/>
                  <a:t>Null hypothesis</a:t>
                </a:r>
                <a: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t>, there is no linear relationship between </a:t>
                </a:r>
                <a:r>
                  <a:rPr>
                    <a:latin typeface="Courier"/>
                  </a:rPr>
                  <a:t>inequality</a:t>
                </a:r>
                <a:r>
                  <a:t> and </a:t>
                </a:r>
                <a:r>
                  <a:rPr>
                    <a:latin typeface="Courier"/>
                  </a:rPr>
                  <a:t>trust</a:t>
                </a:r>
              </a:p>
              <a:p>
                <a:pPr lvl="0"/>
                <a:r>
                  <a:rPr b="1"/>
                  <a:t>Alternative hypothesis</a:t>
                </a:r>
                <a: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≠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t>, there is a linear relationship between </a:t>
                </a:r>
                <a:r>
                  <a:rPr>
                    <a:latin typeface="Courier"/>
                  </a:rPr>
                  <a:t>inequality</a:t>
                </a:r>
                <a:r>
                  <a:t> and </a:t>
                </a:r>
                <a:r>
                  <a:rPr>
                    <a:latin typeface="Courier"/>
                  </a:rPr>
                  <a:t>trust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 l="-1172" t="-2083" r="-16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5DE1F-86D8-D8E5-4DE8-B767915E7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74ED7-A261-4225-AAA6-DDD94AF14607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Hypothesis testing framework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/>
              <a:lstStyle/>
              <a:p>
                <a:pPr lvl="0"/>
                <a:r>
                  <a:t>Start with a null hypothesis,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t> that represents the status quo</a:t>
                </a:r>
              </a:p>
              <a:p>
                <a:pPr lvl="0"/>
                <a:r>
                  <a:t>Set an alternative hypothesis,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t> that represents the research question, i.e. what we’re testing for</a:t>
                </a:r>
              </a:p>
              <a:p>
                <a:pPr lvl="0"/>
                <a:r>
                  <a:t>Conduct a hypothesis test under the assumption that the null hypothesis is true and calculate a </a:t>
                </a:r>
                <a:r>
                  <a:rPr b="1"/>
                  <a:t>p-value</a:t>
                </a:r>
                <a:r>
                  <a:t> (probability of observed or more extreme outcome given that the null hypothesis is true)</a:t>
                </a:r>
              </a:p>
              <a:p>
                <a:pPr lvl="1"/>
                <a:r>
                  <a:t>if the test results suggest that the data do not provide convincing evidence for the alternative hypothesis, stick with the null hypothesis</a:t>
                </a:r>
              </a:p>
              <a:p>
                <a:pPr lvl="1"/>
                <a:r>
                  <a:t>if they do, then reject the null hypothesis in favour of the alternative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 l="-1172" t="-2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Logistic regression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9B49F-A0A0-C054-8EB5-0A18CF273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F103C-3C79-4625-A9BF-A11EB2FDA96A}" type="datetime3">
              <a:rPr lang="en-US" smtClean="0"/>
              <a:t>8 December 2025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56104-5C50-972F-E964-79539361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 testing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93158-B3FE-4B91-C71C-9777D9AD9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GB" sz="3200" b="0" i="0" u="none" strike="noStrike" baseline="0" dirty="0">
                <a:solidFill>
                  <a:srgbClr val="2C3E50"/>
                </a:solidFill>
                <a:latin typeface="FiraSans-Book-Identity-H"/>
              </a:rPr>
              <a:t>Statistical hypothesis testing is a </a:t>
            </a:r>
            <a:r>
              <a:rPr lang="en-GB" sz="3200" b="1" i="0" u="none" strike="noStrike" baseline="0" dirty="0">
                <a:solidFill>
                  <a:srgbClr val="2C3E50"/>
                </a:solidFill>
                <a:latin typeface="FiraSans-Bold-Identity-H"/>
              </a:rPr>
              <a:t>thought experiment</a:t>
            </a:r>
            <a:r>
              <a:rPr lang="en-GB" sz="3200" b="0" i="0" u="none" strike="noStrike" baseline="0" dirty="0">
                <a:solidFill>
                  <a:srgbClr val="2C3E50"/>
                </a:solidFill>
                <a:latin typeface="FiraSans-Book-Identity-H"/>
              </a:rPr>
              <a:t>.</a:t>
            </a:r>
          </a:p>
          <a:p>
            <a:pPr lvl="1"/>
            <a:r>
              <a:rPr lang="en-GB" sz="2300" b="0" i="0" u="none" strike="noStrike" baseline="0" dirty="0">
                <a:solidFill>
                  <a:srgbClr val="2C3E50"/>
                </a:solidFill>
                <a:latin typeface="FiraSans-Book-Identity-H"/>
              </a:rPr>
              <a:t>Could our results just be due to random chance?</a:t>
            </a:r>
          </a:p>
          <a:p>
            <a:pPr lvl="1"/>
            <a:r>
              <a:rPr lang="en-GB" sz="2300" b="0" i="0" u="none" strike="noStrike" baseline="0" dirty="0">
                <a:solidFill>
                  <a:srgbClr val="2C3E50"/>
                </a:solidFill>
                <a:latin typeface="FiraSans-Book-Identity-H"/>
              </a:rPr>
              <a:t>What would the world look like </a:t>
            </a:r>
            <a:r>
              <a:rPr lang="en-GB" sz="2300" b="1" i="0" u="none" strike="noStrike" baseline="0" dirty="0">
                <a:solidFill>
                  <a:srgbClr val="2C3E50"/>
                </a:solidFill>
                <a:latin typeface="FiraSans-Bold-Identity-H"/>
              </a:rPr>
              <a:t>if we knew the truth</a:t>
            </a:r>
            <a:r>
              <a:rPr lang="en-GB" sz="2300" b="0" i="0" u="none" strike="noStrike" baseline="0" dirty="0">
                <a:solidFill>
                  <a:srgbClr val="2C3E50"/>
                </a:solidFill>
                <a:latin typeface="FiraSans-Book-Identity-H"/>
              </a:rPr>
              <a:t>?</a:t>
            </a:r>
          </a:p>
          <a:p>
            <a:pPr algn="l"/>
            <a:r>
              <a:rPr lang="en-GB" sz="3200" b="0" i="0" u="none" strike="noStrike" baseline="0" dirty="0">
                <a:solidFill>
                  <a:srgbClr val="2C3E50"/>
                </a:solidFill>
                <a:latin typeface="FiraSans-Book-Identity-H"/>
              </a:rPr>
              <a:t>Example:</a:t>
            </a:r>
          </a:p>
          <a:p>
            <a:pPr lvl="1"/>
            <a:r>
              <a:rPr lang="en-GB" sz="2300" b="0" i="0" u="none" strike="noStrike" baseline="0" dirty="0">
                <a:solidFill>
                  <a:srgbClr val="2C3E50"/>
                </a:solidFill>
                <a:latin typeface="FiraSans-Book-Identity-H"/>
              </a:rPr>
              <a:t>An analyst claims that 20% of Newcastle households are in poverty.</a:t>
            </a:r>
          </a:p>
          <a:p>
            <a:pPr lvl="1"/>
            <a:r>
              <a:rPr lang="en-GB" sz="2300" b="0" i="0" u="none" strike="noStrike" baseline="0" dirty="0">
                <a:solidFill>
                  <a:srgbClr val="2C3E50"/>
                </a:solidFill>
                <a:latin typeface="FiraSans-Book-Identity-H"/>
              </a:rPr>
              <a:t>You take a sample of 500 households and find that 23% of the sample is under the poverty line.</a:t>
            </a:r>
          </a:p>
          <a:p>
            <a:pPr marL="201168" lvl="1" indent="0">
              <a:buNone/>
            </a:pPr>
            <a:endParaRPr lang="en-GB" sz="2300" b="0" i="0" u="none" strike="noStrike" baseline="0" dirty="0">
              <a:solidFill>
                <a:srgbClr val="2C3E50"/>
              </a:solidFill>
              <a:latin typeface="FiraSans-Book-Identity-H"/>
            </a:endParaRPr>
          </a:p>
          <a:p>
            <a:pPr lvl="1"/>
            <a:r>
              <a:rPr lang="en-GB" b="0" i="0" u="none" strike="noStrike" baseline="0" dirty="0">
                <a:solidFill>
                  <a:srgbClr val="2C3E50"/>
                </a:solidFill>
                <a:latin typeface="FiraSans-Book-Identity-H"/>
              </a:rPr>
              <a:t>Should you conclude that the analyst is wrong?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23719-8C28-BB85-24E6-9A5322B52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C7395-24BC-4F02-8824-B71AD77D0871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79C07-DA35-4DFC-639A-138CAD9F6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5106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FD57-7B1D-CF5D-3969-5F193BD8F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F9540-3866-9EC5-3B41-917F52C6B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 testing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C3A50-7269-FFAF-F678-1BCCF56AD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buNone/>
            </a:pPr>
            <a:r>
              <a:rPr lang="en-GB" sz="2000" b="1" i="0" u="none" strike="noStrike" baseline="0" dirty="0">
                <a:solidFill>
                  <a:srgbClr val="2C3E50"/>
                </a:solidFill>
                <a:latin typeface="FiraSans-Bold-Identity-H"/>
              </a:rPr>
              <a:t>Null hypothesis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: Some statement about the population parameters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“Devil’s advocate” position</a:t>
            </a:r>
            <a:r>
              <a:rPr lang="en-GB" sz="1600" dirty="0">
                <a:solidFill>
                  <a:srgbClr val="2C3E50"/>
                </a:solidFill>
                <a:latin typeface="MSAM10"/>
              </a:rPr>
              <a:t> </a:t>
            </a:r>
            <a:r>
              <a:rPr lang="en-GB" sz="1600" dirty="0">
                <a:solidFill>
                  <a:srgbClr val="2C3E50"/>
                </a:solidFill>
                <a:latin typeface="MSAM10"/>
                <a:sym typeface="Wingdings" panose="05000000000000000000" pitchFamily="2" charset="2"/>
              </a:rPr>
              <a:t> </a:t>
            </a:r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assumes what you seek to prove wrong.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Usually that an observed difference is due to chance.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Ex: poll drawn from the same population as all voters.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Denoted </a:t>
            </a:r>
            <a:r>
              <a:rPr lang="en-GB" sz="1600" b="0" i="0" u="none" strike="noStrike" baseline="0" dirty="0">
                <a:solidFill>
                  <a:srgbClr val="2C3E50"/>
                </a:solidFill>
                <a:latin typeface="LatinModernMath-Regular-Identity-H"/>
              </a:rPr>
              <a:t>𝘏𝟢</a:t>
            </a:r>
          </a:p>
          <a:p>
            <a:pPr marL="201168" lvl="1" indent="0">
              <a:buNone/>
            </a:pPr>
            <a:endParaRPr lang="en-GB" sz="1600" b="1" dirty="0">
              <a:solidFill>
                <a:srgbClr val="2C3E50"/>
              </a:solidFill>
              <a:latin typeface="FiraSans-Bold-Identity-H"/>
            </a:endParaRPr>
          </a:p>
          <a:p>
            <a:pPr marL="0">
              <a:buNone/>
            </a:pPr>
            <a:r>
              <a:rPr lang="en-GB" sz="2000" b="1" i="0" u="none" strike="noStrike" baseline="0" dirty="0">
                <a:solidFill>
                  <a:srgbClr val="2C3E50"/>
                </a:solidFill>
                <a:latin typeface="FiraSans-Bold-Identity-H"/>
              </a:rPr>
              <a:t>Alternative hypothesis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: The statement we hope or suspect is true instead of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LatinModernMath-Regular-Identity-H"/>
              </a:rPr>
              <a:t>𝘏𝟢</a:t>
            </a:r>
            <a:endParaRPr lang="en-GB" sz="2000" b="0" i="0" u="none" strike="noStrike" baseline="0" dirty="0">
              <a:solidFill>
                <a:srgbClr val="2C3E50"/>
              </a:solidFill>
              <a:latin typeface="FiraSans-Book-Identity-H"/>
            </a:endParaRP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It is the opposite of the null hypothesis.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An observed difference is real, not just due to chance.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Ex: polling for Trump is systematically wrong.</a:t>
            </a:r>
          </a:p>
          <a:p>
            <a:pPr lvl="1"/>
            <a:r>
              <a:rPr lang="en-GB" sz="1600" b="0" i="0" u="none" strike="noStrike" baseline="0" dirty="0">
                <a:solidFill>
                  <a:srgbClr val="2C3E50"/>
                </a:solidFill>
                <a:latin typeface="FiraSans-Book-Identity-H"/>
              </a:rPr>
              <a:t>Denoted </a:t>
            </a:r>
            <a:r>
              <a:rPr lang="en-GB" sz="1600" b="0" i="0" u="none" strike="noStrike" baseline="0" dirty="0">
                <a:solidFill>
                  <a:srgbClr val="2C3E50"/>
                </a:solidFill>
                <a:latin typeface="LatinModernMath-Regular-Identity-H"/>
              </a:rPr>
              <a:t>𝘏</a:t>
            </a:r>
            <a:r>
              <a:rPr lang="en-GB" sz="1600" b="0" i="1" u="none" strike="noStrike" baseline="-25000" dirty="0">
                <a:solidFill>
                  <a:srgbClr val="2C3E50"/>
                </a:solidFill>
                <a:latin typeface="LatinModernMath-Regular-Identity-H"/>
              </a:rPr>
              <a:t>𝟣</a:t>
            </a:r>
            <a:r>
              <a:rPr lang="en-GB" sz="1600" b="0" i="0" u="none" strike="noStrike" baseline="0" dirty="0">
                <a:solidFill>
                  <a:srgbClr val="2C3E50"/>
                </a:solidFill>
                <a:latin typeface="LatinModernMath-Regular-Identity-H"/>
              </a:rPr>
              <a:t> </a:t>
            </a:r>
            <a:r>
              <a:rPr lang="en-GB" sz="1600" b="0" i="0" u="none" strike="noStrike" baseline="0">
                <a:solidFill>
                  <a:srgbClr val="2C3E50"/>
                </a:solidFill>
                <a:latin typeface="FiraSans-Book-Identity-H"/>
              </a:rPr>
              <a:t>or </a:t>
            </a:r>
            <a:r>
              <a:rPr lang="en-GB" sz="1600" b="0" i="0" u="none" strike="noStrike" baseline="0">
                <a:solidFill>
                  <a:srgbClr val="2C3E50"/>
                </a:solidFill>
                <a:latin typeface="LatinModernMath-Regular-Identity-H"/>
              </a:rPr>
              <a:t>𝘏</a:t>
            </a:r>
            <a:r>
              <a:rPr lang="en-GB" sz="1600" b="0" i="0" u="none" strike="noStrike" baseline="-25000">
                <a:solidFill>
                  <a:srgbClr val="2C3E50"/>
                </a:solidFill>
                <a:latin typeface="LatinModernMath-Regular-Identity-H"/>
              </a:rPr>
              <a:t>𝘢</a:t>
            </a:r>
            <a:endParaRPr lang="en-GB" sz="1600" b="0" i="0" u="none" strike="noStrike" baseline="-25000" dirty="0">
              <a:solidFill>
                <a:srgbClr val="2C3E50"/>
              </a:solidFill>
              <a:latin typeface="LatinModernMath-Regular-Identity-H"/>
            </a:endParaRPr>
          </a:p>
          <a:p>
            <a:pPr marL="201168" lvl="1" indent="0">
              <a:buNone/>
            </a:pPr>
            <a:endParaRPr lang="en-GB" sz="1400" b="0" i="0" u="none" strike="noStrike" baseline="0" dirty="0">
              <a:solidFill>
                <a:srgbClr val="2C3E50"/>
              </a:solidFill>
              <a:latin typeface="LatinModernMath-Regular-Identity-H"/>
            </a:endParaRPr>
          </a:p>
          <a:p>
            <a:pPr marL="0" lvl="1" indent="0">
              <a:buNone/>
            </a:pPr>
            <a:r>
              <a:rPr lang="en-GB" sz="2000" b="1" i="0" u="none" strike="noStrike" baseline="0" dirty="0">
                <a:solidFill>
                  <a:srgbClr val="2C3E50"/>
                </a:solidFill>
                <a:latin typeface="FiraSans-Bold-Identity-H"/>
              </a:rPr>
              <a:t>Probabilistic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proof by contradiction: try to “disprove” the null</a:t>
            </a:r>
            <a:endParaRPr lang="en-GB" sz="3600" b="0" i="0" u="none" strike="noStrike" baseline="0" dirty="0">
              <a:solidFill>
                <a:srgbClr val="2C3E50"/>
              </a:solidFill>
              <a:latin typeface="FiraSans-Book-Identity-H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B72F-2125-1E37-AB7A-4CBDAD531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F7D13-F784-46E4-9D82-CE1E601FB7DA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C483D-1E9D-1220-232E-519277CD1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2870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8A39B-B054-6CAB-F426-10D7B77B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F757-057F-A7E4-0AE5-1D260CFA9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 testing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9ADA7-0530-7BC3-4406-75E217001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GB" sz="2000" b="1" i="0" u="none" strike="noStrike" baseline="0" dirty="0">
                <a:solidFill>
                  <a:srgbClr val="2C3E50"/>
                </a:solidFill>
                <a:latin typeface="FiraSans-Book-Identity-H"/>
              </a:rPr>
              <a:t>p-value: </a:t>
            </a:r>
          </a:p>
          <a:p>
            <a:pPr algn="l"/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The </a:t>
            </a:r>
            <a:r>
              <a:rPr lang="en-GB" sz="2000" b="1" i="0" u="none" strike="noStrike" baseline="0" dirty="0">
                <a:solidFill>
                  <a:srgbClr val="2C3E50"/>
                </a:solidFill>
                <a:latin typeface="FiraSans-Bold-Identity-H"/>
              </a:rPr>
              <a:t>p-value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is the probability of observing data as or more extreme as our</a:t>
            </a:r>
            <a:r>
              <a:rPr lang="en-GB" sz="2000" dirty="0">
                <a:solidFill>
                  <a:srgbClr val="2C3E50"/>
                </a:solidFill>
                <a:latin typeface="FiraSans-Book-Identity-H"/>
              </a:rPr>
              <a:t>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data under the “null”</a:t>
            </a:r>
          </a:p>
          <a:p>
            <a:pPr lvl="1"/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If the null is true, how often would we expect polling errors this big?</a:t>
            </a:r>
          </a:p>
          <a:p>
            <a:pPr lvl="1"/>
            <a:r>
              <a:rPr lang="en-GB" sz="2000" b="1" i="0" u="none" strike="noStrike" baseline="0" dirty="0">
                <a:solidFill>
                  <a:srgbClr val="2C3E50"/>
                </a:solidFill>
                <a:latin typeface="FiraSans-Book-Identity-H"/>
              </a:rPr>
              <a:t>Smaller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 p-value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MSAM10"/>
              </a:rPr>
              <a:t>⇝ </a:t>
            </a:r>
            <a:r>
              <a:rPr lang="en-GB" sz="2000" b="1" i="0" u="none" strike="noStrike" baseline="0" dirty="0">
                <a:solidFill>
                  <a:srgbClr val="2C3E50"/>
                </a:solidFill>
                <a:latin typeface="FiraSans-Book-Identity-H"/>
              </a:rPr>
              <a:t>stronger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 evidence against the null</a:t>
            </a:r>
          </a:p>
          <a:p>
            <a:pPr lvl="1"/>
            <a:r>
              <a:rPr lang="en-GB" sz="2000" b="1" i="0" u="none" strike="noStrike" baseline="0" dirty="0">
                <a:solidFill>
                  <a:srgbClr val="2C3E50"/>
                </a:solidFill>
                <a:latin typeface="FiraSans-Bold-Identity-H"/>
              </a:rPr>
              <a:t>NOT 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the probability that the null is true!</a:t>
            </a:r>
          </a:p>
          <a:p>
            <a:pPr lvl="1"/>
            <a:endParaRPr lang="en-GB" sz="2000" dirty="0">
              <a:solidFill>
                <a:srgbClr val="2C3E50"/>
              </a:solidFill>
              <a:latin typeface="FiraSans-Book-Identity-H"/>
            </a:endParaRPr>
          </a:p>
          <a:p>
            <a:pPr lvl="1"/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A p-value of 0.05 says that data this extreme would only happen in 5% of repeated samples if the null were true.</a:t>
            </a:r>
          </a:p>
          <a:p>
            <a:pPr lvl="1"/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  <a:sym typeface="Wingdings" panose="05000000000000000000" pitchFamily="2" charset="2"/>
              </a:rPr>
              <a:t></a:t>
            </a:r>
            <a:r>
              <a:rPr lang="en-GB" sz="2000" b="0" i="0" u="none" strike="noStrike" baseline="0" dirty="0">
                <a:solidFill>
                  <a:srgbClr val="2C3E50"/>
                </a:solidFill>
                <a:latin typeface="FiraSans-Book-Identity-H"/>
              </a:rPr>
              <a:t>5% of the time we’ll reject the null when it is actually true.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525D8-2E8A-DD35-7DB7-4440460B4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0E00-5448-4EDF-A1D1-0EB766E7A4CF}" type="datetime3">
              <a:rPr lang="en-US" smtClean="0"/>
              <a:t>8 December 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B50D45-B4FF-3124-1378-F585A957C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8544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E4DB1-6B08-6AEB-B597-8064268F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A77B8-5DDF-478C-AC0A-E0DD8B50B745}" type="datetime3">
              <a:rPr lang="en-US" smtClean="0"/>
              <a:t>8 December 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F2723A-2C1C-2AB6-3420-9BD762F76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2858093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Moreh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3F739B"/>
      </a:accent1>
      <a:accent2>
        <a:srgbClr val="1F394D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B88C00"/>
      </a:hlink>
      <a:folHlink>
        <a:srgbClr val="B88C0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reh template.pptx" id="{976FE89A-DE24-46CA-AC0C-F592F46D6A11}" vid="{6FA3B6B4-ED01-4468-97EF-FE3176612CF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24.07.16-Osaka</Template>
  <TotalTime>3746</TotalTime>
  <Words>1061</Words>
  <Application>Microsoft Office PowerPoint</Application>
  <PresentationFormat>Widescreen</PresentationFormat>
  <Paragraphs>124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4" baseType="lpstr">
      <vt:lpstr>Aptos</vt:lpstr>
      <vt:lpstr>Arial</vt:lpstr>
      <vt:lpstr>Arial Narrow</vt:lpstr>
      <vt:lpstr>Arial Nova Cond Light</vt:lpstr>
      <vt:lpstr>Calibri</vt:lpstr>
      <vt:lpstr>Calibri Light</vt:lpstr>
      <vt:lpstr>Cambria Math</vt:lpstr>
      <vt:lpstr>Courier</vt:lpstr>
      <vt:lpstr>Courier New</vt:lpstr>
      <vt:lpstr>FiraSans-Bold-Identity-H</vt:lpstr>
      <vt:lpstr>FiraSans-Book-Identity-H</vt:lpstr>
      <vt:lpstr>LatinModernMath-Regular-Identity-H</vt:lpstr>
      <vt:lpstr>MSAM10</vt:lpstr>
      <vt:lpstr>Wingdings</vt:lpstr>
      <vt:lpstr>Retrospect</vt:lpstr>
      <vt:lpstr>PowerPoint Presentation</vt:lpstr>
      <vt:lpstr>Week 11</vt:lpstr>
      <vt:lpstr>Inference</vt:lpstr>
      <vt:lpstr>Estimation</vt:lpstr>
      <vt:lpstr>Estimation</vt:lpstr>
      <vt:lpstr>From (sample) estimation to (population) inference</vt:lpstr>
      <vt:lpstr>Statistical inference</vt:lpstr>
      <vt:lpstr>Inference for simple linear regression</vt:lpstr>
      <vt:lpstr>Inequality  Social trust</vt:lpstr>
      <vt:lpstr>Inequality  Social trust</vt:lpstr>
      <vt:lpstr>Confidence interval for the slope</vt:lpstr>
      <vt:lpstr>Mathematical representation, visualized</vt:lpstr>
      <vt:lpstr>Regression standard error</vt:lpstr>
      <vt:lpstr>Hypothesis test for the slope</vt:lpstr>
      <vt:lpstr>Hypothesis testing framework</vt:lpstr>
      <vt:lpstr>Hypothesis testing framework</vt:lpstr>
      <vt:lpstr>Hypothesis testing framework</vt:lpstr>
      <vt:lpstr>Hypothesis testing framework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Moreh</dc:creator>
  <cp:lastModifiedBy>Chris Moreh</cp:lastModifiedBy>
  <cp:revision>4</cp:revision>
  <dcterms:created xsi:type="dcterms:W3CDTF">2024-07-11T13:35:49Z</dcterms:created>
  <dcterms:modified xsi:type="dcterms:W3CDTF">2025-12-08T10:23:04Z</dcterms:modified>
</cp:coreProperties>
</file>